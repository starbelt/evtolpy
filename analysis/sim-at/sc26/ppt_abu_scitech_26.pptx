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2" r:id="rId4"/>
    <p:sldId id="260" r:id="rId5"/>
    <p:sldId id="261" r:id="rId6"/>
    <p:sldId id="262" r:id="rId7"/>
    <p:sldId id="263" r:id="rId8"/>
    <p:sldId id="28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65" r:id="rId19"/>
    <p:sldId id="27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C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102" autoAdjust="0"/>
  </p:normalViewPr>
  <p:slideViewPr>
    <p:cSldViewPr snapToGrid="0">
      <p:cViewPr varScale="1">
        <p:scale>
          <a:sx n="68" d="100"/>
          <a:sy n="68" d="100"/>
        </p:scale>
        <p:origin x="2196" y="78"/>
      </p:cViewPr>
      <p:guideLst>
        <p:guide pos="3840"/>
        <p:guide orient="horz" pos="2160"/>
      </p:guideLst>
    </p:cSldViewPr>
  </p:slideViewPr>
  <p:notesTextViewPr>
    <p:cViewPr>
      <p:scale>
        <a:sx n="133" d="100"/>
        <a:sy n="1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141339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38186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836141" name="Google Shape;125;p9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7088597" name="Google Shape;126;p9:notes"/>
          <p:cNvSpPr txBox="1"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5075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670546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52613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0663B9-3E46-D85A-E929-2D196A6E16A9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9BA2-0F3E-E77E-5FD7-4B15569D38B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569302" name="Slide Image Placeholder 1">
            <a:extLst>
              <a:ext uri="{FF2B5EF4-FFF2-40B4-BE49-F238E27FC236}">
                <a16:creationId xmlns:a16="http://schemas.microsoft.com/office/drawing/2014/main" id="{295E2008-570E-D7D0-EDED-A838C57AD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406058365" name="Text Placeholder 2">
            <a:extLst>
              <a:ext uri="{FF2B5EF4-FFF2-40B4-BE49-F238E27FC236}">
                <a16:creationId xmlns:a16="http://schemas.microsoft.com/office/drawing/2014/main" id="{431565D7-A74D-27BC-DBFE-BC92F38E8D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449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569302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406058365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898159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94249162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35421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2075841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162690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CC51CE-4F5A-E21C-41C5-F2DB82A09190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425086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2017704766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9EC1-2122-6C86-E84A-EAA8E527F2B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425086" name="Slide Image Placeholder 1">
            <a:extLst>
              <a:ext uri="{FF2B5EF4-FFF2-40B4-BE49-F238E27FC236}">
                <a16:creationId xmlns:a16="http://schemas.microsoft.com/office/drawing/2014/main" id="{C1782F22-1C5E-27A4-57EB-C6975014C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2017704766" name="Text Placeholder 2">
            <a:extLst>
              <a:ext uri="{FF2B5EF4-FFF2-40B4-BE49-F238E27FC236}">
                <a16:creationId xmlns:a16="http://schemas.microsoft.com/office/drawing/2014/main" id="{3E36EB1B-5A08-7020-D478-CFE178178E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4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533342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216645424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31553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005232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794501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792357-0FCB-F07A-6872-08B7E55AAE36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253579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57708239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59146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685231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420846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D93F5-15E8-A8F1-F5BF-3396AE1757D2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21138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07933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9243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51D44E-6AE2-C7FA-F778-0EBF6F1AAB0D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6353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227154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078992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C1433B-9B15-C181-0C91-D5751D5EB05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2388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263589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89054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0E4297-D8F3-B0DF-BFAB-8FD8BAD73D0B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759238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679158954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0832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414470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633424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DF4743-18B6-D549-FD38-26CD0F7131A6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084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783480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20665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0BC230-51CC-0151-C3D8-FC62FD97B5B9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2997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23652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2001279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31BFA-E7D4-2D47-89A2-80A7CC333636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empty background alt footer" userDrawn="1">
  <p:cSld name="1_empty backgrou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03699" name="Google Shape;9;p2"/>
          <p:cNvSpPr/>
          <p:nvPr/>
        </p:nvSpPr>
        <p:spPr bwMode="auto">
          <a:xfrm>
            <a:off x="-15607" y="-643262"/>
            <a:ext cx="12223213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11459821" name="Google Shape;10;p2"/>
          <p:cNvSpPr txBox="1">
            <a:spLocks noGrp="1"/>
          </p:cNvSpPr>
          <p:nvPr>
            <p:ph type="title"/>
          </p:nvPr>
        </p:nvSpPr>
        <p:spPr bwMode="auto">
          <a:xfrm>
            <a:off x="838200" y="4022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0337660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838200" y="2001838"/>
            <a:ext cx="10515600" cy="4454525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empty background" userDrawn="1">
  <p:cSld name="white corner logo, maroon corn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202359" name="Google Shape;15;p4"/>
          <p:cNvSpPr/>
          <p:nvPr/>
        </p:nvSpPr>
        <p:spPr bwMode="auto">
          <a:xfrm>
            <a:off x="-15607" y="-643262"/>
            <a:ext cx="12223213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05030668" name="Google Shape;16;p4"/>
          <p:cNvSpPr txBox="1">
            <a:spLocks noGrp="1"/>
          </p:cNvSpPr>
          <p:nvPr>
            <p:ph type="title"/>
          </p:nvPr>
        </p:nvSpPr>
        <p:spPr bwMode="auto">
          <a:xfrm>
            <a:off x="838200" y="2620451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>
                <a:solidFill>
                  <a:srgbClr val="002060"/>
                </a:solidFill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1121879" name="Google Shape;17;p4"/>
          <p:cNvSpPr/>
          <p:nvPr/>
        </p:nvSpPr>
        <p:spPr bwMode="auto">
          <a:xfrm>
            <a:off x="9254059" y="-6100"/>
            <a:ext cx="2940214" cy="87589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401113154" name="Google Shape;18;p4"/>
          <p:cNvPicPr/>
          <p:nvPr/>
        </p:nvPicPr>
        <p:blipFill rotWithShape="1">
          <a:blip r:embed="rId2"/>
          <a:stretch/>
        </p:blipFill>
        <p:spPr bwMode="auto">
          <a:xfrm>
            <a:off x="9628836" y="257770"/>
            <a:ext cx="2053002" cy="38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172753891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960438" y="4491038"/>
            <a:ext cx="5661025" cy="544512"/>
          </a:xfrm>
        </p:spPr>
        <p:txBody>
          <a:bodyPr/>
          <a:lstStyle>
            <a:lvl1pPr marL="50800" indent="0">
              <a:buNone/>
              <a:defRPr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415209132" name="Content Placeholder 4"/>
          <p:cNvSpPr>
            <a:spLocks noGrp="1"/>
          </p:cNvSpPr>
          <p:nvPr>
            <p:ph sz="quarter" idx="11"/>
          </p:nvPr>
        </p:nvSpPr>
        <p:spPr bwMode="auto">
          <a:xfrm>
            <a:off x="960438" y="5208588"/>
            <a:ext cx="5661025" cy="544512"/>
          </a:xfrm>
        </p:spPr>
        <p:txBody>
          <a:bodyPr/>
          <a:lstStyle>
            <a:lvl1pPr marL="50800" indent="0">
              <a:buNone/>
              <a:defRPr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Grey background White corner logo" userDrawn="1">
  <p:cSld name="Grey background White corner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171885" name="Google Shape;21;p5"/>
          <p:cNvSpPr/>
          <p:nvPr userDrawn="1"/>
        </p:nvSpPr>
        <p:spPr bwMode="auto">
          <a:xfrm>
            <a:off x="0" y="-1"/>
            <a:ext cx="12192000" cy="6858001"/>
          </a:xfrm>
          <a:prstGeom prst="rect">
            <a:avLst/>
          </a:prstGeom>
          <a:solidFill>
            <a:srgbClr val="3A3C3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rgbClr val="3A3C3D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363309829" name="Google Shape;20;p5"/>
          <p:cNvSpPr txBox="1">
            <a:spLocks noGrp="1"/>
          </p:cNvSpPr>
          <p:nvPr>
            <p:ph type="title"/>
          </p:nvPr>
        </p:nvSpPr>
        <p:spPr bwMode="auto">
          <a:xfrm>
            <a:off x="838200" y="14006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124838160" name="Google Shape;22;p5" descr="A black and white sign&#10;&#10;Description automatically generated with low confidence"/>
          <p:cNvPicPr/>
          <p:nvPr/>
        </p:nvPicPr>
        <p:blipFill rotWithShape="1">
          <a:blip r:embed="rId2"/>
          <a:stretch/>
        </p:blipFill>
        <p:spPr bwMode="auto">
          <a:xfrm>
            <a:off x="9963396" y="363022"/>
            <a:ext cx="1823853" cy="344506"/>
          </a:xfrm>
          <a:prstGeom prst="rect">
            <a:avLst/>
          </a:prstGeom>
          <a:noFill/>
          <a:ln>
            <a:noFill/>
          </a:ln>
        </p:spPr>
      </p:pic>
      <p:sp>
        <p:nvSpPr>
          <p:cNvPr id="3499978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838201" y="3026521"/>
            <a:ext cx="10515600" cy="665806"/>
          </a:xfrm>
        </p:spPr>
        <p:txBody>
          <a:bodyPr/>
          <a:lstStyle>
            <a:lvl1pPr marL="50800" indent="0">
              <a:buNone/>
              <a:defRPr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208431431" name="Text Placeholder 4"/>
          <p:cNvSpPr>
            <a:spLocks noGrp="1"/>
          </p:cNvSpPr>
          <p:nvPr>
            <p:ph type="body" sz="quarter" idx="11"/>
          </p:nvPr>
        </p:nvSpPr>
        <p:spPr bwMode="auto">
          <a:xfrm>
            <a:off x="838200" y="3992646"/>
            <a:ext cx="10515600" cy="787400"/>
          </a:xfrm>
        </p:spPr>
        <p:txBody>
          <a:bodyPr/>
          <a:lstStyle>
            <a:lvl1pPr marL="50800" indent="0">
              <a:buNone/>
              <a:defRPr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logo corner" userDrawn="1">
  <p:cSld name="main logo corn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305179" name="Google Shape;24;p6"/>
          <p:cNvSpPr txBox="1">
            <a:spLocks noGrp="1"/>
          </p:cNvSpPr>
          <p:nvPr>
            <p:ph type="title"/>
          </p:nvPr>
        </p:nvSpPr>
        <p:spPr bwMode="auto">
          <a:xfrm>
            <a:off x="838200" y="111669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5191101" name="Google Shape;7;p1"/>
          <p:cNvSpPr txBox="1">
            <a:spLocks noGrp="1"/>
          </p:cNvSpPr>
          <p:nvPr>
            <p:ph idx="1"/>
          </p:nvPr>
        </p:nvSpPr>
        <p:spPr bwMode="auto">
          <a:xfrm>
            <a:off x="838200" y="2673751"/>
            <a:ext cx="10515600" cy="350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1736510738" name="Google Shape;25;p6"/>
          <p:cNvPicPr/>
          <p:nvPr/>
        </p:nvPicPr>
        <p:blipFill rotWithShape="1">
          <a:blip r:embed="rId2"/>
          <a:stretch/>
        </p:blipFill>
        <p:spPr bwMode="auto">
          <a:xfrm>
            <a:off x="345374" y="6218073"/>
            <a:ext cx="1780309" cy="3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three item circle pictures" userDrawn="1">
  <p:cSld name="1_three item circle pictur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251027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987335" y="-165517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6444538" name="Google Shape;30;p7"/>
          <p:cNvSpPr/>
          <p:nvPr/>
        </p:nvSpPr>
        <p:spPr bwMode="auto">
          <a:xfrm>
            <a:off x="700640" y="1080655"/>
            <a:ext cx="2743200" cy="18288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758241957" name="Google Shape;27;p7"/>
          <p:cNvCxnSpPr/>
          <p:nvPr/>
        </p:nvCxnSpPr>
        <p:spPr bwMode="auto">
          <a:xfrm>
            <a:off x="3443840" y="2909455"/>
            <a:ext cx="1280560" cy="1280556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09204986" name="Google Shape;31;p7"/>
          <p:cNvSpPr/>
          <p:nvPr/>
        </p:nvSpPr>
        <p:spPr bwMode="auto">
          <a:xfrm>
            <a:off x="4724399" y="4190011"/>
            <a:ext cx="2743200" cy="18288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993926082" name="Google Shape;28;p7"/>
          <p:cNvCxnSpPr/>
          <p:nvPr/>
        </p:nvCxnSpPr>
        <p:spPr bwMode="auto">
          <a:xfrm rot="10800000" flipH="1">
            <a:off x="7467600" y="2909455"/>
            <a:ext cx="1152931" cy="1280556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62334249" name="Google Shape;32;p7"/>
          <p:cNvSpPr/>
          <p:nvPr/>
        </p:nvSpPr>
        <p:spPr bwMode="auto">
          <a:xfrm>
            <a:off x="8620531" y="1080655"/>
            <a:ext cx="2743200" cy="18288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05638201" name="Google Shape;33;p7"/>
          <p:cNvPicPr/>
          <p:nvPr/>
        </p:nvPicPr>
        <p:blipFill rotWithShape="1">
          <a:blip r:embed="rId2"/>
          <a:stretch/>
        </p:blipFill>
        <p:spPr bwMode="auto">
          <a:xfrm>
            <a:off x="345374" y="6218073"/>
            <a:ext cx="1780309" cy="336281"/>
          </a:xfrm>
          <a:prstGeom prst="rect">
            <a:avLst/>
          </a:prstGeom>
          <a:noFill/>
          <a:ln>
            <a:noFill/>
          </a:ln>
        </p:spPr>
      </p:pic>
      <p:sp>
        <p:nvSpPr>
          <p:cNvPr id="425010024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3669175" y="1081087"/>
            <a:ext cx="3798425" cy="678265"/>
          </a:xfrm>
        </p:spPr>
        <p:txBody>
          <a:bodyPr>
            <a:normAutofit/>
          </a:bodyPr>
          <a:lstStyle>
            <a:lvl1pPr marL="50800" indent="0">
              <a:buNone/>
              <a:defRPr sz="25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479640417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3668713" y="1898650"/>
            <a:ext cx="3798887" cy="1141413"/>
          </a:xfrm>
        </p:spPr>
        <p:txBody>
          <a:bodyPr/>
          <a:lstStyle>
            <a:lvl1pPr marL="50800" indent="0">
              <a:buNone/>
              <a:defRPr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529236950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236222" y="4189845"/>
            <a:ext cx="4109374" cy="548410"/>
          </a:xfrm>
        </p:spPr>
        <p:txBody>
          <a:bodyPr>
            <a:normAutofit/>
          </a:bodyPr>
          <a:lstStyle>
            <a:lvl1pPr marL="50800" indent="0" algn="r">
              <a:buNone/>
              <a:defRPr sz="25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81192880" name="Text Placeholder 6"/>
          <p:cNvSpPr>
            <a:spLocks noGrp="1"/>
          </p:cNvSpPr>
          <p:nvPr>
            <p:ph type="body" sz="quarter" idx="14"/>
          </p:nvPr>
        </p:nvSpPr>
        <p:spPr bwMode="auto">
          <a:xfrm>
            <a:off x="236222" y="4849813"/>
            <a:ext cx="4109373" cy="1168400"/>
          </a:xfrm>
        </p:spPr>
        <p:txBody>
          <a:bodyPr/>
          <a:lstStyle>
            <a:lvl1pPr marL="50800" indent="0" algn="r">
              <a:buNone/>
              <a:defRPr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200234585" name="Text Placeholder 2"/>
          <p:cNvSpPr>
            <a:spLocks noGrp="1"/>
          </p:cNvSpPr>
          <p:nvPr>
            <p:ph type="body" sz="quarter" idx="12"/>
          </p:nvPr>
        </p:nvSpPr>
        <p:spPr bwMode="auto">
          <a:xfrm>
            <a:off x="8620532" y="3422871"/>
            <a:ext cx="2743200" cy="636687"/>
          </a:xfrm>
        </p:spPr>
        <p:txBody>
          <a:bodyPr>
            <a:normAutofit/>
          </a:bodyPr>
          <a:lstStyle>
            <a:lvl1pPr marL="50800" indent="0">
              <a:buNone/>
              <a:defRPr sz="2500"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017508963" name="Text Placeholder 8"/>
          <p:cNvSpPr>
            <a:spLocks noGrp="1"/>
          </p:cNvSpPr>
          <p:nvPr>
            <p:ph type="body" sz="quarter" idx="15"/>
          </p:nvPr>
        </p:nvSpPr>
        <p:spPr bwMode="auto">
          <a:xfrm>
            <a:off x="8620125" y="4166863"/>
            <a:ext cx="2882899" cy="906462"/>
          </a:xfrm>
        </p:spPr>
        <p:txBody>
          <a:bodyPr/>
          <a:lstStyle>
            <a:lvl1pPr marL="50800" indent="0">
              <a:buNone/>
              <a:defRPr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bio page" userDrawn="1">
  <p:cSld name="1_bio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944311" name="Google Shape;35;p8"/>
          <p:cNvSpPr/>
          <p:nvPr/>
        </p:nvSpPr>
        <p:spPr bwMode="auto">
          <a:xfrm>
            <a:off x="9960867" y="6357146"/>
            <a:ext cx="249382" cy="415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461492783" name="Google Shape;36;p8"/>
          <p:cNvSpPr txBox="1">
            <a:spLocks noGrp="1"/>
          </p:cNvSpPr>
          <p:nvPr>
            <p:ph type="title"/>
          </p:nvPr>
        </p:nvSpPr>
        <p:spPr bwMode="auto">
          <a:xfrm>
            <a:off x="960863" y="-13255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1724759" name="Google Shape;37;p8"/>
          <p:cNvSpPr/>
          <p:nvPr/>
        </p:nvSpPr>
        <p:spPr bwMode="auto">
          <a:xfrm>
            <a:off x="629390" y="1080655"/>
            <a:ext cx="2743200" cy="18288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0454869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3646488" y="1080656"/>
            <a:ext cx="7829550" cy="655547"/>
          </a:xfrm>
        </p:spPr>
        <p:txBody>
          <a:bodyPr/>
          <a:lstStyle>
            <a:lvl1pPr marL="50800" indent="0">
              <a:buNone/>
              <a:defRPr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53285095" name="Text Placeholder 6"/>
          <p:cNvSpPr>
            <a:spLocks noGrp="1"/>
          </p:cNvSpPr>
          <p:nvPr>
            <p:ph type="body" sz="quarter" idx="12"/>
          </p:nvPr>
        </p:nvSpPr>
        <p:spPr bwMode="auto">
          <a:xfrm>
            <a:off x="3646488" y="1885950"/>
            <a:ext cx="7829550" cy="1084263"/>
          </a:xfrm>
        </p:spPr>
        <p:txBody>
          <a:bodyPr/>
          <a:lstStyle>
            <a:lvl1pPr marL="5080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1652768443" name="Text Placeholder 4"/>
          <p:cNvSpPr>
            <a:spLocks noGrp="1"/>
          </p:cNvSpPr>
          <p:nvPr>
            <p:ph type="body" sz="quarter" idx="11"/>
          </p:nvPr>
        </p:nvSpPr>
        <p:spPr bwMode="auto">
          <a:xfrm>
            <a:off x="628649" y="3887355"/>
            <a:ext cx="7748802" cy="655547"/>
          </a:xfrm>
        </p:spPr>
        <p:txBody>
          <a:bodyPr/>
          <a:lstStyle>
            <a:lvl1pPr marL="50800" indent="0" algn="r">
              <a:buNone/>
              <a:defRPr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269577235" name="Text Placeholder 6"/>
          <p:cNvSpPr>
            <a:spLocks noGrp="1"/>
          </p:cNvSpPr>
          <p:nvPr>
            <p:ph type="body" sz="quarter" idx="13"/>
          </p:nvPr>
        </p:nvSpPr>
        <p:spPr bwMode="auto">
          <a:xfrm>
            <a:off x="628649" y="4693081"/>
            <a:ext cx="7748802" cy="1084263"/>
          </a:xfrm>
        </p:spPr>
        <p:txBody>
          <a:bodyPr/>
          <a:lstStyle>
            <a:lvl1pPr marL="50800" indent="0" algn="r">
              <a:buNone/>
              <a:defRPr>
                <a:solidFill>
                  <a:srgbClr val="000000"/>
                </a:solidFill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70611961" name="Google Shape;38;p8"/>
          <p:cNvSpPr/>
          <p:nvPr/>
        </p:nvSpPr>
        <p:spPr bwMode="auto">
          <a:xfrm>
            <a:off x="8733263" y="3888579"/>
            <a:ext cx="2743200" cy="18288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04602789" name="Google Shape;39;p8"/>
          <p:cNvPicPr/>
          <p:nvPr/>
        </p:nvPicPr>
        <p:blipFill rotWithShape="1">
          <a:blip r:embed="rId2"/>
          <a:stretch/>
        </p:blipFill>
        <p:spPr bwMode="auto">
          <a:xfrm>
            <a:off x="345374" y="6218073"/>
            <a:ext cx="1780309" cy="3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right side photo" userDrawn="1">
  <p:cSld name="right side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502988" name="Google Shape;41;p9"/>
          <p:cNvSpPr txBox="1">
            <a:spLocks noGrp="1"/>
          </p:cNvSpPr>
          <p:nvPr>
            <p:ph type="title"/>
          </p:nvPr>
        </p:nvSpPr>
        <p:spPr bwMode="auto">
          <a:xfrm>
            <a:off x="838200" y="429568"/>
            <a:ext cx="3992563" cy="87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9802722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838200" y="1423988"/>
            <a:ext cx="3992563" cy="1160462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503844243" name="Google Shape;42;p9"/>
          <p:cNvSpPr/>
          <p:nvPr/>
        </p:nvSpPr>
        <p:spPr bwMode="auto">
          <a:xfrm>
            <a:off x="679512" y="2712043"/>
            <a:ext cx="2468880" cy="2468880"/>
          </a:xfrm>
          <a:prstGeom prst="ellipse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443169" name="Google Shape;43;p9"/>
          <p:cNvSpPr/>
          <p:nvPr/>
        </p:nvSpPr>
        <p:spPr bwMode="auto">
          <a:xfrm>
            <a:off x="2362538" y="2712043"/>
            <a:ext cx="2468880" cy="2468880"/>
          </a:xfrm>
          <a:prstGeom prst="ellipse">
            <a:avLst/>
          </a:prstGeom>
          <a:noFill/>
          <a:ln w="12700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65536861" name="Google Shape;44;p9"/>
          <p:cNvSpPr/>
          <p:nvPr/>
        </p:nvSpPr>
        <p:spPr bwMode="auto">
          <a:xfrm>
            <a:off x="1475305" y="3988228"/>
            <a:ext cx="2468880" cy="2468880"/>
          </a:xfrm>
          <a:prstGeom prst="ellipse">
            <a:avLst/>
          </a:prstGeom>
          <a:noFill/>
          <a:ln w="12700" cap="flat" cmpd="sng">
            <a:solidFill>
              <a:srgbClr val="3A3C3D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empty background alt footer" userDrawn="1">
  <p:cSld name="1_maroon background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350215" name="Google Shape;46;p10"/>
          <p:cNvSpPr/>
          <p:nvPr/>
        </p:nvSpPr>
        <p:spPr bwMode="auto">
          <a:xfrm>
            <a:off x="-15607" y="-643262"/>
            <a:ext cx="12223213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53854565" name="Google Shape;47;p10"/>
          <p:cNvSpPr txBox="1">
            <a:spLocks noGrp="1"/>
          </p:cNvSpPr>
          <p:nvPr>
            <p:ph type="title"/>
          </p:nvPr>
        </p:nvSpPr>
        <p:spPr bwMode="auto">
          <a:xfrm>
            <a:off x="838200" y="5064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/>
                <a:cs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1_gray graphic empty background" userDrawn="1">
  <p:cSld name="maroon background, main logo corn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1127249" name="Google Shape;49;p11"/>
          <p:cNvPicPr/>
          <p:nvPr/>
        </p:nvPicPr>
        <p:blipFill rotWithShape="1">
          <a:blip r:embed="rId2"/>
          <a:stretch/>
        </p:blipFill>
        <p:spPr bwMode="auto">
          <a:xfrm>
            <a:off x="236623" y="6278880"/>
            <a:ext cx="1719412" cy="32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880272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add title</a:t>
            </a:r>
          </a:p>
        </p:txBody>
      </p:sp>
      <p:sp>
        <p:nvSpPr>
          <p:cNvPr id="1462274959" name="日期占位符 2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r>
              <a:rPr lang="en-US"/>
              <a:t>Date Area</a:t>
            </a:r>
          </a:p>
        </p:txBody>
      </p:sp>
      <p:sp>
        <p:nvSpPr>
          <p:cNvPr id="348164009" name="页脚占位符 3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58253829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9057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63571225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205691952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fld id="{FDE934FF-F4E1-47C5-9CA5-30A81DDE2BE4}" type="datetimeFigureOut">
              <a:rPr lang="en-US"/>
              <a:t>3/16/2026</a:t>
            </a:fld>
            <a:endParaRPr lang="en-US"/>
          </a:p>
        </p:txBody>
      </p:sp>
      <p:sp>
        <p:nvSpPr>
          <p:cNvPr id="185246392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695107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/>
          <a:lstStyle/>
          <a:p>
            <a:pPr>
              <a:defRPr/>
            </a:pPr>
            <a:fld id="{B3561BA9-CDCF-4958-B8AB-66F3BF063E1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757738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838200" y="3180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379874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508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21" Type="http://schemas.openxmlformats.org/officeDocument/2006/relationships/image" Target="../media/image29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551220" name="Title"/>
          <p:cNvSpPr txBox="1">
            <a:spLocks noGrp="1"/>
          </p:cNvSpPr>
          <p:nvPr>
            <p:ph type="title"/>
          </p:nvPr>
        </p:nvSpPr>
        <p:spPr bwMode="auto">
          <a:xfrm>
            <a:off x="191769" y="1131570"/>
            <a:ext cx="11809095" cy="259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700"/>
              </a:spcAft>
              <a:buClr>
                <a:schemeClr val="dk1"/>
              </a:buClr>
              <a:buSzPts val="5400"/>
              <a:defRPr/>
            </a:pPr>
            <a:r>
              <a:rPr lang="en-US" sz="6000">
                <a:solidFill>
                  <a:schemeClr val="dk1"/>
                </a:solidFill>
              </a:rPr>
              <a:t>Autonomous Battery Units as an</a:t>
            </a:r>
            <a:r>
              <a:rPr lang="vi-VN" sz="6000">
                <a:solidFill>
                  <a:schemeClr val="dk1"/>
                </a:solidFill>
              </a:rPr>
              <a:t> </a:t>
            </a:r>
            <a:r>
              <a:rPr lang="en-US" sz="6000">
                <a:solidFill>
                  <a:schemeClr val="dk1"/>
                </a:solidFill>
              </a:rPr>
              <a:t>Enabling Technology</a:t>
            </a:r>
            <a:r>
              <a:rPr lang="vi-VN" sz="6000">
                <a:solidFill>
                  <a:schemeClr val="dk1"/>
                </a:solidFill>
              </a:rPr>
              <a:t> </a:t>
            </a:r>
            <a:r>
              <a:rPr lang="en-US" sz="6000">
                <a:solidFill>
                  <a:schemeClr val="dk1"/>
                </a:solidFill>
              </a:rPr>
              <a:t>for </a:t>
            </a:r>
            <a:br>
              <a:rPr lang="en-US" sz="6000">
                <a:solidFill>
                  <a:schemeClr val="dk1"/>
                </a:solidFill>
              </a:rPr>
            </a:br>
            <a:r>
              <a:rPr lang="en-US" sz="6000">
                <a:solidFill>
                  <a:schemeClr val="dk1"/>
                </a:solidFill>
              </a:rPr>
              <a:t>Urban Air Mobility</a:t>
            </a:r>
          </a:p>
        </p:txBody>
      </p:sp>
      <p:sp>
        <p:nvSpPr>
          <p:cNvPr id="1866286162" name="Author"/>
          <p:cNvSpPr>
            <a:spLocks noGrp="1"/>
          </p:cNvSpPr>
          <p:nvPr>
            <p:ph type="body" sz="quarter" idx="10"/>
          </p:nvPr>
        </p:nvSpPr>
        <p:spPr bwMode="auto">
          <a:xfrm>
            <a:off x="383221" y="4282757"/>
            <a:ext cx="11423651" cy="52832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vi-VN" sz="240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Khoa D. Nguyen</a:t>
            </a:r>
            <a:r>
              <a:rPr lang="vi-VN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,</a:t>
            </a:r>
            <a:r>
              <a:rPr lang="vi-VN" sz="2400" b="1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Dylan Hogge</a:t>
            </a:r>
            <a:r>
              <a:rPr lang="vi-VN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John Riris</a:t>
            </a:r>
            <a:r>
              <a:rPr lang="vi-VN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Darshan Sarojini</a:t>
            </a:r>
            <a:r>
              <a:rPr lang="vi-VN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, and </a:t>
            </a:r>
            <a:r>
              <a:rPr lang="en-US" sz="2400" dirty="0">
                <a:solidFill>
                  <a:schemeClr val="accent2"/>
                </a:solidFill>
                <a:latin typeface="Arial"/>
                <a:ea typeface="Arial"/>
                <a:cs typeface="Arial"/>
              </a:rPr>
              <a:t>Bradley Denby</a:t>
            </a:r>
          </a:p>
        </p:txBody>
      </p:sp>
      <p:sp>
        <p:nvSpPr>
          <p:cNvPr id="2037388470" name="Date"/>
          <p:cNvSpPr>
            <a:spLocks noGrp="1"/>
          </p:cNvSpPr>
          <p:nvPr>
            <p:ph sz="quarter" idx="11"/>
          </p:nvPr>
        </p:nvSpPr>
        <p:spPr bwMode="auto">
          <a:xfrm>
            <a:off x="673100" y="4859655"/>
            <a:ext cx="10843895" cy="86614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2100" b="1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Kevin T. Crofton Department of Aerospace and Ocean Engineering</a:t>
            </a:r>
            <a:r>
              <a:rPr lang="vi-VN" sz="2100" b="1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100" b="1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Virginia Tech</a:t>
            </a:r>
          </a:p>
          <a:p>
            <a:pPr algn="ctr">
              <a:defRPr/>
            </a:pPr>
            <a:r>
              <a:rPr lang="vi-VN" sz="21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2026 AIAA SciTech, January 14, 2026</a:t>
            </a:r>
          </a:p>
          <a:p>
            <a:pPr algn="ctr">
              <a:defRPr/>
            </a:pPr>
            <a:endParaRPr lang="en-US" sz="2100" dirty="0">
              <a:solidFill>
                <a:srgbClr val="3A3C3D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endParaRPr lang="en-US" sz="1000" dirty="0">
              <a:solidFill>
                <a:srgbClr val="3A3C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9062533" name="Maroon rectangle"/>
          <p:cNvSpPr/>
          <p:nvPr/>
        </p:nvSpPr>
        <p:spPr bwMode="auto">
          <a:xfrm>
            <a:off x="10208260" y="6182995"/>
            <a:ext cx="1985645" cy="591185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96261462" name="Virginia Tech Logo" descr="Virginia Tech"/>
          <p:cNvPicPr/>
          <p:nvPr/>
        </p:nvPicPr>
        <p:blipFill rotWithShape="1">
          <a:blip r:embed="rId3"/>
          <a:stretch/>
        </p:blipFill>
        <p:spPr bwMode="auto">
          <a:xfrm>
            <a:off x="10507980" y="6347460"/>
            <a:ext cx="1386205" cy="26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502042" name="Picture 5" descr="_AIAA-Logo-Horizontal-MainBlu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926070" y="6183630"/>
            <a:ext cx="2125345" cy="591185"/>
          </a:xfrm>
          <a:prstGeom prst="rect">
            <a:avLst/>
          </a:prstGeom>
        </p:spPr>
      </p:pic>
      <p:sp>
        <p:nvSpPr>
          <p:cNvPr id="709115544" name="Maroon rectangle"/>
          <p:cNvSpPr/>
          <p:nvPr/>
        </p:nvSpPr>
        <p:spPr bwMode="auto">
          <a:xfrm>
            <a:off x="9141460" y="-27940"/>
            <a:ext cx="3071495" cy="952500"/>
          </a:xfrm>
          <a:prstGeom prst="rect">
            <a:avLst/>
          </a:prstGeom>
          <a:solidFill>
            <a:srgbClr val="FFFFFF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637447" name="AutoShape 11"/>
          <p:cNvSpPr/>
          <p:nvPr/>
        </p:nvSpPr>
        <p:spPr bwMode="auto">
          <a:xfrm rot="10800000">
            <a:off x="264160" y="5898515"/>
            <a:ext cx="635" cy="752475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23010193" name="AutoShape 11"/>
          <p:cNvSpPr/>
          <p:nvPr/>
        </p:nvSpPr>
        <p:spPr bwMode="auto">
          <a:xfrm rot="5400000">
            <a:off x="640080" y="6275070"/>
            <a:ext cx="635" cy="752475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09440750" name="AutoShape 11"/>
          <p:cNvSpPr/>
          <p:nvPr/>
        </p:nvSpPr>
        <p:spPr bwMode="auto">
          <a:xfrm rot="16199998">
            <a:off x="11518265" y="-70485"/>
            <a:ext cx="635" cy="752475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49293337" name="AutoShape 11"/>
          <p:cNvSpPr/>
          <p:nvPr/>
        </p:nvSpPr>
        <p:spPr bwMode="auto">
          <a:xfrm rot="10800000">
            <a:off x="11894184" y="306070"/>
            <a:ext cx="635" cy="752475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03950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Battery Constraints in Urban Air Mobility (UAM) </a:t>
            </a:r>
          </a:p>
        </p:txBody>
      </p:sp>
      <p:sp>
        <p:nvSpPr>
          <p:cNvPr id="1495615012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29192596" name="Picture 8"/>
          <p:cNvPicPr/>
          <p:nvPr/>
        </p:nvPicPr>
        <p:blipFill rotWithShape="1">
          <a:blip r:embed="rId3"/>
          <a:stretch/>
        </p:blipFill>
        <p:spPr bwMode="auto">
          <a:xfrm>
            <a:off x="217170" y="941070"/>
            <a:ext cx="4867910" cy="3374390"/>
          </a:xfrm>
          <a:prstGeom prst="rect">
            <a:avLst/>
          </a:prstGeom>
        </p:spPr>
      </p:pic>
      <p:sp>
        <p:nvSpPr>
          <p:cNvPr id="1212255808" name="Text"/>
          <p:cNvSpPr>
            <a:spLocks noGrp="1"/>
          </p:cNvSpPr>
          <p:nvPr/>
        </p:nvSpPr>
        <p:spPr bwMode="auto">
          <a:xfrm>
            <a:off x="298449" y="4974907"/>
            <a:ext cx="4545329" cy="17389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vertOverflow="overflow" horzOverflow="overflow" vert="horz" wrap="square" lIns="91422" tIns="45697" rIns="91422" bIns="45697" numCol="1" spcCol="0" rtlCol="0" fromWordArt="0" anchor="t" anchorCtr="0" forceAA="0" compatLnSpc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ctr">
              <a:lnSpc>
                <a:spcPct val="150000"/>
              </a:lnSpc>
              <a:spcBef>
                <a:spcPts val="719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defRPr/>
            </a:pPr>
            <a:r>
              <a:rPr lang="en-US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Current battery</a:t>
            </a:r>
            <a:r>
              <a:rPr lang="vi-VN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 specific</a:t>
            </a:r>
            <a:r>
              <a:rPr lang="en-US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 energy density remains insufficient for practical, </a:t>
            </a:r>
            <a:r>
              <a:rPr lang="en-US" sz="2400" b="1">
                <a:solidFill>
                  <a:srgbClr val="3A3C3D"/>
                </a:solidFill>
                <a:latin typeface="Arial"/>
                <a:ea typeface="Arial"/>
                <a:cs typeface="Arial"/>
              </a:rPr>
              <a:t>economical</a:t>
            </a:r>
            <a:r>
              <a:rPr lang="en-US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 flight.</a:t>
            </a:r>
          </a:p>
        </p:txBody>
      </p:sp>
      <p:sp>
        <p:nvSpPr>
          <p:cNvPr id="936896083" name="Text Box 10"/>
          <p:cNvSpPr txBox="1"/>
          <p:nvPr/>
        </p:nvSpPr>
        <p:spPr bwMode="auto">
          <a:xfrm>
            <a:off x="146050" y="4443730"/>
            <a:ext cx="5236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 i="1"/>
              <a:t>Source:</a:t>
            </a:r>
            <a:r>
              <a:rPr lang="en-US" i="1"/>
              <a:t> https://doi.org/10.1016/j.apenergy.2025.126356</a:t>
            </a:r>
          </a:p>
        </p:txBody>
      </p:sp>
      <p:sp>
        <p:nvSpPr>
          <p:cNvPr id="1645638184" name="Rectangles 14"/>
          <p:cNvSpPr/>
          <p:nvPr/>
        </p:nvSpPr>
        <p:spPr bwMode="auto">
          <a:xfrm>
            <a:off x="1818640" y="3651250"/>
            <a:ext cx="1002665" cy="49149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5718216" name="Text Box 27"/>
          <p:cNvSpPr txBox="1"/>
          <p:nvPr/>
        </p:nvSpPr>
        <p:spPr bwMode="auto">
          <a:xfrm>
            <a:off x="5564505" y="1149985"/>
            <a:ext cx="2649855" cy="939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3A3C3D"/>
                </a:solidFill>
              </a:rPr>
              <a:t>Chemistry &amp; Materials Science</a:t>
            </a:r>
          </a:p>
        </p:txBody>
      </p:sp>
      <p:sp>
        <p:nvSpPr>
          <p:cNvPr id="945974146" name="Plus 17"/>
          <p:cNvSpPr/>
          <p:nvPr/>
        </p:nvSpPr>
        <p:spPr bwMode="auto">
          <a:xfrm>
            <a:off x="6646545" y="2425065"/>
            <a:ext cx="485775" cy="469265"/>
          </a:xfrm>
          <a:prstGeom prst="mathPlus">
            <a:avLst>
              <a:gd name="adj1" fmla="val 23520"/>
            </a:avLst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9182953" name="Text Box 11"/>
          <p:cNvSpPr txBox="1"/>
          <p:nvPr/>
        </p:nvSpPr>
        <p:spPr bwMode="auto">
          <a:xfrm>
            <a:off x="9166225" y="1261745"/>
            <a:ext cx="256476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en-US" sz="2200" i="1"/>
              <a:t>Limited gains over last decade</a:t>
            </a:r>
          </a:p>
        </p:txBody>
      </p:sp>
      <p:sp>
        <p:nvSpPr>
          <p:cNvPr id="1128753418" name="Text Box 13"/>
          <p:cNvSpPr txBox="1"/>
          <p:nvPr/>
        </p:nvSpPr>
        <p:spPr bwMode="auto">
          <a:xfrm>
            <a:off x="8890635" y="3348355"/>
            <a:ext cx="287274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en-US" sz="2200" i="1"/>
              <a:t>Cost, complexity, durability</a:t>
            </a:r>
          </a:p>
        </p:txBody>
      </p:sp>
      <p:sp>
        <p:nvSpPr>
          <p:cNvPr id="87612887" name="Text Box 19"/>
          <p:cNvSpPr txBox="1"/>
          <p:nvPr/>
        </p:nvSpPr>
        <p:spPr bwMode="auto">
          <a:xfrm>
            <a:off x="8858250" y="5178425"/>
            <a:ext cx="3176904" cy="1198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en-US" sz="2200" i="1"/>
              <a:t>Cell-level ≠ pack-level energy</a:t>
            </a:r>
          </a:p>
          <a:p>
            <a:pPr algn="ctr">
              <a:defRPr/>
            </a:pPr>
            <a:r>
              <a:rPr lang="en-US" sz="2200" i="1"/>
              <a:t>(Integration losses)</a:t>
            </a:r>
          </a:p>
        </p:txBody>
      </p:sp>
      <p:sp>
        <p:nvSpPr>
          <p:cNvPr id="317571065" name="Text Box 20"/>
          <p:cNvSpPr txBox="1"/>
          <p:nvPr/>
        </p:nvSpPr>
        <p:spPr bwMode="auto">
          <a:xfrm>
            <a:off x="5564505" y="3228975"/>
            <a:ext cx="2649855" cy="939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3A3C3D"/>
                </a:solidFill>
              </a:rPr>
              <a:t>Manufacturing &amp; Scalability</a:t>
            </a:r>
          </a:p>
        </p:txBody>
      </p:sp>
      <p:sp>
        <p:nvSpPr>
          <p:cNvPr id="679710024" name="Text Box 25"/>
          <p:cNvSpPr txBox="1"/>
          <p:nvPr/>
        </p:nvSpPr>
        <p:spPr bwMode="auto">
          <a:xfrm>
            <a:off x="5564505" y="5307330"/>
            <a:ext cx="2649855" cy="939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3A3C3D"/>
                </a:solidFill>
              </a:rPr>
              <a:t>Systems &amp; Integration</a:t>
            </a:r>
          </a:p>
        </p:txBody>
      </p:sp>
      <p:sp>
        <p:nvSpPr>
          <p:cNvPr id="120248504" name="Plus 26"/>
          <p:cNvSpPr/>
          <p:nvPr/>
        </p:nvSpPr>
        <p:spPr bwMode="auto">
          <a:xfrm>
            <a:off x="6646545" y="4503420"/>
            <a:ext cx="485775" cy="469265"/>
          </a:xfrm>
          <a:prstGeom prst="mathPlus">
            <a:avLst>
              <a:gd name="adj1" fmla="val 23520"/>
            </a:avLst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8136898" name="Straight Arrow Connector 28"/>
          <p:cNvCxnSpPr/>
          <p:nvPr/>
        </p:nvCxnSpPr>
        <p:spPr bwMode="auto">
          <a:xfrm>
            <a:off x="2320290" y="1386205"/>
            <a:ext cx="0" cy="2255520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2689062" name="Straight Arrow Connector 29"/>
          <p:cNvCxnSpPr/>
          <p:nvPr/>
        </p:nvCxnSpPr>
        <p:spPr bwMode="auto">
          <a:xfrm>
            <a:off x="8491855" y="1619885"/>
            <a:ext cx="454660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9974017" name="Straight Arrow Connector 31"/>
          <p:cNvCxnSpPr/>
          <p:nvPr/>
        </p:nvCxnSpPr>
        <p:spPr bwMode="auto">
          <a:xfrm>
            <a:off x="8491855" y="3698875"/>
            <a:ext cx="454660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8267387" name="Straight Arrow Connector 32"/>
          <p:cNvCxnSpPr/>
          <p:nvPr/>
        </p:nvCxnSpPr>
        <p:spPr bwMode="auto">
          <a:xfrm>
            <a:off x="8491855" y="5777865"/>
            <a:ext cx="454660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8735576" name="Rectangles 35"/>
          <p:cNvSpPr/>
          <p:nvPr/>
        </p:nvSpPr>
        <p:spPr bwMode="auto">
          <a:xfrm>
            <a:off x="2877185" y="3512185"/>
            <a:ext cx="1789430" cy="63055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80109069" name="Elbow Connector 36"/>
          <p:cNvCxnSpPr/>
          <p:nvPr/>
        </p:nvCxnSpPr>
        <p:spPr bwMode="auto">
          <a:xfrm rot="10800000">
            <a:off x="3771900" y="3480435"/>
            <a:ext cx="1792605" cy="186690"/>
          </a:xfrm>
          <a:prstGeom prst="bentConnector4">
            <a:avLst>
              <a:gd name="adj1" fmla="val 25044"/>
              <a:gd name="adj2" fmla="val 379252"/>
            </a:avLst>
          </a:prstGeom>
          <a:ln w="38100"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7999533" name="Elbow Connector 37"/>
          <p:cNvCxnSpPr/>
          <p:nvPr/>
        </p:nvCxnSpPr>
        <p:spPr bwMode="auto">
          <a:xfrm rot="10800000" flipV="1">
            <a:off x="3557904" y="1588133"/>
            <a:ext cx="2006600" cy="1887220"/>
          </a:xfrm>
          <a:prstGeom prst="bentConnector3">
            <a:avLst>
              <a:gd name="adj1" fmla="val 100094"/>
            </a:avLst>
          </a:prstGeom>
          <a:ln w="38100"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9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89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63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1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68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1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97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3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10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9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97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5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7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26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1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25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255808" grpId="0" bldLvl="0" animBg="1"/>
      <p:bldP spid="1212255808" grpId="1" animBg="1"/>
      <p:bldP spid="936896083" grpId="0"/>
      <p:bldP spid="936896083" grpId="1"/>
      <p:bldP spid="1645638184" grpId="0" bldLvl="0" animBg="1"/>
      <p:bldP spid="1645638184" grpId="1" animBg="1"/>
      <p:bldP spid="825718216" grpId="0" bldLvl="0" animBg="1"/>
      <p:bldP spid="825718216" grpId="1" animBg="1"/>
      <p:bldP spid="945974146" grpId="0" bldLvl="0" animBg="1"/>
      <p:bldP spid="945974146" grpId="1" animBg="1"/>
      <p:bldP spid="669182953" grpId="0"/>
      <p:bldP spid="669182953" grpId="1"/>
      <p:bldP spid="1128753418" grpId="0"/>
      <p:bldP spid="1128753418" grpId="1"/>
      <p:bldP spid="87612887" grpId="0"/>
      <p:bldP spid="87612887" grpId="1"/>
      <p:bldP spid="317571065" grpId="0" bldLvl="0" animBg="1"/>
      <p:bldP spid="317571065" grpId="1" animBg="1"/>
      <p:bldP spid="679710024" grpId="0" bldLvl="0" animBg="1"/>
      <p:bldP spid="679710024" grpId="1" animBg="1"/>
      <p:bldP spid="120248504" grpId="0" bldLvl="0" animBg="1"/>
      <p:bldP spid="120248504" grpId="1" animBg="1"/>
      <p:bldP spid="448735576" grpId="0" bldLvl="0" animBg="1"/>
      <p:bldP spid="44873557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26B2E7E-CC58-102D-F750-A34512C9A64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53355" name="Maroon rectangle">
            <a:extLst>
              <a:ext uri="{FF2B5EF4-FFF2-40B4-BE49-F238E27FC236}">
                <a16:creationId xmlns:a16="http://schemas.microsoft.com/office/drawing/2014/main" id="{FE5F14D1-0335-DF00-95E7-185B0A283893}"/>
              </a:ext>
            </a:extLst>
          </p:cNvPr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Operational Bottlenecks </a:t>
            </a: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eVTOL</a:t>
            </a: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Air Taxi Systems</a:t>
            </a:r>
          </a:p>
        </p:txBody>
      </p:sp>
      <p:pic>
        <p:nvPicPr>
          <p:cNvPr id="850673078" name="Picture 1">
            <a:extLst>
              <a:ext uri="{FF2B5EF4-FFF2-40B4-BE49-F238E27FC236}">
                <a16:creationId xmlns:a16="http://schemas.microsoft.com/office/drawing/2014/main" id="{8474341B-5422-1BA2-88BD-68DB037E0F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9275" y="1211580"/>
            <a:ext cx="5120640" cy="3085465"/>
          </a:xfrm>
          <a:prstGeom prst="rect">
            <a:avLst/>
          </a:prstGeom>
        </p:spPr>
      </p:pic>
      <p:sp>
        <p:nvSpPr>
          <p:cNvPr id="1081080661" name="Text Box 11">
            <a:extLst>
              <a:ext uri="{FF2B5EF4-FFF2-40B4-BE49-F238E27FC236}">
                <a16:creationId xmlns:a16="http://schemas.microsoft.com/office/drawing/2014/main" id="{DEE98025-1855-AE93-807D-3F99A14C11C9}"/>
              </a:ext>
            </a:extLst>
          </p:cNvPr>
          <p:cNvSpPr txBox="1"/>
          <p:nvPr/>
        </p:nvSpPr>
        <p:spPr bwMode="auto">
          <a:xfrm>
            <a:off x="621665" y="5273675"/>
            <a:ext cx="1036955" cy="42100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 dirty="0">
                <a:solidFill>
                  <a:srgbClr val="3A3C3D"/>
                </a:solidFill>
              </a:rPr>
              <a:t>Takeoff</a:t>
            </a:r>
          </a:p>
        </p:txBody>
      </p:sp>
      <p:sp>
        <p:nvSpPr>
          <p:cNvPr id="1208036145" name="Text Box 12">
            <a:extLst>
              <a:ext uri="{FF2B5EF4-FFF2-40B4-BE49-F238E27FC236}">
                <a16:creationId xmlns:a16="http://schemas.microsoft.com/office/drawing/2014/main" id="{8E07A0D7-2B01-6CAE-6CD2-280014B6564C}"/>
              </a:ext>
            </a:extLst>
          </p:cNvPr>
          <p:cNvSpPr txBox="1"/>
          <p:nvPr/>
        </p:nvSpPr>
        <p:spPr bwMode="auto">
          <a:xfrm>
            <a:off x="2457450" y="5273675"/>
            <a:ext cx="1036955" cy="42100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 dirty="0">
                <a:solidFill>
                  <a:srgbClr val="3A3C3D"/>
                </a:solidFill>
              </a:rPr>
              <a:t>Cruise</a:t>
            </a:r>
          </a:p>
        </p:txBody>
      </p:sp>
      <p:sp>
        <p:nvSpPr>
          <p:cNvPr id="55074420" name="Text Box 13">
            <a:extLst>
              <a:ext uri="{FF2B5EF4-FFF2-40B4-BE49-F238E27FC236}">
                <a16:creationId xmlns:a16="http://schemas.microsoft.com/office/drawing/2014/main" id="{E131FB71-3474-1916-0020-DE450C01EBD7}"/>
              </a:ext>
            </a:extLst>
          </p:cNvPr>
          <p:cNvSpPr txBox="1"/>
          <p:nvPr/>
        </p:nvSpPr>
        <p:spPr bwMode="auto">
          <a:xfrm>
            <a:off x="4281170" y="5273040"/>
            <a:ext cx="1036955" cy="42037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Land</a:t>
            </a:r>
          </a:p>
        </p:txBody>
      </p:sp>
      <p:sp>
        <p:nvSpPr>
          <p:cNvPr id="590758501" name="Text Box 19">
            <a:extLst>
              <a:ext uri="{FF2B5EF4-FFF2-40B4-BE49-F238E27FC236}">
                <a16:creationId xmlns:a16="http://schemas.microsoft.com/office/drawing/2014/main" id="{09284A25-D249-6169-5E1A-198811222B5B}"/>
              </a:ext>
            </a:extLst>
          </p:cNvPr>
          <p:cNvSpPr txBox="1"/>
          <p:nvPr/>
        </p:nvSpPr>
        <p:spPr bwMode="auto">
          <a:xfrm>
            <a:off x="6174740" y="5274310"/>
            <a:ext cx="1036955" cy="420370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Charge</a:t>
            </a:r>
          </a:p>
        </p:txBody>
      </p:sp>
      <p:sp>
        <p:nvSpPr>
          <p:cNvPr id="621145913" name="Text Box 20">
            <a:extLst>
              <a:ext uri="{FF2B5EF4-FFF2-40B4-BE49-F238E27FC236}">
                <a16:creationId xmlns:a16="http://schemas.microsoft.com/office/drawing/2014/main" id="{57AEC7D2-FF57-5550-5E5F-60E5CF283C8E}"/>
              </a:ext>
            </a:extLst>
          </p:cNvPr>
          <p:cNvSpPr txBox="1"/>
          <p:nvPr/>
        </p:nvSpPr>
        <p:spPr bwMode="auto">
          <a:xfrm>
            <a:off x="4484370" y="6235065"/>
            <a:ext cx="1468755" cy="412115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Ground Ops</a:t>
            </a:r>
          </a:p>
        </p:txBody>
      </p:sp>
      <p:sp>
        <p:nvSpPr>
          <p:cNvPr id="1746613658" name="Text Box 24">
            <a:extLst>
              <a:ext uri="{FF2B5EF4-FFF2-40B4-BE49-F238E27FC236}">
                <a16:creationId xmlns:a16="http://schemas.microsoft.com/office/drawing/2014/main" id="{224E0CB2-2C9A-8D4F-2A5A-1513A6897A50}"/>
              </a:ext>
            </a:extLst>
          </p:cNvPr>
          <p:cNvSpPr txBox="1"/>
          <p:nvPr/>
        </p:nvSpPr>
        <p:spPr bwMode="auto">
          <a:xfrm>
            <a:off x="1783080" y="6234430"/>
            <a:ext cx="1468755" cy="412750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Next Flight</a:t>
            </a:r>
          </a:p>
        </p:txBody>
      </p:sp>
      <p:cxnSp>
        <p:nvCxnSpPr>
          <p:cNvPr id="1304830125" name="Straight Arrow Connector 26">
            <a:extLst>
              <a:ext uri="{FF2B5EF4-FFF2-40B4-BE49-F238E27FC236}">
                <a16:creationId xmlns:a16="http://schemas.microsoft.com/office/drawing/2014/main" id="{B2E8DE79-259D-89C6-9AA4-E7FAA08E6C03}"/>
              </a:ext>
            </a:extLst>
          </p:cNvPr>
          <p:cNvCxnSpPr>
            <a:stCxn id="1208036145" idx="3"/>
            <a:endCxn id="55074420" idx="1"/>
          </p:cNvCxnSpPr>
          <p:nvPr/>
        </p:nvCxnSpPr>
        <p:spPr bwMode="auto">
          <a:xfrm flipV="1">
            <a:off x="3494405" y="5483225"/>
            <a:ext cx="78676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701984" name="Straight Arrow Connector 29">
            <a:extLst>
              <a:ext uri="{FF2B5EF4-FFF2-40B4-BE49-F238E27FC236}">
                <a16:creationId xmlns:a16="http://schemas.microsoft.com/office/drawing/2014/main" id="{6F603135-F5F4-DE39-D1C4-06457AC37112}"/>
              </a:ext>
            </a:extLst>
          </p:cNvPr>
          <p:cNvCxnSpPr>
            <a:stCxn id="55074420" idx="3"/>
            <a:endCxn id="590758501" idx="1"/>
          </p:cNvCxnSpPr>
          <p:nvPr/>
        </p:nvCxnSpPr>
        <p:spPr bwMode="auto">
          <a:xfrm>
            <a:off x="5318125" y="5483225"/>
            <a:ext cx="856615" cy="127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33352261" name="Straight Arrow Connector 30">
            <a:extLst>
              <a:ext uri="{FF2B5EF4-FFF2-40B4-BE49-F238E27FC236}">
                <a16:creationId xmlns:a16="http://schemas.microsoft.com/office/drawing/2014/main" id="{7C8A3063-A926-6C18-1632-166228EC079E}"/>
              </a:ext>
            </a:extLst>
          </p:cNvPr>
          <p:cNvCxnSpPr>
            <a:stCxn id="621145913" idx="1"/>
            <a:endCxn id="1746613658" idx="3"/>
          </p:cNvCxnSpPr>
          <p:nvPr/>
        </p:nvCxnSpPr>
        <p:spPr bwMode="auto">
          <a:xfrm flipH="1" flipV="1">
            <a:off x="3251835" y="6440805"/>
            <a:ext cx="1232535" cy="63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7770162" name="Elbow Connector 31">
            <a:extLst>
              <a:ext uri="{FF2B5EF4-FFF2-40B4-BE49-F238E27FC236}">
                <a16:creationId xmlns:a16="http://schemas.microsoft.com/office/drawing/2014/main" id="{AF2FBF39-CF9F-D62A-A9CA-A07321AE188B}"/>
              </a:ext>
            </a:extLst>
          </p:cNvPr>
          <p:cNvCxnSpPr>
            <a:stCxn id="590758501" idx="2"/>
            <a:endCxn id="621145913" idx="3"/>
          </p:cNvCxnSpPr>
          <p:nvPr/>
        </p:nvCxnSpPr>
        <p:spPr bwMode="auto">
          <a:xfrm rot="5400000">
            <a:off x="5949950" y="5697855"/>
            <a:ext cx="746760" cy="740410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4118083" name="Elbow Connector 36">
            <a:extLst>
              <a:ext uri="{FF2B5EF4-FFF2-40B4-BE49-F238E27FC236}">
                <a16:creationId xmlns:a16="http://schemas.microsoft.com/office/drawing/2014/main" id="{C7ABBA65-943D-A363-3909-D60A8136B4E1}"/>
              </a:ext>
            </a:extLst>
          </p:cNvPr>
          <p:cNvCxnSpPr>
            <a:stCxn id="1746613658" idx="1"/>
            <a:endCxn id="1081080661" idx="2"/>
          </p:cNvCxnSpPr>
          <p:nvPr/>
        </p:nvCxnSpPr>
        <p:spPr bwMode="auto">
          <a:xfrm rot="10800000">
            <a:off x="1140460" y="5694680"/>
            <a:ext cx="642620" cy="746125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3265860" name="Straight Connector 37">
            <a:extLst>
              <a:ext uri="{FF2B5EF4-FFF2-40B4-BE49-F238E27FC236}">
                <a16:creationId xmlns:a16="http://schemas.microsoft.com/office/drawing/2014/main" id="{F576D6E4-6F66-550E-5D82-1DAF222F9971}"/>
              </a:ext>
            </a:extLst>
          </p:cNvPr>
          <p:cNvCxnSpPr/>
          <p:nvPr/>
        </p:nvCxnSpPr>
        <p:spPr bwMode="auto">
          <a:xfrm>
            <a:off x="1212215" y="3641725"/>
            <a:ext cx="0" cy="42862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8625618" name="Straight Connector 38">
            <a:extLst>
              <a:ext uri="{FF2B5EF4-FFF2-40B4-BE49-F238E27FC236}">
                <a16:creationId xmlns:a16="http://schemas.microsoft.com/office/drawing/2014/main" id="{D8159BBB-10C3-E5AA-5EF1-DA943BDD0EAA}"/>
              </a:ext>
            </a:extLst>
          </p:cNvPr>
          <p:cNvCxnSpPr/>
          <p:nvPr/>
        </p:nvCxnSpPr>
        <p:spPr bwMode="auto">
          <a:xfrm>
            <a:off x="1417955" y="3394075"/>
            <a:ext cx="35687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9829317" name="Straight Connector 39">
            <a:extLst>
              <a:ext uri="{FF2B5EF4-FFF2-40B4-BE49-F238E27FC236}">
                <a16:creationId xmlns:a16="http://schemas.microsoft.com/office/drawing/2014/main" id="{EA147B34-2321-4C20-8CCF-AFF4D21B66C5}"/>
              </a:ext>
            </a:extLst>
          </p:cNvPr>
          <p:cNvCxnSpPr/>
          <p:nvPr/>
        </p:nvCxnSpPr>
        <p:spPr bwMode="auto">
          <a:xfrm flipV="1">
            <a:off x="1767840" y="2918460"/>
            <a:ext cx="218440" cy="47942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6844141" name="Straight Connector 40">
            <a:extLst>
              <a:ext uri="{FF2B5EF4-FFF2-40B4-BE49-F238E27FC236}">
                <a16:creationId xmlns:a16="http://schemas.microsoft.com/office/drawing/2014/main" id="{A3CF4C9C-50CE-F1B5-CFC1-8EF45DFD43DA}"/>
              </a:ext>
            </a:extLst>
          </p:cNvPr>
          <p:cNvCxnSpPr/>
          <p:nvPr/>
        </p:nvCxnSpPr>
        <p:spPr bwMode="auto">
          <a:xfrm>
            <a:off x="1967230" y="2930525"/>
            <a:ext cx="1806575" cy="317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7120195" name="Straight Connector 41">
            <a:extLst>
              <a:ext uri="{FF2B5EF4-FFF2-40B4-BE49-F238E27FC236}">
                <a16:creationId xmlns:a16="http://schemas.microsoft.com/office/drawing/2014/main" id="{C435858F-6224-46BA-13AF-F74AA653B902}"/>
              </a:ext>
            </a:extLst>
          </p:cNvPr>
          <p:cNvCxnSpPr/>
          <p:nvPr/>
        </p:nvCxnSpPr>
        <p:spPr bwMode="auto">
          <a:xfrm flipV="1">
            <a:off x="1209675" y="3394075"/>
            <a:ext cx="219710" cy="26162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9126119" name="Straight Connector 48">
            <a:extLst>
              <a:ext uri="{FF2B5EF4-FFF2-40B4-BE49-F238E27FC236}">
                <a16:creationId xmlns:a16="http://schemas.microsoft.com/office/drawing/2014/main" id="{B5D8DAEE-91BC-9A58-5488-B55C431A6A18}"/>
              </a:ext>
            </a:extLst>
          </p:cNvPr>
          <p:cNvCxnSpPr/>
          <p:nvPr/>
        </p:nvCxnSpPr>
        <p:spPr bwMode="auto">
          <a:xfrm>
            <a:off x="4501515" y="3655695"/>
            <a:ext cx="0" cy="39624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4556034" name="Straight Connector 49">
            <a:extLst>
              <a:ext uri="{FF2B5EF4-FFF2-40B4-BE49-F238E27FC236}">
                <a16:creationId xmlns:a16="http://schemas.microsoft.com/office/drawing/2014/main" id="{27B3E8B0-6343-9394-465E-B01C394E1E7C}"/>
              </a:ext>
            </a:extLst>
          </p:cNvPr>
          <p:cNvCxnSpPr/>
          <p:nvPr/>
        </p:nvCxnSpPr>
        <p:spPr bwMode="auto">
          <a:xfrm flipH="1" flipV="1">
            <a:off x="4278630" y="3401695"/>
            <a:ext cx="227965" cy="27051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2159470" name="Straight Connector 50">
            <a:extLst>
              <a:ext uri="{FF2B5EF4-FFF2-40B4-BE49-F238E27FC236}">
                <a16:creationId xmlns:a16="http://schemas.microsoft.com/office/drawing/2014/main" id="{D805D1B0-2C79-D0A1-DB35-277409E6BEDC}"/>
              </a:ext>
            </a:extLst>
          </p:cNvPr>
          <p:cNvCxnSpPr/>
          <p:nvPr/>
        </p:nvCxnSpPr>
        <p:spPr bwMode="auto">
          <a:xfrm>
            <a:off x="3926205" y="3395345"/>
            <a:ext cx="35687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6157791" name="Straight Connector 51">
            <a:extLst>
              <a:ext uri="{FF2B5EF4-FFF2-40B4-BE49-F238E27FC236}">
                <a16:creationId xmlns:a16="http://schemas.microsoft.com/office/drawing/2014/main" id="{2A22609C-7BA0-E2BB-EEB0-A81C8E532B28}"/>
              </a:ext>
            </a:extLst>
          </p:cNvPr>
          <p:cNvCxnSpPr/>
          <p:nvPr/>
        </p:nvCxnSpPr>
        <p:spPr bwMode="auto">
          <a:xfrm flipH="1" flipV="1">
            <a:off x="3768090" y="2929890"/>
            <a:ext cx="169545" cy="47180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3762856" name="Rounded Rectangle 55">
            <a:extLst>
              <a:ext uri="{FF2B5EF4-FFF2-40B4-BE49-F238E27FC236}">
                <a16:creationId xmlns:a16="http://schemas.microsoft.com/office/drawing/2014/main" id="{00EB3A45-7FA5-E76D-F8B4-A318398E4DF6}"/>
              </a:ext>
            </a:extLst>
          </p:cNvPr>
          <p:cNvSpPr/>
          <p:nvPr/>
        </p:nvSpPr>
        <p:spPr bwMode="auto">
          <a:xfrm>
            <a:off x="101600" y="3559810"/>
            <a:ext cx="945515" cy="5708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Hover Climb</a:t>
            </a:r>
          </a:p>
        </p:txBody>
      </p:sp>
      <p:sp>
        <p:nvSpPr>
          <p:cNvPr id="827205529" name="Rounded Rectangle 57">
            <a:extLst>
              <a:ext uri="{FF2B5EF4-FFF2-40B4-BE49-F238E27FC236}">
                <a16:creationId xmlns:a16="http://schemas.microsoft.com/office/drawing/2014/main" id="{6E86B0F8-9006-1B16-617E-12FB7744CD5D}"/>
              </a:ext>
            </a:extLst>
          </p:cNvPr>
          <p:cNvSpPr/>
          <p:nvPr/>
        </p:nvSpPr>
        <p:spPr bwMode="auto">
          <a:xfrm>
            <a:off x="102235" y="2406015"/>
            <a:ext cx="949325" cy="5651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Accel. Climb</a:t>
            </a:r>
          </a:p>
        </p:txBody>
      </p:sp>
      <p:sp>
        <p:nvSpPr>
          <p:cNvPr id="1267686299" name="Rounded Rectangle 58">
            <a:extLst>
              <a:ext uri="{FF2B5EF4-FFF2-40B4-BE49-F238E27FC236}">
                <a16:creationId xmlns:a16="http://schemas.microsoft.com/office/drawing/2014/main" id="{80617FFA-86BC-DC41-9DDF-995643FBA167}"/>
              </a:ext>
            </a:extLst>
          </p:cNvPr>
          <p:cNvSpPr/>
          <p:nvPr/>
        </p:nvSpPr>
        <p:spPr bwMode="auto">
          <a:xfrm>
            <a:off x="2366645" y="1983105"/>
            <a:ext cx="1008380" cy="4749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Cruise</a:t>
            </a:r>
          </a:p>
        </p:txBody>
      </p:sp>
      <p:sp>
        <p:nvSpPr>
          <p:cNvPr id="1921328695" name="Rounded Rectangle 59">
            <a:extLst>
              <a:ext uri="{FF2B5EF4-FFF2-40B4-BE49-F238E27FC236}">
                <a16:creationId xmlns:a16="http://schemas.microsoft.com/office/drawing/2014/main" id="{D8DFA459-CF1F-670E-24BE-053C0733F67B}"/>
              </a:ext>
            </a:extLst>
          </p:cNvPr>
          <p:cNvSpPr/>
          <p:nvPr/>
        </p:nvSpPr>
        <p:spPr bwMode="auto">
          <a:xfrm>
            <a:off x="4702175" y="2406650"/>
            <a:ext cx="1016635" cy="5638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Decel. Descend</a:t>
            </a:r>
          </a:p>
        </p:txBody>
      </p:sp>
      <p:sp>
        <p:nvSpPr>
          <p:cNvPr id="242114507" name="Rounded Rectangle 63">
            <a:extLst>
              <a:ext uri="{FF2B5EF4-FFF2-40B4-BE49-F238E27FC236}">
                <a16:creationId xmlns:a16="http://schemas.microsoft.com/office/drawing/2014/main" id="{ED48324E-FEF8-96C0-F8D4-EA94CA06E84E}"/>
              </a:ext>
            </a:extLst>
          </p:cNvPr>
          <p:cNvSpPr/>
          <p:nvPr/>
        </p:nvSpPr>
        <p:spPr bwMode="auto">
          <a:xfrm>
            <a:off x="4701540" y="3560445"/>
            <a:ext cx="1016635" cy="5708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Hover Descend</a:t>
            </a:r>
          </a:p>
        </p:txBody>
      </p:sp>
      <p:cxnSp>
        <p:nvCxnSpPr>
          <p:cNvPr id="1400972936" name="Straight Arrow Connector 65">
            <a:extLst>
              <a:ext uri="{FF2B5EF4-FFF2-40B4-BE49-F238E27FC236}">
                <a16:creationId xmlns:a16="http://schemas.microsoft.com/office/drawing/2014/main" id="{888CB637-64C4-F881-CCC7-A3D2835308DB}"/>
              </a:ext>
            </a:extLst>
          </p:cNvPr>
          <p:cNvCxnSpPr>
            <a:stCxn id="1267686299" idx="2"/>
          </p:cNvCxnSpPr>
          <p:nvPr/>
        </p:nvCxnSpPr>
        <p:spPr bwMode="auto">
          <a:xfrm flipH="1">
            <a:off x="2865755" y="2458085"/>
            <a:ext cx="5080" cy="44069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5101721" name="Straight Arrow Connector 66">
            <a:extLst>
              <a:ext uri="{FF2B5EF4-FFF2-40B4-BE49-F238E27FC236}">
                <a16:creationId xmlns:a16="http://schemas.microsoft.com/office/drawing/2014/main" id="{79509D07-D45E-C1D5-E1A9-73DDA07A7D2C}"/>
              </a:ext>
            </a:extLst>
          </p:cNvPr>
          <p:cNvCxnSpPr>
            <a:stCxn id="343762856" idx="3"/>
          </p:cNvCxnSpPr>
          <p:nvPr/>
        </p:nvCxnSpPr>
        <p:spPr bwMode="auto">
          <a:xfrm>
            <a:off x="1047115" y="3845560"/>
            <a:ext cx="143510" cy="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3077819" name="Straight Arrow Connector 67">
            <a:extLst>
              <a:ext uri="{FF2B5EF4-FFF2-40B4-BE49-F238E27FC236}">
                <a16:creationId xmlns:a16="http://schemas.microsoft.com/office/drawing/2014/main" id="{E3E267EF-D224-AC67-F535-AD2531FBF587}"/>
              </a:ext>
            </a:extLst>
          </p:cNvPr>
          <p:cNvCxnSpPr>
            <a:stCxn id="242114507" idx="1"/>
          </p:cNvCxnSpPr>
          <p:nvPr/>
        </p:nvCxnSpPr>
        <p:spPr bwMode="auto">
          <a:xfrm flipH="1">
            <a:off x="4520565" y="3846195"/>
            <a:ext cx="180975" cy="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5653028" name="Group 76">
            <a:extLst>
              <a:ext uri="{FF2B5EF4-FFF2-40B4-BE49-F238E27FC236}">
                <a16:creationId xmlns:a16="http://schemas.microsoft.com/office/drawing/2014/main" id="{ABEA87B6-14A0-1127-E122-76A0E14EF135}"/>
              </a:ext>
            </a:extLst>
          </p:cNvPr>
          <p:cNvGrpSpPr/>
          <p:nvPr/>
        </p:nvGrpSpPr>
        <p:grpSpPr bwMode="auto">
          <a:xfrm>
            <a:off x="1052195" y="2640965"/>
            <a:ext cx="811530" cy="538480"/>
            <a:chOff x="1671" y="5839"/>
            <a:chExt cx="1277" cy="848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9AFA5A4B-BAE0-12D4-6663-D3FAB0D79A4C}"/>
                </a:ext>
              </a:extLst>
            </p:cNvPr>
            <p:cNvCxnSpPr/>
            <p:nvPr/>
          </p:nvCxnSpPr>
          <p:spPr bwMode="auto">
            <a:xfrm>
              <a:off x="1671" y="5841"/>
              <a:ext cx="569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32F6677-1C7A-AF17-65B0-0F4077AA9F55}"/>
                </a:ext>
              </a:extLst>
            </p:cNvPr>
            <p:cNvCxnSpPr/>
            <p:nvPr/>
          </p:nvCxnSpPr>
          <p:spPr bwMode="auto">
            <a:xfrm>
              <a:off x="2235" y="5839"/>
              <a:ext cx="715" cy="84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85047171" name="Group 79">
            <a:extLst>
              <a:ext uri="{FF2B5EF4-FFF2-40B4-BE49-F238E27FC236}">
                <a16:creationId xmlns:a16="http://schemas.microsoft.com/office/drawing/2014/main" id="{AA1A2F9B-20F0-39FD-7E63-AC68CD69BC8A}"/>
              </a:ext>
            </a:extLst>
          </p:cNvPr>
          <p:cNvGrpSpPr/>
          <p:nvPr/>
        </p:nvGrpSpPr>
        <p:grpSpPr bwMode="auto">
          <a:xfrm flipH="1">
            <a:off x="3867150" y="2640965"/>
            <a:ext cx="835025" cy="538480"/>
            <a:chOff x="1671" y="5839"/>
            <a:chExt cx="1277" cy="848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5D37BD5-581D-9780-8C40-C9FB7EEAA6BF}"/>
                </a:ext>
              </a:extLst>
            </p:cNvPr>
            <p:cNvCxnSpPr/>
            <p:nvPr/>
          </p:nvCxnSpPr>
          <p:spPr bwMode="auto">
            <a:xfrm>
              <a:off x="1671" y="5841"/>
              <a:ext cx="569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4005E6D-8CB8-DE66-A80E-DFD39B810EF6}"/>
                </a:ext>
              </a:extLst>
            </p:cNvPr>
            <p:cNvCxnSpPr/>
            <p:nvPr/>
          </p:nvCxnSpPr>
          <p:spPr bwMode="auto">
            <a:xfrm>
              <a:off x="2235" y="5839"/>
              <a:ext cx="715" cy="84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842257895" name="Straight Connector 43">
            <a:extLst>
              <a:ext uri="{FF2B5EF4-FFF2-40B4-BE49-F238E27FC236}">
                <a16:creationId xmlns:a16="http://schemas.microsoft.com/office/drawing/2014/main" id="{52749ED7-6341-FF07-2BC1-70554CDA4BE8}"/>
              </a:ext>
            </a:extLst>
          </p:cNvPr>
          <p:cNvCxnSpPr/>
          <p:nvPr/>
        </p:nvCxnSpPr>
        <p:spPr bwMode="auto">
          <a:xfrm>
            <a:off x="1212215" y="4322445"/>
            <a:ext cx="0" cy="533400"/>
          </a:xfrm>
          <a:prstGeom prst="line">
            <a:avLst/>
          </a:prstGeom>
          <a:ln w="1270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6848375" name="Straight Connector 44">
            <a:extLst>
              <a:ext uri="{FF2B5EF4-FFF2-40B4-BE49-F238E27FC236}">
                <a16:creationId xmlns:a16="http://schemas.microsoft.com/office/drawing/2014/main" id="{0014D789-4DD8-E09F-8EF7-DC8337229552}"/>
              </a:ext>
            </a:extLst>
          </p:cNvPr>
          <p:cNvCxnSpPr/>
          <p:nvPr/>
        </p:nvCxnSpPr>
        <p:spPr bwMode="auto">
          <a:xfrm>
            <a:off x="4501515" y="4322445"/>
            <a:ext cx="0" cy="520700"/>
          </a:xfrm>
          <a:prstGeom prst="line">
            <a:avLst/>
          </a:prstGeom>
          <a:ln w="1270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0078658" name="Straight Arrow Connector 45">
            <a:extLst>
              <a:ext uri="{FF2B5EF4-FFF2-40B4-BE49-F238E27FC236}">
                <a16:creationId xmlns:a16="http://schemas.microsoft.com/office/drawing/2014/main" id="{24ABFD04-35B3-0B84-2BE2-71C81A8A8663}"/>
              </a:ext>
            </a:extLst>
          </p:cNvPr>
          <p:cNvCxnSpPr/>
          <p:nvPr/>
        </p:nvCxnSpPr>
        <p:spPr bwMode="auto">
          <a:xfrm>
            <a:off x="1241425" y="4733925"/>
            <a:ext cx="3230880" cy="0"/>
          </a:xfrm>
          <a:prstGeom prst="straightConnector1">
            <a:avLst/>
          </a:prstGeom>
          <a:ln>
            <a:solidFill>
              <a:schemeClr val="accent5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5670598" name="Text Box 46">
            <a:extLst>
              <a:ext uri="{FF2B5EF4-FFF2-40B4-BE49-F238E27FC236}">
                <a16:creationId xmlns:a16="http://schemas.microsoft.com/office/drawing/2014/main" id="{478BA0C0-C750-F15F-81BD-34C37500B127}"/>
              </a:ext>
            </a:extLst>
          </p:cNvPr>
          <p:cNvSpPr txBox="1"/>
          <p:nvPr/>
        </p:nvSpPr>
        <p:spPr bwMode="auto">
          <a:xfrm>
            <a:off x="1819909" y="4371340"/>
            <a:ext cx="205041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2000" dirty="0">
                <a:solidFill>
                  <a:srgbClr val="3A3C3D"/>
                </a:solidFill>
              </a:rPr>
              <a:t>~ </a:t>
            </a:r>
            <a:r>
              <a:rPr lang="en-US" sz="2000" dirty="0">
                <a:solidFill>
                  <a:srgbClr val="3A3C3D"/>
                </a:solidFill>
              </a:rPr>
              <a:t>20-50 mile</a:t>
            </a:r>
            <a:r>
              <a:rPr lang="vi-VN" sz="2000" dirty="0">
                <a:solidFill>
                  <a:srgbClr val="3A3C3D"/>
                </a:solidFill>
              </a:rPr>
              <a:t>s</a:t>
            </a:r>
          </a:p>
        </p:txBody>
      </p:sp>
      <p:sp>
        <p:nvSpPr>
          <p:cNvPr id="158830769" name="Text Box 60">
            <a:extLst>
              <a:ext uri="{FF2B5EF4-FFF2-40B4-BE49-F238E27FC236}">
                <a16:creationId xmlns:a16="http://schemas.microsoft.com/office/drawing/2014/main" id="{D4471953-071D-5F42-5F26-040A5323A742}"/>
              </a:ext>
            </a:extLst>
          </p:cNvPr>
          <p:cNvSpPr txBox="1"/>
          <p:nvPr/>
        </p:nvSpPr>
        <p:spPr bwMode="auto">
          <a:xfrm>
            <a:off x="6507480" y="2033010"/>
            <a:ext cx="1724025" cy="107696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3A3C3D"/>
                </a:solidFill>
              </a:rPr>
              <a:t>Charging</a:t>
            </a:r>
            <a:r>
              <a:rPr lang="vi-VN" sz="2000">
                <a:solidFill>
                  <a:srgbClr val="3A3C3D"/>
                </a:solidFill>
              </a:rPr>
              <a:t> </a:t>
            </a:r>
            <a:r>
              <a:rPr lang="en-US" sz="2000">
                <a:solidFill>
                  <a:srgbClr val="3A3C3D"/>
                </a:solidFill>
              </a:rPr>
              <a:t>Infrastructure</a:t>
            </a:r>
          </a:p>
        </p:txBody>
      </p:sp>
      <p:pic>
        <p:nvPicPr>
          <p:cNvPr id="1776033746" name="Picture 69" descr="Gemini_Generated_Image_w0147kw0147kw014">
            <a:extLst>
              <a:ext uri="{FF2B5EF4-FFF2-40B4-BE49-F238E27FC236}">
                <a16:creationId xmlns:a16="http://schemas.microsoft.com/office/drawing/2014/main" id="{EE046B3D-27D4-B151-9541-9A02CD1F4D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229" b="19586"/>
          <a:stretch/>
        </p:blipFill>
        <p:spPr bwMode="auto">
          <a:xfrm>
            <a:off x="6983095" y="1335145"/>
            <a:ext cx="1040765" cy="615950"/>
          </a:xfrm>
          <a:prstGeom prst="rect">
            <a:avLst/>
          </a:prstGeom>
        </p:spPr>
      </p:pic>
      <p:sp>
        <p:nvSpPr>
          <p:cNvPr id="1598580069" name="Text Box 78">
            <a:extLst>
              <a:ext uri="{FF2B5EF4-FFF2-40B4-BE49-F238E27FC236}">
                <a16:creationId xmlns:a16="http://schemas.microsoft.com/office/drawing/2014/main" id="{F25F34DE-DFC0-DBB2-2F86-E1F326E71778}"/>
              </a:ext>
            </a:extLst>
          </p:cNvPr>
          <p:cNvSpPr txBox="1"/>
          <p:nvPr/>
        </p:nvSpPr>
        <p:spPr bwMode="auto">
          <a:xfrm>
            <a:off x="5913120" y="3282690"/>
            <a:ext cx="2912110" cy="888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sz="2000" i="1" dirty="0"/>
              <a:t>Vertiports</a:t>
            </a:r>
            <a:r>
              <a:rPr lang="vi-VN" sz="2000" i="1" dirty="0"/>
              <a:t> </a:t>
            </a:r>
            <a:br>
              <a:rPr lang="vi-VN" sz="2000" i="1" dirty="0"/>
            </a:br>
            <a:r>
              <a:rPr lang="vi-VN" sz="2000" i="1" dirty="0"/>
              <a:t>+ </a:t>
            </a:r>
            <a:r>
              <a:rPr lang="en-US" sz="2000" i="1" dirty="0"/>
              <a:t>high-power charging</a:t>
            </a:r>
          </a:p>
        </p:txBody>
      </p:sp>
      <p:pic>
        <p:nvPicPr>
          <p:cNvPr id="1974977489" name="Picture 85" descr="takeoff_zone">
            <a:extLst>
              <a:ext uri="{FF2B5EF4-FFF2-40B4-BE49-F238E27FC236}">
                <a16:creationId xmlns:a16="http://schemas.microsoft.com/office/drawing/2014/main" id="{24F0EDA0-561E-5732-4F7C-E124F4AAA5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2925" b="73759"/>
          <a:stretch/>
        </p:blipFill>
        <p:spPr bwMode="auto">
          <a:xfrm>
            <a:off x="6805295" y="1278630"/>
            <a:ext cx="393700" cy="407035"/>
          </a:xfrm>
          <a:prstGeom prst="rect">
            <a:avLst/>
          </a:prstGeom>
        </p:spPr>
      </p:pic>
      <p:cxnSp>
        <p:nvCxnSpPr>
          <p:cNvPr id="2020956170" name="Straight Arrow Connector 4">
            <a:extLst>
              <a:ext uri="{FF2B5EF4-FFF2-40B4-BE49-F238E27FC236}">
                <a16:creationId xmlns:a16="http://schemas.microsoft.com/office/drawing/2014/main" id="{BD23BDDB-A3EC-E1F6-06C2-5757D487FED2}"/>
              </a:ext>
            </a:extLst>
          </p:cNvPr>
          <p:cNvCxnSpPr/>
          <p:nvPr/>
        </p:nvCxnSpPr>
        <p:spPr bwMode="auto">
          <a:xfrm flipV="1">
            <a:off x="1670685" y="5484495"/>
            <a:ext cx="78676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13388695" name="Text">
            <a:extLst>
              <a:ext uri="{FF2B5EF4-FFF2-40B4-BE49-F238E27FC236}">
                <a16:creationId xmlns:a16="http://schemas.microsoft.com/office/drawing/2014/main" id="{0EA747FA-22DD-0CAB-F275-0B3C7A8FA552}"/>
              </a:ext>
            </a:extLst>
          </p:cNvPr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6A4D207B-A28F-177C-4208-AA726BF0C422}"/>
              </a:ext>
            </a:extLst>
          </p:cNvPr>
          <p:cNvSpPr txBox="1"/>
          <p:nvPr/>
        </p:nvSpPr>
        <p:spPr bwMode="auto">
          <a:xfrm>
            <a:off x="113030" y="885190"/>
            <a:ext cx="6260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 i="1" dirty="0"/>
              <a:t>Source:</a:t>
            </a:r>
            <a:r>
              <a:rPr lang="en-US" i="1" dirty="0"/>
              <a:t> </a:t>
            </a:r>
            <a:r>
              <a:rPr lang="vi-VN" i="1" dirty="0"/>
              <a:t>FAA’s UAM </a:t>
            </a:r>
            <a:r>
              <a:rPr lang="en-US" i="1" dirty="0"/>
              <a:t>Concept of Operations</a:t>
            </a:r>
            <a:r>
              <a:rPr lang="vi-VN" i="1" dirty="0"/>
              <a:t> &amp; U</a:t>
            </a:r>
            <a:r>
              <a:rPr lang="en-US" i="1" dirty="0" err="1"/>
              <a:t>ber</a:t>
            </a:r>
            <a:r>
              <a:rPr lang="en-US" i="1" dirty="0"/>
              <a:t> Elevate</a:t>
            </a:r>
            <a:r>
              <a:rPr lang="vi-VN" i="1" dirty="0"/>
              <a:t>’s Mission Profile</a:t>
            </a:r>
          </a:p>
        </p:txBody>
      </p:sp>
      <p:sp>
        <p:nvSpPr>
          <p:cNvPr id="3" name="Oval 5">
            <a:extLst>
              <a:ext uri="{FF2B5EF4-FFF2-40B4-BE49-F238E27FC236}">
                <a16:creationId xmlns:a16="http://schemas.microsoft.com/office/drawing/2014/main" id="{12530F69-D0C3-181D-BD05-14CAFCD50FB9}"/>
              </a:ext>
            </a:extLst>
          </p:cNvPr>
          <p:cNvSpPr/>
          <p:nvPr/>
        </p:nvSpPr>
        <p:spPr bwMode="auto">
          <a:xfrm rot="5400000">
            <a:off x="6210934" y="4687570"/>
            <a:ext cx="923925" cy="1590040"/>
          </a:xfrm>
          <a:prstGeom prst="ellipse">
            <a:avLst/>
          </a:prstGeom>
          <a:noFill/>
          <a:ln w="38100" cap="rnd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5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6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82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84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5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15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2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84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07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67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25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7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10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2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5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68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97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0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3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11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07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08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95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03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7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8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75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7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4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61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11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03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97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58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080661" grpId="0" bldLvl="0" animBg="1"/>
      <p:bldP spid="1081080661" grpId="1" animBg="1"/>
      <p:bldP spid="1081080661" grpId="2" animBg="1"/>
      <p:bldP spid="1208036145" grpId="0" bldLvl="0" animBg="1"/>
      <p:bldP spid="1208036145" grpId="1" animBg="1"/>
      <p:bldP spid="1208036145" grpId="2" animBg="1"/>
      <p:bldP spid="55074420" grpId="0" bldLvl="0" animBg="1"/>
      <p:bldP spid="55074420" grpId="1" animBg="1"/>
      <p:bldP spid="55074420" grpId="2" animBg="1"/>
      <p:bldP spid="590758501" grpId="0" bldLvl="0" animBg="1"/>
      <p:bldP spid="590758501" grpId="1" animBg="1"/>
      <p:bldP spid="590758501" grpId="2" animBg="1"/>
      <p:bldP spid="621145913" grpId="0" bldLvl="0" animBg="1"/>
      <p:bldP spid="621145913" grpId="1" animBg="1"/>
      <p:bldP spid="621145913" grpId="2" animBg="1"/>
      <p:bldP spid="1746613658" grpId="0" bldLvl="0" animBg="1"/>
      <p:bldP spid="1746613658" grpId="1" animBg="1"/>
      <p:bldP spid="1746613658" grpId="2" animBg="1"/>
      <p:bldP spid="343762856" grpId="0" bldLvl="0" animBg="1"/>
      <p:bldP spid="343762856" grpId="1" animBg="1"/>
      <p:bldP spid="343762856" grpId="2" animBg="1"/>
      <p:bldP spid="827205529" grpId="0" bldLvl="0" animBg="1"/>
      <p:bldP spid="827205529" grpId="1" animBg="1"/>
      <p:bldP spid="827205529" grpId="2" animBg="1"/>
      <p:bldP spid="1267686299" grpId="0" bldLvl="0" animBg="1"/>
      <p:bldP spid="1267686299" grpId="1" animBg="1"/>
      <p:bldP spid="1267686299" grpId="2" animBg="1"/>
      <p:bldP spid="1921328695" grpId="0" bldLvl="0" animBg="1"/>
      <p:bldP spid="1921328695" grpId="1" animBg="1"/>
      <p:bldP spid="1921328695" grpId="2" animBg="1"/>
      <p:bldP spid="242114507" grpId="0" bldLvl="0" animBg="1"/>
      <p:bldP spid="242114507" grpId="1" animBg="1"/>
      <p:bldP spid="242114507" grpId="2" animBg="1"/>
      <p:bldP spid="1995670598" grpId="0"/>
      <p:bldP spid="1995670598" grpId="1"/>
      <p:bldP spid="1995670598" grpId="2"/>
      <p:bldP spid="158830769" grpId="0" bldLvl="0" animBg="1"/>
      <p:bldP spid="158830769" grpId="1" animBg="1"/>
      <p:bldP spid="158830769" grpId="2" animBg="1"/>
      <p:bldP spid="1598580069" grpId="0"/>
      <p:bldP spid="1598580069" grpId="1"/>
      <p:bldP spid="1598580069" grpId="2"/>
      <p:bldP spid="2" grpId="0"/>
      <p:bldP spid="2" grpId="1"/>
      <p:bldP spid="2" grpId="2"/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53355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Operational Bottlenecks </a:t>
            </a: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eVTOL</a:t>
            </a: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Air Taxi Systems</a:t>
            </a:r>
          </a:p>
        </p:txBody>
      </p:sp>
      <p:pic>
        <p:nvPicPr>
          <p:cNvPr id="850673078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9275" y="1211580"/>
            <a:ext cx="5120640" cy="3085465"/>
          </a:xfrm>
          <a:prstGeom prst="rect">
            <a:avLst/>
          </a:prstGeom>
        </p:spPr>
      </p:pic>
      <p:sp>
        <p:nvSpPr>
          <p:cNvPr id="1081080661" name="Text Box 11"/>
          <p:cNvSpPr txBox="1"/>
          <p:nvPr/>
        </p:nvSpPr>
        <p:spPr bwMode="auto">
          <a:xfrm>
            <a:off x="621665" y="5273675"/>
            <a:ext cx="1036955" cy="42100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Takeoff</a:t>
            </a:r>
          </a:p>
        </p:txBody>
      </p:sp>
      <p:sp>
        <p:nvSpPr>
          <p:cNvPr id="1208036145" name="Text Box 12"/>
          <p:cNvSpPr txBox="1"/>
          <p:nvPr/>
        </p:nvSpPr>
        <p:spPr bwMode="auto">
          <a:xfrm>
            <a:off x="2457450" y="5273675"/>
            <a:ext cx="1036955" cy="42100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Cruise</a:t>
            </a:r>
          </a:p>
        </p:txBody>
      </p:sp>
      <p:sp>
        <p:nvSpPr>
          <p:cNvPr id="55074420" name="Text Box 13"/>
          <p:cNvSpPr txBox="1"/>
          <p:nvPr/>
        </p:nvSpPr>
        <p:spPr bwMode="auto">
          <a:xfrm>
            <a:off x="4281170" y="5273040"/>
            <a:ext cx="1036955" cy="420370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Land</a:t>
            </a:r>
          </a:p>
        </p:txBody>
      </p:sp>
      <p:sp>
        <p:nvSpPr>
          <p:cNvPr id="590758501" name="Text Box 19"/>
          <p:cNvSpPr txBox="1"/>
          <p:nvPr/>
        </p:nvSpPr>
        <p:spPr bwMode="auto">
          <a:xfrm>
            <a:off x="6174740" y="5274310"/>
            <a:ext cx="1036955" cy="420370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Charge</a:t>
            </a:r>
          </a:p>
        </p:txBody>
      </p:sp>
      <p:sp>
        <p:nvSpPr>
          <p:cNvPr id="621145913" name="Text Box 20"/>
          <p:cNvSpPr txBox="1"/>
          <p:nvPr/>
        </p:nvSpPr>
        <p:spPr bwMode="auto">
          <a:xfrm>
            <a:off x="4484370" y="6235065"/>
            <a:ext cx="1468755" cy="412115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Ground Ops</a:t>
            </a:r>
          </a:p>
        </p:txBody>
      </p:sp>
      <p:sp>
        <p:nvSpPr>
          <p:cNvPr id="1746613658" name="Text Box 24"/>
          <p:cNvSpPr txBox="1"/>
          <p:nvPr/>
        </p:nvSpPr>
        <p:spPr bwMode="auto">
          <a:xfrm>
            <a:off x="1783080" y="6234430"/>
            <a:ext cx="1468755" cy="412750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1800">
                <a:solidFill>
                  <a:srgbClr val="3A3C3D"/>
                </a:solidFill>
              </a:rPr>
              <a:t>Next Flight</a:t>
            </a:r>
          </a:p>
        </p:txBody>
      </p:sp>
      <p:cxnSp>
        <p:nvCxnSpPr>
          <p:cNvPr id="1304830125" name="Straight Arrow Connector 26"/>
          <p:cNvCxnSpPr>
            <a:stCxn id="1208036145" idx="3"/>
            <a:endCxn id="55074420" idx="1"/>
          </p:cNvCxnSpPr>
          <p:nvPr/>
        </p:nvCxnSpPr>
        <p:spPr bwMode="auto">
          <a:xfrm flipV="1">
            <a:off x="3494405" y="5483225"/>
            <a:ext cx="78676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701984" name="Straight Arrow Connector 29"/>
          <p:cNvCxnSpPr>
            <a:stCxn id="55074420" idx="3"/>
            <a:endCxn id="590758501" idx="1"/>
          </p:cNvCxnSpPr>
          <p:nvPr/>
        </p:nvCxnSpPr>
        <p:spPr bwMode="auto">
          <a:xfrm>
            <a:off x="5318125" y="5483225"/>
            <a:ext cx="856615" cy="127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33352261" name="Straight Arrow Connector 30"/>
          <p:cNvCxnSpPr>
            <a:stCxn id="621145913" idx="1"/>
            <a:endCxn id="1746613658" idx="3"/>
          </p:cNvCxnSpPr>
          <p:nvPr/>
        </p:nvCxnSpPr>
        <p:spPr bwMode="auto">
          <a:xfrm flipH="1" flipV="1">
            <a:off x="3251835" y="6440805"/>
            <a:ext cx="1232535" cy="63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7770162" name="Elbow Connector 31"/>
          <p:cNvCxnSpPr>
            <a:stCxn id="590758501" idx="2"/>
            <a:endCxn id="621145913" idx="3"/>
          </p:cNvCxnSpPr>
          <p:nvPr/>
        </p:nvCxnSpPr>
        <p:spPr bwMode="auto">
          <a:xfrm rot="5400000">
            <a:off x="5949950" y="5697855"/>
            <a:ext cx="746760" cy="740410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4118083" name="Elbow Connector 36"/>
          <p:cNvCxnSpPr>
            <a:stCxn id="1746613658" idx="1"/>
            <a:endCxn id="1081080661" idx="2"/>
          </p:cNvCxnSpPr>
          <p:nvPr/>
        </p:nvCxnSpPr>
        <p:spPr bwMode="auto">
          <a:xfrm rot="10800000">
            <a:off x="1140460" y="5694680"/>
            <a:ext cx="642620" cy="746125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3265860" name="Straight Connector 37"/>
          <p:cNvCxnSpPr/>
          <p:nvPr/>
        </p:nvCxnSpPr>
        <p:spPr bwMode="auto">
          <a:xfrm>
            <a:off x="1212215" y="3641725"/>
            <a:ext cx="0" cy="42862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8625618" name="Straight Connector 38"/>
          <p:cNvCxnSpPr/>
          <p:nvPr/>
        </p:nvCxnSpPr>
        <p:spPr bwMode="auto">
          <a:xfrm>
            <a:off x="1417955" y="3394075"/>
            <a:ext cx="35687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9829317" name="Straight Connector 39"/>
          <p:cNvCxnSpPr/>
          <p:nvPr/>
        </p:nvCxnSpPr>
        <p:spPr bwMode="auto">
          <a:xfrm flipV="1">
            <a:off x="1767840" y="2918460"/>
            <a:ext cx="218440" cy="47942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6844141" name="Straight Connector 40"/>
          <p:cNvCxnSpPr/>
          <p:nvPr/>
        </p:nvCxnSpPr>
        <p:spPr bwMode="auto">
          <a:xfrm>
            <a:off x="1967230" y="2930525"/>
            <a:ext cx="1806575" cy="317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7120195" name="Straight Connector 41"/>
          <p:cNvCxnSpPr/>
          <p:nvPr/>
        </p:nvCxnSpPr>
        <p:spPr bwMode="auto">
          <a:xfrm flipV="1">
            <a:off x="1209675" y="3394075"/>
            <a:ext cx="219710" cy="26162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9126119" name="Straight Connector 48"/>
          <p:cNvCxnSpPr/>
          <p:nvPr/>
        </p:nvCxnSpPr>
        <p:spPr bwMode="auto">
          <a:xfrm>
            <a:off x="4501515" y="3655695"/>
            <a:ext cx="0" cy="39624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4556034" name="Straight Connector 49"/>
          <p:cNvCxnSpPr/>
          <p:nvPr/>
        </p:nvCxnSpPr>
        <p:spPr bwMode="auto">
          <a:xfrm flipH="1" flipV="1">
            <a:off x="4278630" y="3401695"/>
            <a:ext cx="227965" cy="27051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2159470" name="Straight Connector 50"/>
          <p:cNvCxnSpPr/>
          <p:nvPr/>
        </p:nvCxnSpPr>
        <p:spPr bwMode="auto">
          <a:xfrm>
            <a:off x="3926205" y="3395345"/>
            <a:ext cx="35687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36157791" name="Straight Connector 51"/>
          <p:cNvCxnSpPr/>
          <p:nvPr/>
        </p:nvCxnSpPr>
        <p:spPr bwMode="auto">
          <a:xfrm flipH="1" flipV="1">
            <a:off x="3768090" y="2929890"/>
            <a:ext cx="169545" cy="471805"/>
          </a:xfrm>
          <a:prstGeom prst="line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3762856" name="Rounded Rectangle 55"/>
          <p:cNvSpPr/>
          <p:nvPr/>
        </p:nvSpPr>
        <p:spPr bwMode="auto">
          <a:xfrm>
            <a:off x="101600" y="3559810"/>
            <a:ext cx="945515" cy="5708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Hover Climb</a:t>
            </a:r>
          </a:p>
        </p:txBody>
      </p:sp>
      <p:sp>
        <p:nvSpPr>
          <p:cNvPr id="827205529" name="Rounded Rectangle 57"/>
          <p:cNvSpPr/>
          <p:nvPr/>
        </p:nvSpPr>
        <p:spPr bwMode="auto">
          <a:xfrm>
            <a:off x="102235" y="2406015"/>
            <a:ext cx="949325" cy="5651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Accel. Climb</a:t>
            </a:r>
          </a:p>
        </p:txBody>
      </p:sp>
      <p:sp>
        <p:nvSpPr>
          <p:cNvPr id="1267686299" name="Rounded Rectangle 58"/>
          <p:cNvSpPr/>
          <p:nvPr/>
        </p:nvSpPr>
        <p:spPr bwMode="auto">
          <a:xfrm>
            <a:off x="2366645" y="1983105"/>
            <a:ext cx="1008380" cy="4749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Cruise</a:t>
            </a:r>
          </a:p>
        </p:txBody>
      </p:sp>
      <p:sp>
        <p:nvSpPr>
          <p:cNvPr id="1921328695" name="Rounded Rectangle 59"/>
          <p:cNvSpPr/>
          <p:nvPr/>
        </p:nvSpPr>
        <p:spPr bwMode="auto">
          <a:xfrm>
            <a:off x="4702175" y="2406650"/>
            <a:ext cx="1016635" cy="5638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Decel. Descend</a:t>
            </a:r>
          </a:p>
        </p:txBody>
      </p:sp>
      <p:sp>
        <p:nvSpPr>
          <p:cNvPr id="242114507" name="Rounded Rectangle 63"/>
          <p:cNvSpPr/>
          <p:nvPr/>
        </p:nvSpPr>
        <p:spPr bwMode="auto">
          <a:xfrm>
            <a:off x="4701540" y="3560445"/>
            <a:ext cx="1016635" cy="57086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500">
                <a:solidFill>
                  <a:schemeClr val="tx1"/>
                </a:solidFill>
              </a:rPr>
              <a:t>Hover Descend</a:t>
            </a:r>
          </a:p>
        </p:txBody>
      </p:sp>
      <p:cxnSp>
        <p:nvCxnSpPr>
          <p:cNvPr id="1400972936" name="Straight Arrow Connector 65"/>
          <p:cNvCxnSpPr>
            <a:stCxn id="1267686299" idx="2"/>
          </p:cNvCxnSpPr>
          <p:nvPr/>
        </p:nvCxnSpPr>
        <p:spPr bwMode="auto">
          <a:xfrm flipH="1">
            <a:off x="2865755" y="2458085"/>
            <a:ext cx="5080" cy="44069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5101721" name="Straight Arrow Connector 66"/>
          <p:cNvCxnSpPr>
            <a:stCxn id="343762856" idx="3"/>
          </p:cNvCxnSpPr>
          <p:nvPr/>
        </p:nvCxnSpPr>
        <p:spPr bwMode="auto">
          <a:xfrm>
            <a:off x="1047115" y="3845560"/>
            <a:ext cx="143510" cy="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3077819" name="Straight Arrow Connector 67"/>
          <p:cNvCxnSpPr>
            <a:stCxn id="242114507" idx="1"/>
          </p:cNvCxnSpPr>
          <p:nvPr/>
        </p:nvCxnSpPr>
        <p:spPr bwMode="auto">
          <a:xfrm flipH="1">
            <a:off x="4520565" y="3846195"/>
            <a:ext cx="180975" cy="0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5653028" name="Group 76"/>
          <p:cNvGrpSpPr/>
          <p:nvPr/>
        </p:nvGrpSpPr>
        <p:grpSpPr bwMode="auto">
          <a:xfrm>
            <a:off x="1052195" y="2640965"/>
            <a:ext cx="811530" cy="538480"/>
            <a:chOff x="1671" y="5839"/>
            <a:chExt cx="1277" cy="848"/>
          </a:xfrm>
        </p:grpSpPr>
        <p:cxnSp>
          <p:nvCxnSpPr>
            <p:cNvPr id="74" name="Straight Connector 73"/>
            <p:cNvCxnSpPr/>
            <p:nvPr/>
          </p:nvCxnSpPr>
          <p:spPr bwMode="auto">
            <a:xfrm>
              <a:off x="1671" y="5841"/>
              <a:ext cx="569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 bwMode="auto">
            <a:xfrm>
              <a:off x="2235" y="5839"/>
              <a:ext cx="715" cy="84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85047171" name="Group 79"/>
          <p:cNvGrpSpPr/>
          <p:nvPr/>
        </p:nvGrpSpPr>
        <p:grpSpPr bwMode="auto">
          <a:xfrm flipH="1">
            <a:off x="3867150" y="2640965"/>
            <a:ext cx="835025" cy="538480"/>
            <a:chOff x="1671" y="5839"/>
            <a:chExt cx="1277" cy="848"/>
          </a:xfrm>
        </p:grpSpPr>
        <p:cxnSp>
          <p:nvCxnSpPr>
            <p:cNvPr id="81" name="Straight Connector 80"/>
            <p:cNvCxnSpPr/>
            <p:nvPr/>
          </p:nvCxnSpPr>
          <p:spPr bwMode="auto">
            <a:xfrm>
              <a:off x="1671" y="5841"/>
              <a:ext cx="569" cy="0"/>
            </a:xfrm>
            <a:prstGeom prst="line">
              <a:avLst/>
            </a:prstGeom>
            <a:ln w="127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 bwMode="auto">
            <a:xfrm>
              <a:off x="2235" y="5839"/>
              <a:ext cx="715" cy="84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842257895" name="Straight Connector 43"/>
          <p:cNvCxnSpPr/>
          <p:nvPr/>
        </p:nvCxnSpPr>
        <p:spPr bwMode="auto">
          <a:xfrm>
            <a:off x="1212215" y="4322445"/>
            <a:ext cx="0" cy="533400"/>
          </a:xfrm>
          <a:prstGeom prst="line">
            <a:avLst/>
          </a:prstGeom>
          <a:ln w="1270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6848375" name="Straight Connector 44"/>
          <p:cNvCxnSpPr/>
          <p:nvPr/>
        </p:nvCxnSpPr>
        <p:spPr bwMode="auto">
          <a:xfrm>
            <a:off x="4501515" y="4322445"/>
            <a:ext cx="0" cy="520700"/>
          </a:xfrm>
          <a:prstGeom prst="line">
            <a:avLst/>
          </a:prstGeom>
          <a:ln w="1270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0078658" name="Straight Arrow Connector 45"/>
          <p:cNvCxnSpPr/>
          <p:nvPr/>
        </p:nvCxnSpPr>
        <p:spPr bwMode="auto">
          <a:xfrm>
            <a:off x="1241425" y="4733925"/>
            <a:ext cx="3230880" cy="0"/>
          </a:xfrm>
          <a:prstGeom prst="straightConnector1">
            <a:avLst/>
          </a:prstGeom>
          <a:ln>
            <a:solidFill>
              <a:schemeClr val="accent5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5670598" name="Text Box 46"/>
          <p:cNvSpPr txBox="1"/>
          <p:nvPr/>
        </p:nvSpPr>
        <p:spPr bwMode="auto">
          <a:xfrm>
            <a:off x="1819909" y="4371340"/>
            <a:ext cx="205041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2000">
                <a:solidFill>
                  <a:srgbClr val="3A3C3D"/>
                </a:solidFill>
              </a:rPr>
              <a:t>~ </a:t>
            </a:r>
            <a:r>
              <a:rPr lang="en-US" sz="2000">
                <a:solidFill>
                  <a:srgbClr val="3A3C3D"/>
                </a:solidFill>
              </a:rPr>
              <a:t>20-50 mile</a:t>
            </a:r>
            <a:r>
              <a:rPr lang="vi-VN" sz="2000">
                <a:solidFill>
                  <a:srgbClr val="3A3C3D"/>
                </a:solidFill>
              </a:rPr>
              <a:t>s</a:t>
            </a:r>
          </a:p>
        </p:txBody>
      </p:sp>
      <p:sp>
        <p:nvSpPr>
          <p:cNvPr id="158830769" name="Text Box 60"/>
          <p:cNvSpPr txBox="1"/>
          <p:nvPr/>
        </p:nvSpPr>
        <p:spPr bwMode="auto">
          <a:xfrm>
            <a:off x="6507480" y="2033010"/>
            <a:ext cx="1724025" cy="107696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000">
                <a:solidFill>
                  <a:srgbClr val="3A3C3D"/>
                </a:solidFill>
              </a:rPr>
              <a:t>Charging</a:t>
            </a:r>
            <a:r>
              <a:rPr lang="vi-VN" sz="2000">
                <a:solidFill>
                  <a:srgbClr val="3A3C3D"/>
                </a:solidFill>
              </a:rPr>
              <a:t> </a:t>
            </a:r>
            <a:r>
              <a:rPr lang="en-US" sz="2000">
                <a:solidFill>
                  <a:srgbClr val="3A3C3D"/>
                </a:solidFill>
              </a:rPr>
              <a:t>Infrastructure</a:t>
            </a:r>
          </a:p>
        </p:txBody>
      </p:sp>
      <p:sp>
        <p:nvSpPr>
          <p:cNvPr id="336544572" name="Text Box 61"/>
          <p:cNvSpPr txBox="1"/>
          <p:nvPr/>
        </p:nvSpPr>
        <p:spPr bwMode="auto">
          <a:xfrm>
            <a:off x="9166859" y="2297053"/>
            <a:ext cx="3095625" cy="90741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lvl="0" algn="ctr">
              <a:lnSpc>
                <a:spcPct val="130000"/>
              </a:lnSpc>
              <a:buSzTx/>
              <a:defRPr/>
            </a:pPr>
            <a:r>
              <a:rPr lang="en-US" sz="2000" i="1" dirty="0">
                <a:solidFill>
                  <a:srgbClr val="1C140C"/>
                </a:solidFill>
              </a:rPr>
              <a:t>Operational Cadence </a:t>
            </a:r>
            <a:br>
              <a:rPr lang="en-US" sz="2000" i="1" dirty="0">
                <a:solidFill>
                  <a:srgbClr val="1C140C"/>
                </a:solidFill>
              </a:rPr>
            </a:br>
            <a:r>
              <a:rPr lang="en-US" sz="2000" i="1" dirty="0">
                <a:solidFill>
                  <a:srgbClr val="1C140C"/>
                </a:solidFill>
              </a:rPr>
              <a:t>&amp; Economics</a:t>
            </a:r>
          </a:p>
        </p:txBody>
      </p:sp>
      <p:pic>
        <p:nvPicPr>
          <p:cNvPr id="1776033746" name="Picture 69" descr="Gemini_Generated_Image_w0147kw0147kw014"/>
          <p:cNvPicPr>
            <a:picLocks noChangeAspect="1"/>
          </p:cNvPicPr>
          <p:nvPr/>
        </p:nvPicPr>
        <p:blipFill rotWithShape="1">
          <a:blip r:embed="rId4"/>
          <a:srcRect t="21229" b="19586"/>
          <a:stretch/>
        </p:blipFill>
        <p:spPr bwMode="auto">
          <a:xfrm>
            <a:off x="6983095" y="1335145"/>
            <a:ext cx="1040765" cy="615950"/>
          </a:xfrm>
          <a:prstGeom prst="rect">
            <a:avLst/>
          </a:prstGeom>
        </p:spPr>
      </p:pic>
      <p:pic>
        <p:nvPicPr>
          <p:cNvPr id="1984487961" name="Picture 70" descr="Gemini_Generated_Image_80nsrb80nsrb80ns"/>
          <p:cNvPicPr>
            <a:picLocks noChangeAspect="1"/>
          </p:cNvPicPr>
          <p:nvPr/>
        </p:nvPicPr>
        <p:blipFill rotWithShape="1">
          <a:blip r:embed="rId5"/>
          <a:srcRect t="23773" b="25289"/>
          <a:stretch/>
        </p:blipFill>
        <p:spPr bwMode="auto">
          <a:xfrm>
            <a:off x="10130153" y="1700788"/>
            <a:ext cx="1169035" cy="596265"/>
          </a:xfrm>
          <a:prstGeom prst="rect">
            <a:avLst/>
          </a:prstGeom>
        </p:spPr>
      </p:pic>
      <p:sp>
        <p:nvSpPr>
          <p:cNvPr id="1598580069" name="Text Box 78"/>
          <p:cNvSpPr txBox="1"/>
          <p:nvPr/>
        </p:nvSpPr>
        <p:spPr bwMode="auto">
          <a:xfrm>
            <a:off x="5913120" y="3282690"/>
            <a:ext cx="2912110" cy="888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sz="2000" i="1" dirty="0"/>
              <a:t>Vertiports</a:t>
            </a:r>
            <a:r>
              <a:rPr lang="vi-VN" sz="2000" i="1" dirty="0"/>
              <a:t> </a:t>
            </a:r>
            <a:br>
              <a:rPr lang="vi-VN" sz="2000" i="1" dirty="0"/>
            </a:br>
            <a:r>
              <a:rPr lang="vi-VN" sz="2000" i="1" dirty="0"/>
              <a:t>+ </a:t>
            </a:r>
            <a:r>
              <a:rPr lang="en-US" sz="2000" i="1" dirty="0"/>
              <a:t>high-power charging</a:t>
            </a:r>
          </a:p>
        </p:txBody>
      </p:sp>
      <p:pic>
        <p:nvPicPr>
          <p:cNvPr id="1974977489" name="Picture 85" descr="takeoff_zone"/>
          <p:cNvPicPr>
            <a:picLocks noChangeAspect="1"/>
          </p:cNvPicPr>
          <p:nvPr/>
        </p:nvPicPr>
        <p:blipFill rotWithShape="1">
          <a:blip r:embed="rId6"/>
          <a:srcRect r="82925" b="73759"/>
          <a:stretch/>
        </p:blipFill>
        <p:spPr bwMode="auto">
          <a:xfrm>
            <a:off x="6805295" y="1278630"/>
            <a:ext cx="393700" cy="407035"/>
          </a:xfrm>
          <a:prstGeom prst="rect">
            <a:avLst/>
          </a:prstGeom>
        </p:spPr>
      </p:pic>
      <p:sp>
        <p:nvSpPr>
          <p:cNvPr id="1059656788" name="Text"/>
          <p:cNvSpPr>
            <a:spLocks noGrp="1"/>
          </p:cNvSpPr>
          <p:nvPr/>
        </p:nvSpPr>
        <p:spPr bwMode="auto">
          <a:xfrm>
            <a:off x="7800339" y="5412105"/>
            <a:ext cx="4165600" cy="10293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3A3C3D"/>
                </a:solidFill>
              </a:rPr>
              <a:t>ABUs aim to address these operational bottlenecks</a:t>
            </a:r>
            <a:endParaRPr lang="en-US" sz="2400">
              <a:solidFill>
                <a:srgbClr val="3A3C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0867562" name="Left Brace 54"/>
          <p:cNvSpPr/>
          <p:nvPr/>
        </p:nvSpPr>
        <p:spPr bwMode="auto">
          <a:xfrm rot="10800000">
            <a:off x="8959214" y="1211578"/>
            <a:ext cx="334645" cy="3085465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20956170" name="Straight Arrow Connector 4"/>
          <p:cNvCxnSpPr/>
          <p:nvPr/>
        </p:nvCxnSpPr>
        <p:spPr bwMode="auto">
          <a:xfrm flipV="1">
            <a:off x="1670685" y="5484495"/>
            <a:ext cx="78676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9918448" name="Rounded Rectangle 3"/>
          <p:cNvSpPr/>
          <p:nvPr/>
        </p:nvSpPr>
        <p:spPr bwMode="auto">
          <a:xfrm>
            <a:off x="228600" y="5034280"/>
            <a:ext cx="7300595" cy="174180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13388695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F0593B50-11CE-D60D-FFB6-244D050EDCD2}"/>
              </a:ext>
            </a:extLst>
          </p:cNvPr>
          <p:cNvSpPr txBox="1"/>
          <p:nvPr/>
        </p:nvSpPr>
        <p:spPr bwMode="auto">
          <a:xfrm>
            <a:off x="113030" y="885190"/>
            <a:ext cx="6260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b="1" i="1" dirty="0"/>
              <a:t>Source:</a:t>
            </a:r>
            <a:r>
              <a:rPr lang="en-US" i="1" dirty="0"/>
              <a:t> </a:t>
            </a:r>
            <a:r>
              <a:rPr lang="vi-VN" i="1" dirty="0"/>
              <a:t>FAA’s UAM </a:t>
            </a:r>
            <a:r>
              <a:rPr lang="en-US" i="1" dirty="0"/>
              <a:t>Concept of Operations</a:t>
            </a:r>
            <a:r>
              <a:rPr lang="vi-VN" i="1" dirty="0"/>
              <a:t> &amp; U</a:t>
            </a:r>
            <a:r>
              <a:rPr lang="en-US" i="1" dirty="0" err="1"/>
              <a:t>ber</a:t>
            </a:r>
            <a:r>
              <a:rPr lang="en-US" i="1" dirty="0"/>
              <a:t> Elevate</a:t>
            </a:r>
            <a:r>
              <a:rPr lang="vi-VN" i="1" dirty="0"/>
              <a:t>’s Mission Profile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86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54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48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9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65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080661" grpId="0" bldLvl="0" animBg="1"/>
      <p:bldP spid="1081080661" grpId="1" animBg="1"/>
      <p:bldP spid="1208036145" grpId="0" bldLvl="0" animBg="1"/>
      <p:bldP spid="1208036145" grpId="1" animBg="1"/>
      <p:bldP spid="55074420" grpId="0" bldLvl="0" animBg="1"/>
      <p:bldP spid="55074420" grpId="1" animBg="1"/>
      <p:bldP spid="590758501" grpId="0" bldLvl="0" animBg="1"/>
      <p:bldP spid="590758501" grpId="1" animBg="1"/>
      <p:bldP spid="621145913" grpId="0" bldLvl="0" animBg="1"/>
      <p:bldP spid="621145913" grpId="1" animBg="1"/>
      <p:bldP spid="1746613658" grpId="0" bldLvl="0" animBg="1"/>
      <p:bldP spid="1746613658" grpId="1" animBg="1"/>
      <p:bldP spid="343762856" grpId="0" bldLvl="0" animBg="1"/>
      <p:bldP spid="343762856" grpId="1" animBg="1"/>
      <p:bldP spid="827205529" grpId="0" bldLvl="0" animBg="1"/>
      <p:bldP spid="827205529" grpId="1" animBg="1"/>
      <p:bldP spid="1267686299" grpId="0" bldLvl="0" animBg="1"/>
      <p:bldP spid="1267686299" grpId="1" animBg="1"/>
      <p:bldP spid="1921328695" grpId="0" bldLvl="0" animBg="1"/>
      <p:bldP spid="1921328695" grpId="1" animBg="1"/>
      <p:bldP spid="242114507" grpId="0" bldLvl="0" animBg="1"/>
      <p:bldP spid="242114507" grpId="1" animBg="1"/>
      <p:bldP spid="1995670598" grpId="0"/>
      <p:bldP spid="1995670598" grpId="1"/>
      <p:bldP spid="158830769" grpId="0" bldLvl="0" animBg="1"/>
      <p:bldP spid="158830769" grpId="1" animBg="1"/>
      <p:bldP spid="336544572" grpId="1"/>
      <p:bldP spid="336544572" grpId="2"/>
      <p:bldP spid="1598580069" grpId="0"/>
      <p:bldP spid="1598580069" grpId="1"/>
      <p:bldP spid="1059656788" grpId="1" animBg="1"/>
      <p:bldP spid="1059656788" grpId="2" animBg="1"/>
      <p:bldP spid="2010867562" grpId="1" animBg="1"/>
      <p:bldP spid="2010867562" grpId="2" animBg="1"/>
      <p:bldP spid="1879918448" grpId="1" animBg="1"/>
      <p:bldP spid="1879918448" grpId="2" animBg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798438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978811580" name="Picture 5"/>
          <p:cNvPicPr>
            <a:picLocks noChangeAspect="1"/>
          </p:cNvPicPr>
          <p:nvPr/>
        </p:nvPicPr>
        <p:blipFill rotWithShape="1">
          <a:blip r:embed="rId3"/>
          <a:srcRect t="4056"/>
          <a:stretch/>
        </p:blipFill>
        <p:spPr bwMode="auto">
          <a:xfrm>
            <a:off x="495300" y="2442845"/>
            <a:ext cx="6623049" cy="4018915"/>
          </a:xfrm>
          <a:prstGeom prst="rect">
            <a:avLst/>
          </a:prstGeom>
        </p:spPr>
      </p:pic>
      <p:sp>
        <p:nvSpPr>
          <p:cNvPr id="1674727638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Why Autonomous Battery Units (ABUs)?</a:t>
            </a:r>
          </a:p>
        </p:txBody>
      </p:sp>
      <p:sp>
        <p:nvSpPr>
          <p:cNvPr id="1775704064" name="Oval 11"/>
          <p:cNvSpPr/>
          <p:nvPr/>
        </p:nvSpPr>
        <p:spPr bwMode="auto">
          <a:xfrm>
            <a:off x="886460" y="2756535"/>
            <a:ext cx="923925" cy="3286759"/>
          </a:xfrm>
          <a:prstGeom prst="ellipse">
            <a:avLst/>
          </a:prstGeom>
          <a:noFill/>
          <a:ln w="15875" cap="rnd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14690318" name="Rounded Rectangle 12"/>
          <p:cNvSpPr/>
          <p:nvPr/>
        </p:nvSpPr>
        <p:spPr bwMode="auto">
          <a:xfrm>
            <a:off x="300990" y="2261235"/>
            <a:ext cx="2208530" cy="4197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2000">
                <a:solidFill>
                  <a:schemeClr val="tx1"/>
                </a:solidFill>
              </a:rPr>
              <a:t>Takeoff + Climb</a:t>
            </a:r>
          </a:p>
        </p:txBody>
      </p:sp>
      <p:sp>
        <p:nvSpPr>
          <p:cNvPr id="721797864" name="Oval 8"/>
          <p:cNvSpPr/>
          <p:nvPr/>
        </p:nvSpPr>
        <p:spPr bwMode="auto">
          <a:xfrm rot="5400000">
            <a:off x="3815714" y="3401695"/>
            <a:ext cx="462280" cy="3044825"/>
          </a:xfrm>
          <a:prstGeom prst="ellipse">
            <a:avLst/>
          </a:prstGeom>
          <a:noFill/>
          <a:ln w="15875" cap="rnd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40800145" name="Rounded Rectangle 10"/>
          <p:cNvSpPr/>
          <p:nvPr/>
        </p:nvSpPr>
        <p:spPr bwMode="auto">
          <a:xfrm>
            <a:off x="3442970" y="3786505"/>
            <a:ext cx="1333500" cy="4197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2000">
                <a:solidFill>
                  <a:schemeClr val="tx1"/>
                </a:solidFill>
              </a:rPr>
              <a:t>Cruise</a:t>
            </a:r>
          </a:p>
        </p:txBody>
      </p:sp>
      <p:grpSp>
        <p:nvGrpSpPr>
          <p:cNvPr id="1289135536" name="Group 18"/>
          <p:cNvGrpSpPr/>
          <p:nvPr/>
        </p:nvGrpSpPr>
        <p:grpSpPr bwMode="auto">
          <a:xfrm rot="1080000">
            <a:off x="1263650" y="2395220"/>
            <a:ext cx="906780" cy="969010"/>
            <a:chOff x="1782" y="2982"/>
            <a:chExt cx="1664" cy="1778"/>
          </a:xfrm>
        </p:grpSpPr>
        <p:sp>
          <p:nvSpPr>
            <p:cNvPr id="16" name="Arc 15"/>
            <p:cNvSpPr/>
            <p:nvPr/>
          </p:nvSpPr>
          <p:spPr bwMode="auto">
            <a:xfrm rot="3419999">
              <a:off x="1758" y="3006"/>
              <a:ext cx="1711" cy="1664"/>
            </a:xfrm>
            <a:prstGeom prst="arc">
              <a:avLst>
                <a:gd name="adj1" fmla="val 16200000"/>
                <a:gd name="adj2" fmla="val 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/>
          </p:nvSpPr>
          <p:spPr bwMode="auto">
            <a:xfrm rot="13980000">
              <a:off x="2864" y="4487"/>
              <a:ext cx="284" cy="263"/>
            </a:xfrm>
            <a:prstGeom prst="triangle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909957843" name="Oval 22"/>
          <p:cNvSpPr/>
          <p:nvPr/>
        </p:nvSpPr>
        <p:spPr bwMode="auto">
          <a:xfrm>
            <a:off x="6336030" y="2950209"/>
            <a:ext cx="863599" cy="3042920"/>
          </a:xfrm>
          <a:prstGeom prst="ellipse">
            <a:avLst/>
          </a:prstGeom>
          <a:noFill/>
          <a:ln w="15875" cap="rnd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35285369" name="Rectangles 25"/>
          <p:cNvSpPr/>
          <p:nvPr/>
        </p:nvSpPr>
        <p:spPr bwMode="auto">
          <a:xfrm>
            <a:off x="345440" y="3954780"/>
            <a:ext cx="2006600" cy="7658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  <a:defRPr/>
            </a:pPr>
            <a:r>
              <a:rPr lang="vi-VN" sz="2200">
                <a:solidFill>
                  <a:srgbClr val="3A3C3D"/>
                </a:solidFill>
                <a:latin typeface="Arial"/>
                <a:ea typeface="Arial"/>
                <a:cs typeface="Arial"/>
              </a:rPr>
              <a:t>High power</a:t>
            </a:r>
            <a:endParaRPr lang="vi-VN" sz="2200">
              <a:solidFill>
                <a:schemeClr val="tx1"/>
              </a:solidFill>
            </a:endParaRPr>
          </a:p>
        </p:txBody>
      </p:sp>
      <p:sp>
        <p:nvSpPr>
          <p:cNvPr id="2057527293" name="Rectangles 28"/>
          <p:cNvSpPr/>
          <p:nvPr/>
        </p:nvSpPr>
        <p:spPr bwMode="auto">
          <a:xfrm>
            <a:off x="3072765" y="5120640"/>
            <a:ext cx="2006600" cy="7658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  <a:defRPr/>
            </a:pPr>
            <a:r>
              <a:rPr lang="vi-VN" sz="2200">
                <a:solidFill>
                  <a:srgbClr val="3A3C3D"/>
                </a:solidFill>
                <a:latin typeface="Arial"/>
                <a:ea typeface="Arial"/>
                <a:cs typeface="Arial"/>
              </a:rPr>
              <a:t>High energy</a:t>
            </a:r>
          </a:p>
        </p:txBody>
      </p:sp>
      <p:sp>
        <p:nvSpPr>
          <p:cNvPr id="1511841221" name="Rectangles 29"/>
          <p:cNvSpPr/>
          <p:nvPr/>
        </p:nvSpPr>
        <p:spPr bwMode="auto">
          <a:xfrm>
            <a:off x="5767070" y="3980815"/>
            <a:ext cx="2006600" cy="76581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SzTx/>
              <a:defRPr/>
            </a:pPr>
            <a:r>
              <a:rPr lang="vi-VN" sz="2200">
                <a:solidFill>
                  <a:srgbClr val="3A3C3D"/>
                </a:solidFill>
                <a:latin typeface="Arial"/>
                <a:ea typeface="Arial"/>
                <a:cs typeface="Arial"/>
              </a:rPr>
              <a:t>Safety-critical</a:t>
            </a:r>
          </a:p>
        </p:txBody>
      </p:sp>
      <p:sp>
        <p:nvSpPr>
          <p:cNvPr id="901725310" name="Rounded Rectangle 26"/>
          <p:cNvSpPr/>
          <p:nvPr/>
        </p:nvSpPr>
        <p:spPr bwMode="auto">
          <a:xfrm>
            <a:off x="4702175" y="2800985"/>
            <a:ext cx="1661795" cy="4197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2000">
                <a:solidFill>
                  <a:schemeClr val="tx1"/>
                </a:solidFill>
              </a:rPr>
              <a:t>Landing</a:t>
            </a:r>
          </a:p>
        </p:txBody>
      </p:sp>
      <p:grpSp>
        <p:nvGrpSpPr>
          <p:cNvPr id="458323966" name="Group 30"/>
          <p:cNvGrpSpPr/>
          <p:nvPr/>
        </p:nvGrpSpPr>
        <p:grpSpPr bwMode="auto">
          <a:xfrm rot="19499999" flipH="1">
            <a:off x="5598795" y="2741295"/>
            <a:ext cx="998855" cy="1129030"/>
            <a:chOff x="1782" y="2982"/>
            <a:chExt cx="1664" cy="1778"/>
          </a:xfrm>
        </p:grpSpPr>
        <p:sp>
          <p:nvSpPr>
            <p:cNvPr id="32" name="Arc 31"/>
            <p:cNvSpPr/>
            <p:nvPr/>
          </p:nvSpPr>
          <p:spPr bwMode="auto">
            <a:xfrm rot="3419999">
              <a:off x="1758" y="3006"/>
              <a:ext cx="1711" cy="1664"/>
            </a:xfrm>
            <a:prstGeom prst="arc">
              <a:avLst>
                <a:gd name="adj1" fmla="val 16200000"/>
                <a:gd name="adj2" fmla="val 0"/>
              </a:avLst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Isosceles Triangle 32"/>
            <p:cNvSpPr/>
            <p:nvPr/>
          </p:nvSpPr>
          <p:spPr bwMode="auto">
            <a:xfrm rot="13980000">
              <a:off x="2864" y="4487"/>
              <a:ext cx="284" cy="263"/>
            </a:xfrm>
            <a:prstGeom prst="triangle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208723247" name="Rectangles 9"/>
          <p:cNvSpPr/>
          <p:nvPr/>
        </p:nvSpPr>
        <p:spPr bwMode="auto">
          <a:xfrm>
            <a:off x="8103870" y="4965518"/>
            <a:ext cx="3839210" cy="13366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2">
                <a:lumMod val="10000"/>
              </a:schemeClr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50000"/>
              </a:lnSpc>
              <a:spcAft>
                <a:spcPts val="0"/>
              </a:spcAft>
              <a:buSzPts val="3000"/>
              <a:buFont typeface="Arial"/>
              <a:defRPr/>
            </a:pPr>
            <a:r>
              <a:rPr lang="en-US" sz="2400" dirty="0">
                <a:solidFill>
                  <a:srgbClr val="3A3C3D"/>
                </a:solidFill>
              </a:rPr>
              <a:t>ABUs </a:t>
            </a:r>
            <a:r>
              <a:rPr lang="en-US" sz="2400" b="1" dirty="0">
                <a:solidFill>
                  <a:srgbClr val="3A3C3D"/>
                </a:solidFill>
              </a:rPr>
              <a:t>decouple </a:t>
            </a:r>
            <a:r>
              <a:rPr lang="en-US" sz="2400" dirty="0">
                <a:solidFill>
                  <a:srgbClr val="3A3C3D"/>
                </a:solidFill>
              </a:rPr>
              <a:t>mission energy</a:t>
            </a:r>
            <a:r>
              <a:rPr lang="vi-VN" sz="2400" dirty="0">
                <a:solidFill>
                  <a:srgbClr val="3A3C3D"/>
                </a:solidFill>
              </a:rPr>
              <a:t>, </a:t>
            </a:r>
            <a:r>
              <a:rPr lang="en-US" sz="2400" dirty="0">
                <a:solidFill>
                  <a:srgbClr val="3A3C3D"/>
                </a:solidFill>
              </a:rPr>
              <a:t>mass, and time</a:t>
            </a:r>
          </a:p>
        </p:txBody>
      </p:sp>
      <p:grpSp>
        <p:nvGrpSpPr>
          <p:cNvPr id="9326751" name="Group 1"/>
          <p:cNvGrpSpPr/>
          <p:nvPr/>
        </p:nvGrpSpPr>
        <p:grpSpPr bwMode="auto">
          <a:xfrm>
            <a:off x="4020185" y="4216400"/>
            <a:ext cx="180340" cy="478155"/>
            <a:chOff x="6147" y="5704"/>
            <a:chExt cx="284" cy="753"/>
          </a:xfrm>
        </p:grpSpPr>
        <p:sp>
          <p:nvSpPr>
            <p:cNvPr id="22" name="Isosceles Triangle 21"/>
            <p:cNvSpPr/>
            <p:nvPr/>
          </p:nvSpPr>
          <p:spPr bwMode="auto">
            <a:xfrm rot="10800000">
              <a:off x="6147" y="6194"/>
              <a:ext cx="284" cy="263"/>
            </a:xfrm>
            <a:prstGeom prst="triangle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" name="Straight Connector 33"/>
            <p:cNvCxnSpPr>
              <a:stCxn id="840800145" idx="2"/>
              <a:endCxn id="22" idx="3"/>
            </p:cNvCxnSpPr>
            <p:nvPr/>
          </p:nvCxnSpPr>
          <p:spPr bwMode="auto">
            <a:xfrm>
              <a:off x="6288" y="5704"/>
              <a:ext cx="1" cy="4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094963140" name="Text Box 35"/>
          <p:cNvSpPr txBox="1"/>
          <p:nvPr/>
        </p:nvSpPr>
        <p:spPr bwMode="auto">
          <a:xfrm>
            <a:off x="220345" y="1245870"/>
            <a:ext cx="4878070" cy="499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defRPr/>
            </a:pPr>
            <a:r>
              <a:rPr lang="vi-VN" sz="2200"/>
              <a:t>Nominal eVTOL operational timeline</a:t>
            </a:r>
            <a:r>
              <a:rPr lang="en-US" sz="2200"/>
              <a:t>:</a:t>
            </a:r>
          </a:p>
        </p:txBody>
      </p:sp>
      <p:sp>
        <p:nvSpPr>
          <p:cNvPr id="642031866" name="Text Box 48"/>
          <p:cNvSpPr txBox="1"/>
          <p:nvPr/>
        </p:nvSpPr>
        <p:spPr bwMode="auto">
          <a:xfrm>
            <a:off x="9859010" y="931545"/>
            <a:ext cx="1415415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2000" i="1"/>
              <a:t>Charging</a:t>
            </a:r>
          </a:p>
        </p:txBody>
      </p:sp>
      <p:cxnSp>
        <p:nvCxnSpPr>
          <p:cNvPr id="1617868574" name="Elbow Connector 49"/>
          <p:cNvCxnSpPr>
            <a:stCxn id="642031866" idx="1"/>
          </p:cNvCxnSpPr>
          <p:nvPr/>
        </p:nvCxnSpPr>
        <p:spPr bwMode="auto">
          <a:xfrm rot="10800000" flipV="1">
            <a:off x="9671050" y="1136650"/>
            <a:ext cx="187325" cy="240030"/>
          </a:xfrm>
          <a:prstGeom prst="bentConnector2">
            <a:avLst/>
          </a:prstGeom>
          <a:ln>
            <a:solidFill>
              <a:schemeClr val="accent5">
                <a:lumMod val="1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7618460" name="Text Box 51"/>
          <p:cNvSpPr txBox="1"/>
          <p:nvPr/>
        </p:nvSpPr>
        <p:spPr bwMode="auto">
          <a:xfrm>
            <a:off x="6231481" y="1745614"/>
            <a:ext cx="255079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2000" i="1"/>
              <a:t>Ground Operations</a:t>
            </a:r>
          </a:p>
        </p:txBody>
      </p:sp>
      <p:cxnSp>
        <p:nvCxnSpPr>
          <p:cNvPr id="111005047" name="Elbow Connector 52"/>
          <p:cNvCxnSpPr>
            <a:endCxn id="847618460" idx="1"/>
          </p:cNvCxnSpPr>
          <p:nvPr/>
        </p:nvCxnSpPr>
        <p:spPr bwMode="auto">
          <a:xfrm rot="5400000" flipV="1">
            <a:off x="5889216" y="1612899"/>
            <a:ext cx="407670" cy="276225"/>
          </a:xfrm>
          <a:prstGeom prst="bentConnector2">
            <a:avLst/>
          </a:prstGeom>
          <a:ln>
            <a:solidFill>
              <a:schemeClr val="accent5">
                <a:lumMod val="10000"/>
              </a:schemeClr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6963643" name="Left Brace 54"/>
          <p:cNvSpPr/>
          <p:nvPr/>
        </p:nvSpPr>
        <p:spPr bwMode="auto">
          <a:xfrm rot="16199998">
            <a:off x="9947275" y="1203325"/>
            <a:ext cx="334645" cy="2374265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6064182" name="Text Box 55"/>
          <p:cNvSpPr txBox="1"/>
          <p:nvPr/>
        </p:nvSpPr>
        <p:spPr bwMode="auto">
          <a:xfrm>
            <a:off x="8986520" y="2681605"/>
            <a:ext cx="228790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2200" i="1">
                <a:solidFill>
                  <a:srgbClr val="C00000"/>
                </a:solidFill>
              </a:rPr>
              <a:t>Long idle time</a:t>
            </a:r>
          </a:p>
        </p:txBody>
      </p:sp>
      <p:sp>
        <p:nvSpPr>
          <p:cNvPr id="1376726040" name="Text Box 13"/>
          <p:cNvSpPr txBox="1"/>
          <p:nvPr/>
        </p:nvSpPr>
        <p:spPr bwMode="auto">
          <a:xfrm>
            <a:off x="7844790" y="3350260"/>
            <a:ext cx="434721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200">
                <a:solidFill>
                  <a:srgbClr val="3A3C3D"/>
                </a:solidFill>
              </a:rPr>
              <a:t>Different mission phases stress batteries in different ways</a:t>
            </a:r>
            <a:endParaRPr lang="vi-VN" sz="2200">
              <a:solidFill>
                <a:srgbClr val="3A3C3D"/>
              </a:solidFill>
            </a:endParaRPr>
          </a:p>
        </p:txBody>
      </p:sp>
      <p:cxnSp>
        <p:nvCxnSpPr>
          <p:cNvPr id="1436966421" name="Straight Arrow Connector 19"/>
          <p:cNvCxnSpPr/>
          <p:nvPr/>
        </p:nvCxnSpPr>
        <p:spPr bwMode="auto">
          <a:xfrm>
            <a:off x="10019029" y="4384493"/>
            <a:ext cx="4445" cy="489585"/>
          </a:xfrm>
          <a:prstGeom prst="straightConnector1">
            <a:avLst/>
          </a:prstGeom>
          <a:ln>
            <a:solidFill>
              <a:schemeClr val="accent5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39232369" name="Picture 68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4865370" y="940435"/>
            <a:ext cx="979170" cy="402590"/>
          </a:xfrm>
          <a:prstGeom prst="rect">
            <a:avLst/>
          </a:prstGeom>
        </p:spPr>
      </p:pic>
      <p:grpSp>
        <p:nvGrpSpPr>
          <p:cNvPr id="200418699" name="Group 58"/>
          <p:cNvGrpSpPr/>
          <p:nvPr/>
        </p:nvGrpSpPr>
        <p:grpSpPr bwMode="auto">
          <a:xfrm>
            <a:off x="5028565" y="1353185"/>
            <a:ext cx="6998970" cy="248285"/>
            <a:chOff x="7967" y="2083"/>
            <a:chExt cx="11022" cy="391"/>
          </a:xfrm>
        </p:grpSpPr>
        <p:grpSp>
          <p:nvGrpSpPr>
            <p:cNvPr id="21" name="Group 20"/>
            <p:cNvGrpSpPr/>
            <p:nvPr/>
          </p:nvGrpSpPr>
          <p:grpSpPr bwMode="auto">
            <a:xfrm>
              <a:off x="7967" y="2120"/>
              <a:ext cx="4997" cy="354"/>
              <a:chOff x="7967" y="2120"/>
              <a:chExt cx="4997" cy="354"/>
            </a:xfrm>
          </p:grpSpPr>
          <p:sp>
            <p:nvSpPr>
              <p:cNvPr id="35" name="Rectangles 34"/>
              <p:cNvSpPr/>
              <p:nvPr/>
            </p:nvSpPr>
            <p:spPr bwMode="auto">
              <a:xfrm>
                <a:off x="7967" y="2120"/>
                <a:ext cx="1029" cy="355"/>
              </a:xfrm>
              <a:prstGeom prst="rect">
                <a:avLst/>
              </a:prstGeom>
              <a:solidFill>
                <a:srgbClr val="396A9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8" name="Straight Connector 37"/>
              <p:cNvCxnSpPr/>
              <p:nvPr/>
            </p:nvCxnSpPr>
            <p:spPr bwMode="auto">
              <a:xfrm>
                <a:off x="9858" y="2274"/>
                <a:ext cx="224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auto">
              <a:xfrm>
                <a:off x="8996" y="2274"/>
                <a:ext cx="862" cy="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 bwMode="auto">
              <a:xfrm>
                <a:off x="12102" y="2274"/>
                <a:ext cx="862" cy="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/>
          </p:nvGrpSpPr>
          <p:grpSpPr bwMode="auto">
            <a:xfrm>
              <a:off x="12964" y="2083"/>
              <a:ext cx="4997" cy="354"/>
              <a:chOff x="7967" y="2120"/>
              <a:chExt cx="4997" cy="354"/>
            </a:xfrm>
          </p:grpSpPr>
          <p:sp>
            <p:nvSpPr>
              <p:cNvPr id="25" name="Rectangles 24"/>
              <p:cNvSpPr/>
              <p:nvPr/>
            </p:nvSpPr>
            <p:spPr bwMode="auto">
              <a:xfrm>
                <a:off x="7967" y="2120"/>
                <a:ext cx="1029" cy="355"/>
              </a:xfrm>
              <a:prstGeom prst="rect">
                <a:avLst/>
              </a:prstGeom>
              <a:solidFill>
                <a:srgbClr val="396A9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8" name="Straight Connector 27"/>
              <p:cNvCxnSpPr/>
              <p:nvPr/>
            </p:nvCxnSpPr>
            <p:spPr bwMode="auto">
              <a:xfrm>
                <a:off x="9858" y="2274"/>
                <a:ext cx="224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auto">
              <a:xfrm>
                <a:off x="8996" y="2274"/>
                <a:ext cx="862" cy="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 bwMode="auto">
              <a:xfrm>
                <a:off x="12102" y="2274"/>
                <a:ext cx="862" cy="0"/>
              </a:xfrm>
              <a:prstGeom prst="line">
                <a:avLst/>
              </a:prstGeom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51" name="Rectangles 50"/>
            <p:cNvSpPr/>
            <p:nvPr/>
          </p:nvSpPr>
          <p:spPr bwMode="auto">
            <a:xfrm>
              <a:off x="17961" y="2083"/>
              <a:ext cx="1029" cy="355"/>
            </a:xfrm>
            <a:prstGeom prst="rect">
              <a:avLst/>
            </a:prstGeom>
            <a:solidFill>
              <a:srgbClr val="396A9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213290613" name="Picture 53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8067675" y="939165"/>
            <a:ext cx="979170" cy="402590"/>
          </a:xfrm>
          <a:prstGeom prst="rect">
            <a:avLst/>
          </a:prstGeom>
        </p:spPr>
      </p:pic>
      <p:pic>
        <p:nvPicPr>
          <p:cNvPr id="263140070" name="Picture 56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11186160" y="929005"/>
            <a:ext cx="979170" cy="402590"/>
          </a:xfrm>
          <a:prstGeom prst="rect">
            <a:avLst/>
          </a:prstGeom>
        </p:spPr>
      </p:pic>
      <p:pic>
        <p:nvPicPr>
          <p:cNvPr id="585115560" name="Picture 69" descr="Gemini_Generated_Image_w0147kw0147kw014"/>
          <p:cNvPicPr>
            <a:picLocks noChangeAspect="1"/>
          </p:cNvPicPr>
          <p:nvPr/>
        </p:nvPicPr>
        <p:blipFill rotWithShape="1">
          <a:blip r:embed="rId5"/>
          <a:srcRect t="21229" b="19586"/>
          <a:stretch/>
        </p:blipFill>
        <p:spPr bwMode="auto">
          <a:xfrm>
            <a:off x="6888071" y="2148204"/>
            <a:ext cx="967740" cy="573405"/>
          </a:xfrm>
          <a:prstGeom prst="rect">
            <a:avLst/>
          </a:prstGeom>
        </p:spPr>
      </p:pic>
      <p:pic>
        <p:nvPicPr>
          <p:cNvPr id="2022047840" name="Picture 85" descr="takeoff_zone"/>
          <p:cNvPicPr>
            <a:picLocks noChangeAspect="1"/>
          </p:cNvPicPr>
          <p:nvPr/>
        </p:nvPicPr>
        <p:blipFill rotWithShape="1">
          <a:blip r:embed="rId6"/>
          <a:srcRect r="82925" b="73759"/>
          <a:stretch/>
        </p:blipFill>
        <p:spPr bwMode="auto">
          <a:xfrm>
            <a:off x="10367645" y="571500"/>
            <a:ext cx="398145" cy="41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96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1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0041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3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9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4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96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06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6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11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86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3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04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81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70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69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13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2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80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2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95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3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2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84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72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6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5704064" grpId="0" bldLvl="0" animBg="1"/>
      <p:bldP spid="1775704064" grpId="1" animBg="1"/>
      <p:bldP spid="1314690318" grpId="0" bldLvl="0" animBg="1"/>
      <p:bldP spid="1314690318" grpId="1" animBg="1"/>
      <p:bldP spid="721797864" grpId="0" bldLvl="0" animBg="1"/>
      <p:bldP spid="721797864" grpId="1" animBg="1"/>
      <p:bldP spid="840800145" grpId="0" bldLvl="0" animBg="1"/>
      <p:bldP spid="840800145" grpId="1" animBg="1"/>
      <p:bldP spid="909957843" grpId="0" bldLvl="0" animBg="1"/>
      <p:bldP spid="909957843" grpId="1" animBg="1"/>
      <p:bldP spid="2135285369" grpId="0" bldLvl="0" animBg="1"/>
      <p:bldP spid="2135285369" grpId="1" animBg="1"/>
      <p:bldP spid="2057527293" grpId="0" bldLvl="0" animBg="1"/>
      <p:bldP spid="2057527293" grpId="1" animBg="1"/>
      <p:bldP spid="1511841221" grpId="0" bldLvl="0" animBg="1"/>
      <p:bldP spid="1511841221" grpId="1" animBg="1"/>
      <p:bldP spid="901725310" grpId="0" bldLvl="0" animBg="1"/>
      <p:bldP spid="901725310" grpId="1" animBg="1"/>
      <p:bldP spid="1208723247" grpId="0" bldLvl="0" animBg="1"/>
      <p:bldP spid="1208723247" grpId="1" animBg="1"/>
      <p:bldP spid="2094963140" grpId="0"/>
      <p:bldP spid="2094963140" grpId="1"/>
      <p:bldP spid="642031866" grpId="0"/>
      <p:bldP spid="642031866" grpId="1"/>
      <p:bldP spid="847618460" grpId="0"/>
      <p:bldP spid="847618460" grpId="1"/>
      <p:bldP spid="386963643" grpId="0" bldLvl="0" animBg="1"/>
      <p:bldP spid="386963643" grpId="1" animBg="1"/>
      <p:bldP spid="866064182" grpId="0"/>
      <p:bldP spid="866064182" grpId="1"/>
      <p:bldP spid="1376726040" grpId="0"/>
      <p:bldP spid="137672604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577727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4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4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Concept of Operations for ABU-Enabled eVTOL Missions</a:t>
            </a:r>
          </a:p>
        </p:txBody>
      </p:sp>
      <p:pic>
        <p:nvPicPr>
          <p:cNvPr id="1511412369" name="Picture 65" descr="curve_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311900" y="3039110"/>
            <a:ext cx="1310640" cy="2488565"/>
          </a:xfrm>
          <a:prstGeom prst="rect">
            <a:avLst/>
          </a:prstGeom>
        </p:spPr>
      </p:pic>
      <p:pic>
        <p:nvPicPr>
          <p:cNvPr id="787375542" name="Picture 77" descr="Note_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023735" y="3669030"/>
            <a:ext cx="1440180" cy="1134110"/>
          </a:xfrm>
          <a:prstGeom prst="rect">
            <a:avLst/>
          </a:prstGeom>
        </p:spPr>
      </p:pic>
      <p:pic>
        <p:nvPicPr>
          <p:cNvPr id="1269828974" name="Picture 64" descr="curve_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708785" y="2994025"/>
            <a:ext cx="1837055" cy="2553335"/>
          </a:xfrm>
          <a:prstGeom prst="rect">
            <a:avLst/>
          </a:prstGeom>
        </p:spPr>
      </p:pic>
      <p:pic>
        <p:nvPicPr>
          <p:cNvPr id="615074231" name="Picture 53" descr="landing_zone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82055" y="5128260"/>
            <a:ext cx="2308225" cy="1393825"/>
          </a:xfrm>
          <a:prstGeom prst="rect">
            <a:avLst/>
          </a:prstGeom>
        </p:spPr>
      </p:pic>
      <p:pic>
        <p:nvPicPr>
          <p:cNvPr id="1474290097" name="Picture 54" descr="divert_landing_zone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9038590" y="5154930"/>
            <a:ext cx="2503170" cy="1367155"/>
          </a:xfrm>
          <a:prstGeom prst="rect">
            <a:avLst/>
          </a:prstGeom>
        </p:spPr>
      </p:pic>
      <p:pic>
        <p:nvPicPr>
          <p:cNvPr id="969654241" name="Picture 52" descr="takeoff_zone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15950" y="5128260"/>
            <a:ext cx="2071370" cy="1393825"/>
          </a:xfrm>
          <a:prstGeom prst="rect">
            <a:avLst/>
          </a:prstGeom>
        </p:spPr>
      </p:pic>
      <p:grpSp>
        <p:nvGrpSpPr>
          <p:cNvPr id="846831265" name="Group 84"/>
          <p:cNvGrpSpPr/>
          <p:nvPr/>
        </p:nvGrpSpPr>
        <p:grpSpPr bwMode="auto">
          <a:xfrm>
            <a:off x="3656329" y="2966085"/>
            <a:ext cx="2732405" cy="76200"/>
            <a:chOff x="5758" y="4671"/>
            <a:chExt cx="4303" cy="120"/>
          </a:xfrm>
        </p:grpSpPr>
        <p:cxnSp>
          <p:nvCxnSpPr>
            <p:cNvPr id="13" name="Straight Connector 12"/>
            <p:cNvCxnSpPr/>
            <p:nvPr/>
          </p:nvCxnSpPr>
          <p:spPr bwMode="auto">
            <a:xfrm>
              <a:off x="5758" y="4743"/>
              <a:ext cx="4251" cy="0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Oval 17"/>
            <p:cNvSpPr/>
            <p:nvPr/>
          </p:nvSpPr>
          <p:spPr bwMode="auto">
            <a:xfrm>
              <a:off x="9941" y="4671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785655247" name="Group 85"/>
          <p:cNvGrpSpPr/>
          <p:nvPr/>
        </p:nvGrpSpPr>
        <p:grpSpPr bwMode="auto">
          <a:xfrm>
            <a:off x="6355715" y="3011805"/>
            <a:ext cx="1360805" cy="1895474"/>
            <a:chOff x="10009" y="4743"/>
            <a:chExt cx="2143" cy="2985"/>
          </a:xfrm>
        </p:grpSpPr>
        <p:cxnSp>
          <p:nvCxnSpPr>
            <p:cNvPr id="17" name="Straight Connector 16"/>
            <p:cNvCxnSpPr/>
            <p:nvPr/>
          </p:nvCxnSpPr>
          <p:spPr bwMode="auto">
            <a:xfrm flipH="1" flipV="1">
              <a:off x="10009" y="4743"/>
              <a:ext cx="870" cy="2328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 bwMode="auto">
            <a:xfrm>
              <a:off x="10818" y="7000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 bwMode="auto">
            <a:xfrm>
              <a:off x="10861" y="7081"/>
              <a:ext cx="921" cy="0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 flipH="1" flipV="1">
              <a:off x="11782" y="7064"/>
              <a:ext cx="371" cy="665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 bwMode="auto">
            <a:xfrm>
              <a:off x="11718" y="7015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1599908342" name="Straight Connector 29"/>
          <p:cNvCxnSpPr/>
          <p:nvPr/>
        </p:nvCxnSpPr>
        <p:spPr bwMode="auto">
          <a:xfrm>
            <a:off x="1654810" y="5543550"/>
            <a:ext cx="335280" cy="0"/>
          </a:xfrm>
          <a:prstGeom prst="line">
            <a:avLst/>
          </a:prstGeom>
          <a:ln w="34925">
            <a:solidFill>
              <a:srgbClr val="5186C7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7875221" name="Straight Connector 30"/>
          <p:cNvCxnSpPr/>
          <p:nvPr/>
        </p:nvCxnSpPr>
        <p:spPr bwMode="auto">
          <a:xfrm>
            <a:off x="2023110" y="5154930"/>
            <a:ext cx="0" cy="368935"/>
          </a:xfrm>
          <a:prstGeom prst="line">
            <a:avLst/>
          </a:prstGeom>
          <a:ln w="34925">
            <a:solidFill>
              <a:srgbClr val="5186C7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7908208" name="Straight Connector 31"/>
          <p:cNvCxnSpPr/>
          <p:nvPr/>
        </p:nvCxnSpPr>
        <p:spPr bwMode="auto">
          <a:xfrm flipH="1">
            <a:off x="2038349" y="4452620"/>
            <a:ext cx="394335" cy="656590"/>
          </a:xfrm>
          <a:prstGeom prst="line">
            <a:avLst/>
          </a:prstGeom>
          <a:ln w="34925">
            <a:solidFill>
              <a:srgbClr val="5186C7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4798231" name="Straight Connector 32"/>
          <p:cNvCxnSpPr/>
          <p:nvPr/>
        </p:nvCxnSpPr>
        <p:spPr bwMode="auto">
          <a:xfrm>
            <a:off x="2518410" y="4418965"/>
            <a:ext cx="514350" cy="0"/>
          </a:xfrm>
          <a:prstGeom prst="line">
            <a:avLst/>
          </a:prstGeom>
          <a:ln w="34925">
            <a:solidFill>
              <a:srgbClr val="5186C7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6816936" name="Straight Connector 33"/>
          <p:cNvCxnSpPr/>
          <p:nvPr/>
        </p:nvCxnSpPr>
        <p:spPr bwMode="auto">
          <a:xfrm flipH="1">
            <a:off x="3007995" y="3117850"/>
            <a:ext cx="503555" cy="1313815"/>
          </a:xfrm>
          <a:prstGeom prst="line">
            <a:avLst/>
          </a:prstGeom>
          <a:ln w="34925">
            <a:solidFill>
              <a:srgbClr val="5186C7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4310344" name="Isosceles Triangle 35"/>
          <p:cNvSpPr/>
          <p:nvPr/>
        </p:nvSpPr>
        <p:spPr bwMode="auto">
          <a:xfrm rot="1379998">
            <a:off x="3455670" y="3015615"/>
            <a:ext cx="139065" cy="129540"/>
          </a:xfrm>
          <a:prstGeom prst="triangle">
            <a:avLst>
              <a:gd name="adj" fmla="val 50000"/>
            </a:avLst>
          </a:prstGeom>
          <a:solidFill>
            <a:srgbClr val="5186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77756488" name="Straight Connector 39"/>
          <p:cNvCxnSpPr/>
          <p:nvPr/>
        </p:nvCxnSpPr>
        <p:spPr bwMode="auto">
          <a:xfrm>
            <a:off x="3750945" y="2892425"/>
            <a:ext cx="2439035" cy="0"/>
          </a:xfrm>
          <a:prstGeom prst="line">
            <a:avLst/>
          </a:prstGeom>
          <a:ln w="34925">
            <a:solidFill>
              <a:srgbClr val="369F95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11271225" name="Isosceles Triangle 40"/>
          <p:cNvSpPr/>
          <p:nvPr/>
        </p:nvSpPr>
        <p:spPr bwMode="auto">
          <a:xfrm rot="5400000">
            <a:off x="6209030" y="2825750"/>
            <a:ext cx="139065" cy="129540"/>
          </a:xfrm>
          <a:prstGeom prst="triangle">
            <a:avLst>
              <a:gd name="adj" fmla="val 50000"/>
            </a:avLst>
          </a:prstGeom>
          <a:solidFill>
            <a:srgbClr val="369F9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8277417" name="Group 86"/>
          <p:cNvGrpSpPr/>
          <p:nvPr/>
        </p:nvGrpSpPr>
        <p:grpSpPr bwMode="auto">
          <a:xfrm>
            <a:off x="10303510" y="5029835"/>
            <a:ext cx="138430" cy="518160"/>
            <a:chOff x="16226" y="7921"/>
            <a:chExt cx="218" cy="816"/>
          </a:xfrm>
        </p:grpSpPr>
        <p:cxnSp>
          <p:nvCxnSpPr>
            <p:cNvPr id="43" name="Straight Connector 42"/>
            <p:cNvCxnSpPr/>
            <p:nvPr/>
          </p:nvCxnSpPr>
          <p:spPr bwMode="auto">
            <a:xfrm>
              <a:off x="16336" y="7921"/>
              <a:ext cx="0" cy="581"/>
            </a:xfrm>
            <a:prstGeom prst="line">
              <a:avLst/>
            </a:prstGeom>
            <a:ln w="34925">
              <a:solidFill>
                <a:srgbClr val="CE9178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Isosceles Triangle 43"/>
            <p:cNvSpPr/>
            <p:nvPr/>
          </p:nvSpPr>
          <p:spPr bwMode="auto">
            <a:xfrm rot="10800000">
              <a:off x="16226" y="8533"/>
              <a:ext cx="219" cy="204"/>
            </a:xfrm>
            <a:prstGeom prst="triangle">
              <a:avLst>
                <a:gd name="adj" fmla="val 50000"/>
              </a:avLst>
            </a:prstGeom>
            <a:solidFill>
              <a:srgbClr val="CE917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957801063" name="Picture 55" descr="Note_1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524875" y="935990"/>
            <a:ext cx="3479800" cy="679450"/>
          </a:xfrm>
          <a:prstGeom prst="rect">
            <a:avLst/>
          </a:prstGeom>
        </p:spPr>
      </p:pic>
      <p:pic>
        <p:nvPicPr>
          <p:cNvPr id="169942043" name="Picture 56" descr="loiter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7529830" y="4792980"/>
            <a:ext cx="393700" cy="323850"/>
          </a:xfrm>
          <a:prstGeom prst="rect">
            <a:avLst/>
          </a:prstGeom>
        </p:spPr>
      </p:pic>
      <p:pic>
        <p:nvPicPr>
          <p:cNvPr id="1498644032" name="Picture 57" descr="Note_2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8524875" y="1901190"/>
            <a:ext cx="3476625" cy="678180"/>
          </a:xfrm>
          <a:prstGeom prst="rect">
            <a:avLst/>
          </a:prstGeom>
        </p:spPr>
      </p:pic>
      <p:pic>
        <p:nvPicPr>
          <p:cNvPr id="1684661288" name="Picture 58" descr="Note_3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8524875" y="2897505"/>
            <a:ext cx="3476625" cy="678180"/>
          </a:xfrm>
          <a:prstGeom prst="rect">
            <a:avLst/>
          </a:prstGeom>
        </p:spPr>
      </p:pic>
      <p:pic>
        <p:nvPicPr>
          <p:cNvPr id="757612012" name="Picture 59" descr="Note_4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8524240" y="3861435"/>
            <a:ext cx="3476625" cy="678180"/>
          </a:xfrm>
          <a:prstGeom prst="rect">
            <a:avLst/>
          </a:prstGeom>
        </p:spPr>
      </p:pic>
      <p:cxnSp>
        <p:nvCxnSpPr>
          <p:cNvPr id="958522620" name="Straight Arrow Connector 60"/>
          <p:cNvCxnSpPr>
            <a:stCxn id="1957801063" idx="2"/>
            <a:endCxn id="1498644032" idx="0"/>
          </p:cNvCxnSpPr>
          <p:nvPr/>
        </p:nvCxnSpPr>
        <p:spPr bwMode="auto">
          <a:xfrm flipH="1">
            <a:off x="10263505" y="1615440"/>
            <a:ext cx="1270" cy="28575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7994909" name="Straight Arrow Connector 61"/>
          <p:cNvCxnSpPr>
            <a:stCxn id="1498644032" idx="2"/>
            <a:endCxn id="1684661288" idx="0"/>
          </p:cNvCxnSpPr>
          <p:nvPr/>
        </p:nvCxnSpPr>
        <p:spPr bwMode="auto">
          <a:xfrm>
            <a:off x="10263505" y="2579370"/>
            <a:ext cx="0" cy="3181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2737582" name="Straight Arrow Connector 62"/>
          <p:cNvCxnSpPr>
            <a:stCxn id="1684661288" idx="2"/>
            <a:endCxn id="757612012" idx="0"/>
          </p:cNvCxnSpPr>
          <p:nvPr/>
        </p:nvCxnSpPr>
        <p:spPr bwMode="auto">
          <a:xfrm flipH="1">
            <a:off x="10262870" y="3575685"/>
            <a:ext cx="635" cy="28575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10741993" name="Isosceles Triangle 66"/>
          <p:cNvSpPr/>
          <p:nvPr/>
        </p:nvSpPr>
        <p:spPr bwMode="auto">
          <a:xfrm rot="10800000">
            <a:off x="1670050" y="5398770"/>
            <a:ext cx="139065" cy="129540"/>
          </a:xfrm>
          <a:prstGeom prst="triangle">
            <a:avLst>
              <a:gd name="adj" fmla="val 50000"/>
            </a:avLst>
          </a:prstGeom>
          <a:solidFill>
            <a:srgbClr val="E9131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92907538" name="Isosceles Triangle 67"/>
          <p:cNvSpPr/>
          <p:nvPr/>
        </p:nvSpPr>
        <p:spPr bwMode="auto">
          <a:xfrm rot="9899999">
            <a:off x="7538720" y="5421630"/>
            <a:ext cx="139065" cy="129540"/>
          </a:xfrm>
          <a:prstGeom prst="triangle">
            <a:avLst>
              <a:gd name="adj" fmla="val 50000"/>
            </a:avLst>
          </a:prstGeom>
          <a:solidFill>
            <a:srgbClr val="E9131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03097842" name="Picture 70" descr="Note_1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2038349" y="5567045"/>
            <a:ext cx="2068830" cy="577849"/>
          </a:xfrm>
          <a:prstGeom prst="rect">
            <a:avLst/>
          </a:prstGeom>
        </p:spPr>
      </p:pic>
      <p:pic>
        <p:nvPicPr>
          <p:cNvPr id="1289200323" name="Picture 71" descr="Note_2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1851660" y="2364105"/>
            <a:ext cx="1793240" cy="601980"/>
          </a:xfrm>
          <a:prstGeom prst="rect">
            <a:avLst/>
          </a:prstGeom>
        </p:spPr>
      </p:pic>
      <p:pic>
        <p:nvPicPr>
          <p:cNvPr id="1298418387" name="Picture 72" descr="Note_3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406400" y="3288665"/>
            <a:ext cx="1614170" cy="1165860"/>
          </a:xfrm>
          <a:prstGeom prst="rect">
            <a:avLst/>
          </a:prstGeom>
        </p:spPr>
      </p:pic>
      <p:pic>
        <p:nvPicPr>
          <p:cNvPr id="269877717" name="Picture 73" descr="Note_4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3656329" y="2252980"/>
            <a:ext cx="1676400" cy="713105"/>
          </a:xfrm>
          <a:prstGeom prst="rect">
            <a:avLst/>
          </a:prstGeom>
        </p:spPr>
      </p:pic>
      <p:pic>
        <p:nvPicPr>
          <p:cNvPr id="313285441" name="Picture 74" descr="Note_5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>
            <a:off x="6355715" y="2364740"/>
            <a:ext cx="1757680" cy="601345"/>
          </a:xfrm>
          <a:prstGeom prst="rect">
            <a:avLst/>
          </a:prstGeom>
        </p:spPr>
      </p:pic>
      <p:pic>
        <p:nvPicPr>
          <p:cNvPr id="1383559295" name="Picture 75" descr="Note_6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4652645" y="4496435"/>
            <a:ext cx="1876425" cy="1143000"/>
          </a:xfrm>
          <a:prstGeom prst="rect">
            <a:avLst/>
          </a:prstGeom>
        </p:spPr>
      </p:pic>
      <p:pic>
        <p:nvPicPr>
          <p:cNvPr id="1371479663" name="Picture 78" descr="Note_8"/>
          <p:cNvPicPr>
            <a:picLocks noChangeAspect="1"/>
          </p:cNvPicPr>
          <p:nvPr/>
        </p:nvPicPr>
        <p:blipFill rotWithShape="1">
          <a:blip r:embed="rId20"/>
          <a:stretch/>
        </p:blipFill>
        <p:spPr bwMode="auto">
          <a:xfrm>
            <a:off x="7923530" y="4739005"/>
            <a:ext cx="614680" cy="309880"/>
          </a:xfrm>
          <a:prstGeom prst="rect">
            <a:avLst/>
          </a:prstGeom>
        </p:spPr>
      </p:pic>
      <p:grpSp>
        <p:nvGrpSpPr>
          <p:cNvPr id="1992066560" name="Group 83"/>
          <p:cNvGrpSpPr/>
          <p:nvPr/>
        </p:nvGrpSpPr>
        <p:grpSpPr bwMode="auto">
          <a:xfrm>
            <a:off x="1639570" y="2958464"/>
            <a:ext cx="2052320" cy="2715259"/>
            <a:chOff x="2582" y="4659"/>
            <a:chExt cx="3232" cy="4276"/>
          </a:xfrm>
        </p:grpSpPr>
        <p:cxnSp>
          <p:nvCxnSpPr>
            <p:cNvPr id="4" name="Straight Connector 3"/>
            <p:cNvCxnSpPr/>
            <p:nvPr/>
          </p:nvCxnSpPr>
          <p:spPr bwMode="auto">
            <a:xfrm flipH="1">
              <a:off x="3356" y="8176"/>
              <a:ext cx="1" cy="673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 bwMode="auto">
            <a:xfrm>
              <a:off x="3298" y="8074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" name="Straight Connector 1"/>
            <p:cNvCxnSpPr/>
            <p:nvPr/>
          </p:nvCxnSpPr>
          <p:spPr bwMode="auto">
            <a:xfrm flipH="1">
              <a:off x="3388" y="7133"/>
              <a:ext cx="559" cy="961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 bwMode="auto">
            <a:xfrm>
              <a:off x="3947" y="7108"/>
              <a:ext cx="921" cy="0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 bwMode="auto">
            <a:xfrm>
              <a:off x="3912" y="7051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flipH="1">
              <a:off x="4874" y="4743"/>
              <a:ext cx="884" cy="2360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 bwMode="auto">
            <a:xfrm>
              <a:off x="4804" y="7048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5694" y="4659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" name="Straight Connector 2"/>
            <p:cNvCxnSpPr/>
            <p:nvPr/>
          </p:nvCxnSpPr>
          <p:spPr bwMode="auto">
            <a:xfrm>
              <a:off x="2582" y="8876"/>
              <a:ext cx="765" cy="0"/>
            </a:xfrm>
            <a:prstGeom prst="line">
              <a:avLst/>
            </a:prstGeom>
            <a:ln w="28575">
              <a:solidFill>
                <a:srgbClr val="3A414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 bwMode="auto">
            <a:xfrm>
              <a:off x="3298" y="8815"/>
              <a:ext cx="120" cy="120"/>
            </a:xfrm>
            <a:prstGeom prst="ellipse">
              <a:avLst/>
            </a:prstGeom>
            <a:solidFill>
              <a:srgbClr val="3A414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46348110" name="Group 88"/>
          <p:cNvGrpSpPr/>
          <p:nvPr/>
        </p:nvGrpSpPr>
        <p:grpSpPr bwMode="auto">
          <a:xfrm>
            <a:off x="7912735" y="4977765"/>
            <a:ext cx="2418715" cy="138430"/>
            <a:chOff x="12461" y="7839"/>
            <a:chExt cx="3809" cy="218"/>
          </a:xfrm>
        </p:grpSpPr>
        <p:cxnSp>
          <p:nvCxnSpPr>
            <p:cNvPr id="42" name="Straight Connector 41"/>
            <p:cNvCxnSpPr>
              <a:endCxn id="88" idx="3"/>
            </p:cNvCxnSpPr>
            <p:nvPr/>
          </p:nvCxnSpPr>
          <p:spPr bwMode="auto">
            <a:xfrm>
              <a:off x="12461" y="7942"/>
              <a:ext cx="3606" cy="6"/>
            </a:xfrm>
            <a:prstGeom prst="line">
              <a:avLst/>
            </a:prstGeom>
            <a:ln w="34925">
              <a:solidFill>
                <a:srgbClr val="D1937A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8" name="Isosceles Triangle 87"/>
            <p:cNvSpPr/>
            <p:nvPr/>
          </p:nvSpPr>
          <p:spPr bwMode="auto">
            <a:xfrm rot="5400000">
              <a:off x="16059" y="7846"/>
              <a:ext cx="219" cy="204"/>
            </a:xfrm>
            <a:prstGeom prst="triangle">
              <a:avLst>
                <a:gd name="adj" fmla="val 50000"/>
              </a:avLst>
            </a:prstGeom>
            <a:solidFill>
              <a:srgbClr val="CE917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013203500" name="Oval 90"/>
          <p:cNvSpPr/>
          <p:nvPr/>
        </p:nvSpPr>
        <p:spPr bwMode="auto">
          <a:xfrm>
            <a:off x="11754485" y="708025"/>
            <a:ext cx="388620" cy="3886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18896591" name="Oval 92"/>
          <p:cNvSpPr/>
          <p:nvPr/>
        </p:nvSpPr>
        <p:spPr bwMode="auto">
          <a:xfrm>
            <a:off x="11754485" y="1703705"/>
            <a:ext cx="388620" cy="3886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83798028" name="Oval 93"/>
          <p:cNvSpPr/>
          <p:nvPr/>
        </p:nvSpPr>
        <p:spPr bwMode="auto">
          <a:xfrm>
            <a:off x="11754485" y="2691765"/>
            <a:ext cx="388620" cy="3886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40959283" name="Oval 94"/>
          <p:cNvSpPr/>
          <p:nvPr/>
        </p:nvSpPr>
        <p:spPr bwMode="auto">
          <a:xfrm>
            <a:off x="11754485" y="3669030"/>
            <a:ext cx="388620" cy="3886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vi-VN" sz="18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2969006" name="Text"/>
          <p:cNvSpPr>
            <a:spLocks noGrp="1"/>
          </p:cNvSpPr>
          <p:nvPr/>
        </p:nvSpPr>
        <p:spPr bwMode="auto">
          <a:xfrm>
            <a:off x="321945" y="866140"/>
            <a:ext cx="7536180" cy="71691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chemeClr val="dk2"/>
              </a:buClr>
              <a:buSzPts val="3000"/>
              <a:buFont typeface="Arial"/>
              <a:defRPr/>
            </a:pPr>
            <a:r>
              <a:rPr lang="en-US" sz="2400" b="1">
                <a:solidFill>
                  <a:srgbClr val="3A3C3D"/>
                </a:solidFill>
                <a:latin typeface="Arial"/>
                <a:ea typeface="Arial"/>
                <a:cs typeface="Arial"/>
              </a:rPr>
              <a:t>Key </a:t>
            </a:r>
            <a:r>
              <a:rPr lang="vi-VN" sz="2400" b="1">
                <a:solidFill>
                  <a:srgbClr val="3A3C3D"/>
                </a:solidFill>
                <a:latin typeface="Arial"/>
                <a:ea typeface="Arial"/>
                <a:cs typeface="Arial"/>
              </a:rPr>
              <a:t>concept</a:t>
            </a:r>
            <a:r>
              <a:rPr lang="en-US" sz="2400" b="1">
                <a:solidFill>
                  <a:srgbClr val="3A3C3D"/>
                </a:solidFill>
                <a:latin typeface="Arial"/>
                <a:ea typeface="Arial"/>
                <a:cs typeface="Arial"/>
              </a:rPr>
              <a:t>:</a:t>
            </a:r>
            <a:r>
              <a:rPr lang="en-US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 </a:t>
            </a:r>
            <a:r>
              <a:rPr lang="vi-VN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d</a:t>
            </a:r>
            <a:r>
              <a:rPr lang="en-US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etachable</a:t>
            </a:r>
            <a:r>
              <a:rPr lang="vi-VN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400">
                <a:solidFill>
                  <a:srgbClr val="3A3C3D"/>
                </a:solidFill>
                <a:latin typeface="Arial"/>
                <a:ea typeface="Arial"/>
                <a:cs typeface="Arial"/>
              </a:rPr>
              <a:t>self-contained battery units</a:t>
            </a:r>
            <a:endParaRPr lang="en-US" sz="2400" b="1">
              <a:solidFill>
                <a:srgbClr val="3A3C3D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813275686" name="Group 13"/>
          <p:cNvGrpSpPr/>
          <p:nvPr/>
        </p:nvGrpSpPr>
        <p:grpSpPr bwMode="auto">
          <a:xfrm>
            <a:off x="407035" y="1557655"/>
            <a:ext cx="2017395" cy="645159"/>
            <a:chOff x="2231" y="6272"/>
            <a:chExt cx="3177" cy="1016"/>
          </a:xfrm>
        </p:grpSpPr>
        <p:pic>
          <p:nvPicPr>
            <p:cNvPr id="23" name="Picture 22" descr="linkage_icon"/>
            <p:cNvPicPr>
              <a:picLocks noChangeAspect="1"/>
            </p:cNvPicPr>
            <p:nvPr/>
          </p:nvPicPr>
          <p:blipFill rotWithShape="1">
            <a:blip r:embed="rId21"/>
            <a:stretch/>
          </p:blipFill>
          <p:spPr bwMode="auto">
            <a:xfrm>
              <a:off x="3757" y="6599"/>
              <a:ext cx="638" cy="457"/>
            </a:xfrm>
            <a:prstGeom prst="rect">
              <a:avLst/>
            </a:prstGeom>
          </p:spPr>
        </p:pic>
        <p:grpSp>
          <p:nvGrpSpPr>
            <p:cNvPr id="24" name="Group 23"/>
            <p:cNvGrpSpPr/>
            <p:nvPr/>
          </p:nvGrpSpPr>
          <p:grpSpPr bwMode="auto">
            <a:xfrm>
              <a:off x="2231" y="6272"/>
              <a:ext cx="1425" cy="1017"/>
              <a:chOff x="2183" y="2214"/>
              <a:chExt cx="1662" cy="1186"/>
            </a:xfrm>
          </p:grpSpPr>
          <p:pic>
            <p:nvPicPr>
              <p:cNvPr id="25" name="Picture 24" descr="eVTOL"/>
              <p:cNvPicPr>
                <a:picLocks noChangeAspect="1"/>
              </p:cNvPicPr>
              <p:nvPr/>
            </p:nvPicPr>
            <p:blipFill rotWithShape="1">
              <a:blip r:embed="rId22"/>
              <a:stretch/>
            </p:blipFill>
            <p:spPr bwMode="auto">
              <a:xfrm>
                <a:off x="2274" y="2493"/>
                <a:ext cx="1482" cy="737"/>
              </a:xfrm>
              <a:prstGeom prst="rect">
                <a:avLst/>
              </a:prstGeom>
            </p:spPr>
          </p:pic>
          <p:sp>
            <p:nvSpPr>
              <p:cNvPr id="16" name="Oval 15"/>
              <p:cNvSpPr/>
              <p:nvPr/>
            </p:nvSpPr>
            <p:spPr bwMode="auto">
              <a:xfrm>
                <a:off x="2183" y="2214"/>
                <a:ext cx="1662" cy="1187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 bwMode="auto">
            <a:xfrm>
              <a:off x="4506" y="6392"/>
              <a:ext cx="902" cy="782"/>
              <a:chOff x="2458" y="4019"/>
              <a:chExt cx="1094" cy="948"/>
            </a:xfrm>
          </p:grpSpPr>
          <p:pic>
            <p:nvPicPr>
              <p:cNvPr id="28" name="Picture 27" descr="ABU_icon"/>
              <p:cNvPicPr>
                <a:picLocks noChangeAspect="1"/>
              </p:cNvPicPr>
              <p:nvPr/>
            </p:nvPicPr>
            <p:blipFill rotWithShape="1">
              <a:blip r:embed="rId23"/>
              <a:stretch/>
            </p:blipFill>
            <p:spPr bwMode="auto">
              <a:xfrm>
                <a:off x="2612" y="4210"/>
                <a:ext cx="804" cy="614"/>
              </a:xfrm>
              <a:prstGeom prst="rect">
                <a:avLst/>
              </a:prstGeom>
            </p:spPr>
          </p:pic>
          <p:sp>
            <p:nvSpPr>
              <p:cNvPr id="29" name="Oval 28"/>
              <p:cNvSpPr/>
              <p:nvPr/>
            </p:nvSpPr>
            <p:spPr bwMode="auto">
              <a:xfrm>
                <a:off x="2458" y="4019"/>
                <a:ext cx="1094" cy="948"/>
              </a:xfrm>
              <a:prstGeom prst="ellipse">
                <a:avLst/>
              </a:prstGeom>
              <a:noFill/>
              <a:ln w="19050">
                <a:solidFill>
                  <a:schemeClr val="tx2">
                    <a:lumMod val="1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pic>
        <p:nvPicPr>
          <p:cNvPr id="326639220" name="Picture 21" descr="legend_updated"/>
          <p:cNvPicPr>
            <a:picLocks noChangeAspect="1"/>
          </p:cNvPicPr>
          <p:nvPr/>
        </p:nvPicPr>
        <p:blipFill rotWithShape="1">
          <a:blip r:embed="rId24"/>
          <a:stretch/>
        </p:blipFill>
        <p:spPr bwMode="auto">
          <a:xfrm>
            <a:off x="3882390" y="3167380"/>
            <a:ext cx="2175510" cy="1116965"/>
          </a:xfrm>
          <a:prstGeom prst="rect">
            <a:avLst/>
          </a:prstGeom>
        </p:spPr>
      </p:pic>
      <p:sp>
        <p:nvSpPr>
          <p:cNvPr id="130616574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6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27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65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0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06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90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87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90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79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81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1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8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2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20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41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7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3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7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75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64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9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8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1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0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5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65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3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47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3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29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4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7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66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99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798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7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61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95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310344" grpId="0" bldLvl="0" animBg="1"/>
      <p:bldP spid="524310344" grpId="1" animBg="1"/>
      <p:bldP spid="1311271225" grpId="0" bldLvl="0" animBg="1"/>
      <p:bldP spid="1311271225" grpId="1" animBg="1"/>
      <p:bldP spid="1310741993" grpId="0" bldLvl="0" animBg="1"/>
      <p:bldP spid="1310741993" grpId="1" animBg="1"/>
      <p:bldP spid="792907538" grpId="0" bldLvl="0" animBg="1"/>
      <p:bldP spid="792907538" grpId="1" animBg="1"/>
      <p:bldP spid="2013203500" grpId="0" bldLvl="0" animBg="1"/>
      <p:bldP spid="2013203500" grpId="1" animBg="1"/>
      <p:bldP spid="1218896591" grpId="0" bldLvl="0" animBg="1"/>
      <p:bldP spid="1218896591" grpId="1" animBg="1"/>
      <p:bldP spid="683798028" grpId="0" bldLvl="0" animBg="1"/>
      <p:bldP spid="683798028" grpId="1" animBg="1"/>
      <p:bldP spid="940959283" grpId="0" bldLvl="0" animBg="1"/>
      <p:bldP spid="940959283" grpId="1" animBg="1"/>
      <p:bldP spid="512969006" grpId="0"/>
      <p:bldP spid="51296900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236985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Mission-Based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eVTOL Sizing Framework</a:t>
            </a: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vi-VN" sz="4000" b="0" i="1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evtolpy</a:t>
            </a:r>
          </a:p>
        </p:txBody>
      </p:sp>
      <p:sp>
        <p:nvSpPr>
          <p:cNvPr id="725930193" name="Text Box 13"/>
          <p:cNvSpPr txBox="1"/>
          <p:nvPr/>
        </p:nvSpPr>
        <p:spPr bwMode="auto">
          <a:xfrm>
            <a:off x="98878" y="1520115"/>
            <a:ext cx="3394023" cy="2769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20000"/>
              </a:lnSpc>
              <a:spcAft>
                <a:spcPts val="10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Aircraft configuration</a:t>
            </a:r>
            <a:r>
              <a:rPr lang="vi-VN" sz="1800" dirty="0">
                <a:solidFill>
                  <a:srgbClr val="1C140C"/>
                </a:solidFill>
              </a:rPr>
              <a:t> </a:t>
            </a:r>
            <a:br>
              <a:rPr lang="vi-VN" sz="1800" dirty="0">
                <a:solidFill>
                  <a:srgbClr val="1C140C"/>
                </a:solidFill>
              </a:rPr>
            </a:br>
            <a:r>
              <a:rPr lang="vi-VN" sz="1800" dirty="0">
                <a:solidFill>
                  <a:srgbClr val="1C140C"/>
                </a:solidFill>
              </a:rPr>
              <a:t>(g</a:t>
            </a:r>
            <a:r>
              <a:rPr lang="en-US" sz="1800" dirty="0" err="1">
                <a:solidFill>
                  <a:srgbClr val="1C140C"/>
                </a:solidFill>
              </a:rPr>
              <a:t>eometry</a:t>
            </a:r>
            <a:r>
              <a:rPr lang="vi-VN" sz="1800" dirty="0">
                <a:solidFill>
                  <a:srgbClr val="1C140C"/>
                </a:solidFill>
              </a:rPr>
              <a:t>, </a:t>
            </a:r>
            <a:r>
              <a:rPr lang="en-US" sz="1800" dirty="0">
                <a:solidFill>
                  <a:srgbClr val="1C140C"/>
                </a:solidFill>
              </a:rPr>
              <a:t>aerodynamics</a:t>
            </a:r>
            <a:r>
              <a:rPr lang="vi-VN" sz="1800" dirty="0">
                <a:solidFill>
                  <a:srgbClr val="1C140C"/>
                </a:solidFill>
              </a:rPr>
              <a:t>, p</a:t>
            </a:r>
            <a:r>
              <a:rPr lang="en-US" sz="1800" dirty="0" err="1">
                <a:solidFill>
                  <a:srgbClr val="1C140C"/>
                </a:solidFill>
              </a:rPr>
              <a:t>ropulsion</a:t>
            </a:r>
            <a:r>
              <a:rPr lang="vi-VN" sz="1800" dirty="0">
                <a:solidFill>
                  <a:srgbClr val="1C140C"/>
                </a:solidFill>
              </a:rPr>
              <a:t>,</a:t>
            </a:r>
            <a:r>
              <a:rPr lang="en-US" sz="1800" dirty="0">
                <a:solidFill>
                  <a:srgbClr val="1C140C"/>
                </a:solidFill>
              </a:rPr>
              <a:t> power system</a:t>
            </a:r>
            <a:r>
              <a:rPr lang="vi-VN" sz="1800" dirty="0">
                <a:solidFill>
                  <a:srgbClr val="1C140C"/>
                </a:solidFill>
              </a:rPr>
              <a:t>)</a:t>
            </a:r>
            <a:endParaRPr lang="en-US" sz="1800" dirty="0">
              <a:solidFill>
                <a:srgbClr val="1C140C"/>
              </a:solidFill>
            </a:endParaRPr>
          </a:p>
          <a:p>
            <a:pPr lvl="0" algn="l">
              <a:lnSpc>
                <a:spcPct val="120000"/>
              </a:lnSpc>
              <a:spcAft>
                <a:spcPts val="10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Battery &amp; environment</a:t>
            </a:r>
            <a:r>
              <a:rPr lang="vi-VN" sz="1800" dirty="0">
                <a:solidFill>
                  <a:srgbClr val="1C140C"/>
                </a:solidFill>
              </a:rPr>
              <a:t>al characteristics</a:t>
            </a:r>
          </a:p>
          <a:p>
            <a:pPr lvl="0" algn="l">
              <a:lnSpc>
                <a:spcPct val="120000"/>
              </a:lnSpc>
              <a:spcAft>
                <a:spcPts val="10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Mission profile</a:t>
            </a:r>
            <a:r>
              <a:rPr lang="vi-VN" sz="1800" dirty="0">
                <a:solidFill>
                  <a:srgbClr val="1C140C"/>
                </a:solidFill>
              </a:rPr>
              <a:t> (e.g.,</a:t>
            </a:r>
            <a:r>
              <a:rPr lang="en-US" sz="1800" dirty="0">
                <a:solidFill>
                  <a:srgbClr val="1C140C"/>
                </a:solidFill>
              </a:rPr>
              <a:t> Uber</a:t>
            </a:r>
            <a:r>
              <a:rPr lang="vi-VN" sz="1800" dirty="0">
                <a:solidFill>
                  <a:srgbClr val="1C140C"/>
                </a:solidFill>
              </a:rPr>
              <a:t>’s</a:t>
            </a:r>
            <a:r>
              <a:rPr lang="en-US" sz="1800" dirty="0">
                <a:solidFill>
                  <a:srgbClr val="1C140C"/>
                </a:solidFill>
              </a:rPr>
              <a:t> </a:t>
            </a:r>
            <a:br>
              <a:rPr lang="en-US" sz="1800" dirty="0">
                <a:solidFill>
                  <a:srgbClr val="1C140C"/>
                </a:solidFill>
              </a:rPr>
            </a:br>
            <a:r>
              <a:rPr lang="en-US" sz="1800" dirty="0">
                <a:solidFill>
                  <a:srgbClr val="1C140C"/>
                </a:solidFill>
              </a:rPr>
              <a:t>Air Taxi mission</a:t>
            </a:r>
            <a:r>
              <a:rPr lang="vi-VN" sz="1800" dirty="0">
                <a:solidFill>
                  <a:srgbClr val="1C140C"/>
                </a:solidFill>
              </a:rPr>
              <a:t>)</a:t>
            </a:r>
          </a:p>
        </p:txBody>
      </p:sp>
      <p:pic>
        <p:nvPicPr>
          <p:cNvPr id="1913934318" name="Picture 1"/>
          <p:cNvPicPr>
            <a:picLocks noChangeAspect="1"/>
          </p:cNvPicPr>
          <p:nvPr/>
        </p:nvPicPr>
        <p:blipFill rotWithShape="1">
          <a:blip r:embed="rId3"/>
          <a:srcRect r="56938" b="55420"/>
          <a:stretch/>
        </p:blipFill>
        <p:spPr bwMode="auto">
          <a:xfrm>
            <a:off x="3611880" y="5934075"/>
            <a:ext cx="2493645" cy="656590"/>
          </a:xfrm>
          <a:prstGeom prst="rect">
            <a:avLst/>
          </a:prstGeom>
        </p:spPr>
      </p:pic>
      <p:sp>
        <p:nvSpPr>
          <p:cNvPr id="308091290" name="Text Box 2"/>
          <p:cNvSpPr txBox="1"/>
          <p:nvPr/>
        </p:nvSpPr>
        <p:spPr bwMode="auto">
          <a:xfrm>
            <a:off x="2278380" y="5614669"/>
            <a:ext cx="1332865" cy="79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vi-VN" sz="1800" b="1" i="1"/>
              <a:t>Transition Descend:</a:t>
            </a:r>
          </a:p>
        </p:txBody>
      </p:sp>
      <p:sp>
        <p:nvSpPr>
          <p:cNvPr id="260371734" name="Rectangles 3"/>
          <p:cNvSpPr/>
          <p:nvPr/>
        </p:nvSpPr>
        <p:spPr bwMode="auto">
          <a:xfrm>
            <a:off x="1820545" y="4813300"/>
            <a:ext cx="3516630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(ii) </a:t>
            </a:r>
            <a:r>
              <a:rPr lang="en-US" sz="2000" b="1">
                <a:solidFill>
                  <a:srgbClr val="3A3C3D"/>
                </a:solidFill>
              </a:rPr>
              <a:t>Segment-Level Physics</a:t>
            </a:r>
          </a:p>
        </p:txBody>
      </p:sp>
      <p:pic>
        <p:nvPicPr>
          <p:cNvPr id="590287897" name="Picture 4"/>
          <p:cNvPicPr>
            <a:picLocks noChangeAspect="1"/>
          </p:cNvPicPr>
          <p:nvPr/>
        </p:nvPicPr>
        <p:blipFill rotWithShape="1">
          <a:blip r:embed="rId4"/>
          <a:srcRect l="49981"/>
          <a:stretch/>
        </p:blipFill>
        <p:spPr bwMode="auto">
          <a:xfrm>
            <a:off x="5686425" y="1594485"/>
            <a:ext cx="2258695" cy="580390"/>
          </a:xfrm>
          <a:prstGeom prst="rect">
            <a:avLst/>
          </a:prstGeom>
        </p:spPr>
      </p:pic>
      <p:sp>
        <p:nvSpPr>
          <p:cNvPr id="824867156" name="Rectangles 10"/>
          <p:cNvSpPr/>
          <p:nvPr/>
        </p:nvSpPr>
        <p:spPr bwMode="auto">
          <a:xfrm>
            <a:off x="5641975" y="1529080"/>
            <a:ext cx="2303145" cy="64579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2026902" name="Rectangles 14"/>
          <p:cNvSpPr/>
          <p:nvPr/>
        </p:nvSpPr>
        <p:spPr bwMode="auto">
          <a:xfrm>
            <a:off x="7428865" y="4801870"/>
            <a:ext cx="3475990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(iv) </a:t>
            </a:r>
            <a:r>
              <a:rPr lang="en-US" sz="2000" b="1">
                <a:solidFill>
                  <a:srgbClr val="3A3C3D"/>
                </a:solidFill>
              </a:rPr>
              <a:t>Iterative Aircraft Sizing</a:t>
            </a:r>
          </a:p>
        </p:txBody>
      </p:sp>
      <p:pic>
        <p:nvPicPr>
          <p:cNvPr id="1935574101" name="Picture 17"/>
          <p:cNvPicPr>
            <a:picLocks noChangeAspect="1"/>
          </p:cNvPicPr>
          <p:nvPr/>
        </p:nvPicPr>
        <p:blipFill rotWithShape="1">
          <a:blip r:embed="rId5"/>
          <a:srcRect r="2760" b="2477"/>
          <a:stretch/>
        </p:blipFill>
        <p:spPr bwMode="auto">
          <a:xfrm>
            <a:off x="6445885" y="5577840"/>
            <a:ext cx="5535930" cy="393065"/>
          </a:xfrm>
          <a:prstGeom prst="rect">
            <a:avLst/>
          </a:prstGeom>
        </p:spPr>
      </p:pic>
      <p:pic>
        <p:nvPicPr>
          <p:cNvPr id="224418272" name="Picture 23"/>
          <p:cNvPicPr>
            <a:picLocks noChangeAspect="1"/>
          </p:cNvPicPr>
          <p:nvPr/>
        </p:nvPicPr>
        <p:blipFill rotWithShape="1">
          <a:blip r:embed="rId6"/>
          <a:srcRect l="78460" t="24396" r="2423" b="20048"/>
          <a:stretch/>
        </p:blipFill>
        <p:spPr bwMode="auto">
          <a:xfrm>
            <a:off x="7945120" y="6330950"/>
            <a:ext cx="816610" cy="292100"/>
          </a:xfrm>
          <a:prstGeom prst="rect">
            <a:avLst/>
          </a:prstGeom>
        </p:spPr>
      </p:pic>
      <p:grpSp>
        <p:nvGrpSpPr>
          <p:cNvPr id="652987713" name="Group 39"/>
          <p:cNvGrpSpPr/>
          <p:nvPr/>
        </p:nvGrpSpPr>
        <p:grpSpPr bwMode="auto">
          <a:xfrm>
            <a:off x="3147695" y="2630806"/>
            <a:ext cx="2662555" cy="2052320"/>
            <a:chOff x="154" y="4404"/>
            <a:chExt cx="6518" cy="5022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154" y="4404"/>
              <a:ext cx="6518" cy="5022"/>
            </a:xfrm>
            <a:prstGeom prst="rect">
              <a:avLst/>
            </a:prstGeom>
          </p:spPr>
        </p:pic>
        <p:sp>
          <p:nvSpPr>
            <p:cNvPr id="45" name="Text Box 44"/>
            <p:cNvSpPr txBox="1"/>
            <p:nvPr/>
          </p:nvSpPr>
          <p:spPr bwMode="auto">
            <a:xfrm>
              <a:off x="1617" y="7598"/>
              <a:ext cx="3642" cy="16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 i="1">
                  <a:solidFill>
                    <a:schemeClr val="tx1"/>
                  </a:solidFill>
                </a:rPr>
                <a:t>Reserve Mission</a:t>
              </a:r>
            </a:p>
          </p:txBody>
        </p:sp>
        <p:sp>
          <p:nvSpPr>
            <p:cNvPr id="47" name="Text Box 46"/>
            <p:cNvSpPr txBox="1"/>
            <p:nvPr/>
          </p:nvSpPr>
          <p:spPr bwMode="auto">
            <a:xfrm>
              <a:off x="1680" y="5378"/>
              <a:ext cx="3430" cy="8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 i="1">
                  <a:solidFill>
                    <a:schemeClr val="tx1"/>
                  </a:solidFill>
                </a:rPr>
                <a:t>Main Mission</a:t>
              </a:r>
            </a:p>
          </p:txBody>
        </p:sp>
      </p:grpSp>
      <p:sp>
        <p:nvSpPr>
          <p:cNvPr id="784962962" name="Text Box 7"/>
          <p:cNvSpPr txBox="1"/>
          <p:nvPr/>
        </p:nvSpPr>
        <p:spPr bwMode="auto">
          <a:xfrm>
            <a:off x="4237990" y="1457960"/>
            <a:ext cx="1739900" cy="1129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25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Energy summed across mission</a:t>
            </a:r>
          </a:p>
        </p:txBody>
      </p:sp>
      <p:sp>
        <p:nvSpPr>
          <p:cNvPr id="902454184" name="Rectangles 11"/>
          <p:cNvSpPr/>
          <p:nvPr/>
        </p:nvSpPr>
        <p:spPr bwMode="auto">
          <a:xfrm>
            <a:off x="7778750" y="5530215"/>
            <a:ext cx="4251325" cy="50292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740602363" name="Group 45"/>
          <p:cNvGrpSpPr/>
          <p:nvPr/>
        </p:nvGrpSpPr>
        <p:grpSpPr bwMode="auto">
          <a:xfrm>
            <a:off x="7041515" y="6084570"/>
            <a:ext cx="2618740" cy="550545"/>
            <a:chOff x="11089" y="9582"/>
            <a:chExt cx="4124" cy="867"/>
          </a:xfrm>
        </p:grpSpPr>
        <p:cxnSp>
          <p:nvCxnSpPr>
            <p:cNvPr id="32" name="Straight Arrow Connector 31"/>
            <p:cNvCxnSpPr/>
            <p:nvPr/>
          </p:nvCxnSpPr>
          <p:spPr bwMode="auto">
            <a:xfrm flipV="1">
              <a:off x="11094" y="9582"/>
              <a:ext cx="9" cy="859"/>
            </a:xfrm>
            <a:prstGeom prst="straightConnector1">
              <a:avLst/>
            </a:prstGeom>
            <a:ln w="19050"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 bwMode="auto">
            <a:xfrm flipH="1">
              <a:off x="11089" y="10437"/>
              <a:ext cx="4124" cy="4"/>
            </a:xfrm>
            <a:prstGeom prst="straightConnector1">
              <a:avLst/>
            </a:prstGeom>
            <a:ln w="19050"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 bwMode="auto">
            <a:xfrm>
              <a:off x="15208" y="9703"/>
              <a:ext cx="3" cy="747"/>
            </a:xfrm>
            <a:prstGeom prst="straightConnector1">
              <a:avLst/>
            </a:prstGeom>
            <a:ln w="19050"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72056635" name="Group 53"/>
          <p:cNvGrpSpPr/>
          <p:nvPr/>
        </p:nvGrpSpPr>
        <p:grpSpPr bwMode="auto">
          <a:xfrm>
            <a:off x="-41909" y="4875528"/>
            <a:ext cx="2223769" cy="1814036"/>
            <a:chOff x="0" y="0"/>
            <a:chExt cx="2223769" cy="1814036"/>
          </a:xfrm>
        </p:grpSpPr>
        <p:pic>
          <p:nvPicPr>
            <p:cNvPr id="69" name="Picture 68" descr="Gemini_Generated_Image_uccpy9uccpy9uccp"/>
            <p:cNvPicPr>
              <a:picLocks noChangeAspect="1"/>
            </p:cNvPicPr>
            <p:nvPr/>
          </p:nvPicPr>
          <p:blipFill rotWithShape="1">
            <a:blip r:embed="rId8"/>
            <a:srcRect t="28851" b="30015"/>
            <a:stretch/>
          </p:blipFill>
          <p:spPr bwMode="auto">
            <a:xfrm flipH="1">
              <a:off x="299084" y="628013"/>
              <a:ext cx="1309369" cy="538479"/>
            </a:xfrm>
            <a:prstGeom prst="rect">
              <a:avLst/>
            </a:prstGeom>
          </p:spPr>
        </p:pic>
        <p:cxnSp>
          <p:nvCxnSpPr>
            <p:cNvPr id="23" name="Straight Arrow Connector 22"/>
            <p:cNvCxnSpPr/>
            <p:nvPr/>
          </p:nvCxnSpPr>
          <p:spPr bwMode="auto">
            <a:xfrm flipV="1">
              <a:off x="951229" y="350519"/>
              <a:ext cx="6349" cy="366393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Text Box 38"/>
            <p:cNvSpPr txBox="1"/>
            <p:nvPr/>
          </p:nvSpPr>
          <p:spPr bwMode="auto">
            <a:xfrm>
              <a:off x="1344929" y="974724"/>
              <a:ext cx="878839" cy="44195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Thrust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 bwMode="auto">
            <a:xfrm>
              <a:off x="958214" y="1129029"/>
              <a:ext cx="1904" cy="241299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" name="Text Box 41"/>
            <p:cNvSpPr txBox="1"/>
            <p:nvPr/>
          </p:nvSpPr>
          <p:spPr bwMode="auto">
            <a:xfrm>
              <a:off x="367029" y="1372075"/>
              <a:ext cx="1186814" cy="44195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Weight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 bwMode="auto">
            <a:xfrm>
              <a:off x="1200149" y="1035683"/>
              <a:ext cx="261619" cy="128904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 bwMode="auto">
            <a:xfrm flipH="1" flipV="1">
              <a:off x="388619" y="596899"/>
              <a:ext cx="269239" cy="140969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Text Box 49"/>
            <p:cNvSpPr txBox="1"/>
            <p:nvPr/>
          </p:nvSpPr>
          <p:spPr bwMode="auto">
            <a:xfrm>
              <a:off x="628013" y="0"/>
              <a:ext cx="657859" cy="35750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Lift</a:t>
              </a:r>
            </a:p>
          </p:txBody>
        </p:sp>
        <p:sp>
          <p:nvSpPr>
            <p:cNvPr id="51" name="Text Box 50"/>
            <p:cNvSpPr txBox="1"/>
            <p:nvPr/>
          </p:nvSpPr>
          <p:spPr bwMode="auto">
            <a:xfrm>
              <a:off x="0" y="231774"/>
              <a:ext cx="676274" cy="36512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Drag</a:t>
              </a:r>
            </a:p>
          </p:txBody>
        </p:sp>
      </p:grpSp>
      <p:sp>
        <p:nvSpPr>
          <p:cNvPr id="1711909137" name="Text"/>
          <p:cNvSpPr>
            <a:spLocks noGrp="1"/>
          </p:cNvSpPr>
          <p:nvPr/>
        </p:nvSpPr>
        <p:spPr bwMode="auto">
          <a:xfrm>
            <a:off x="11890375" y="6529070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20949141" name="Rectangles 33"/>
          <p:cNvSpPr/>
          <p:nvPr/>
        </p:nvSpPr>
        <p:spPr bwMode="auto">
          <a:xfrm>
            <a:off x="603884" y="808354"/>
            <a:ext cx="1642744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(i) Input</a:t>
            </a:r>
          </a:p>
        </p:txBody>
      </p:sp>
      <p:sp>
        <p:nvSpPr>
          <p:cNvPr id="1916992638" name="Rectangles 5"/>
          <p:cNvSpPr/>
          <p:nvPr/>
        </p:nvSpPr>
        <p:spPr bwMode="auto">
          <a:xfrm>
            <a:off x="4496118" y="808354"/>
            <a:ext cx="3199764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vi-VN" sz="2000" b="1" dirty="0">
                <a:solidFill>
                  <a:srgbClr val="3A3C3D"/>
                </a:solidFill>
              </a:rPr>
              <a:t>(iii) Total Mission Energy</a:t>
            </a:r>
          </a:p>
        </p:txBody>
      </p:sp>
      <p:sp>
        <p:nvSpPr>
          <p:cNvPr id="1619110020" name="Text Box 7"/>
          <p:cNvSpPr txBox="1"/>
          <p:nvPr/>
        </p:nvSpPr>
        <p:spPr bwMode="auto">
          <a:xfrm>
            <a:off x="2293777" y="873906"/>
            <a:ext cx="1374565" cy="47468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l">
              <a:lnSpc>
                <a:spcPct val="10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en-US" sz="1800">
                <a:solidFill>
                  <a:srgbClr val="1C140C"/>
                </a:solidFill>
              </a:rPr>
              <a:t>(*.JSON)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A2C58E-F3DF-6372-569E-D5458638D040}"/>
              </a:ext>
            </a:extLst>
          </p:cNvPr>
          <p:cNvGrpSpPr/>
          <p:nvPr/>
        </p:nvGrpSpPr>
        <p:grpSpPr>
          <a:xfrm>
            <a:off x="10353222" y="76200"/>
            <a:ext cx="1739900" cy="1739900"/>
            <a:chOff x="6176146" y="2707388"/>
            <a:chExt cx="1878760" cy="18787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D0B51E-E90B-2D98-1749-A9942F12A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76146" y="2707388"/>
              <a:ext cx="1878760" cy="187876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A24A31-26DB-F60A-3F63-66DE39AE520C}"/>
                </a:ext>
              </a:extLst>
            </p:cNvPr>
            <p:cNvSpPr/>
            <p:nvPr/>
          </p:nvSpPr>
          <p:spPr>
            <a:xfrm>
              <a:off x="6200911" y="2717165"/>
              <a:ext cx="1814378" cy="1844065"/>
            </a:xfrm>
            <a:prstGeom prst="rect">
              <a:avLst/>
            </a:prstGeom>
            <a:noFill/>
            <a:ln>
              <a:solidFill>
                <a:schemeClr val="tx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94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30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30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30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98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37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05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9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93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99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96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28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6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7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45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60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1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5930193" grpId="0"/>
      <p:bldP spid="725930193" grpId="1"/>
      <p:bldP spid="308091290" grpId="0"/>
      <p:bldP spid="308091290" grpId="1"/>
      <p:bldP spid="260371734" grpId="0" bldLvl="0" animBg="1"/>
      <p:bldP spid="260371734" grpId="1" animBg="1"/>
      <p:bldP spid="824867156" grpId="0" animBg="1"/>
      <p:bldP spid="824867156" grpId="1" animBg="1"/>
      <p:bldP spid="42026902" grpId="0" animBg="1"/>
      <p:bldP spid="42026902" grpId="1" animBg="1"/>
      <p:bldP spid="784962962" grpId="0"/>
      <p:bldP spid="784962962" grpId="1"/>
      <p:bldP spid="902454184" grpId="0" animBg="1"/>
      <p:bldP spid="90245418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39F3B64-2C71-ABF7-93C3-8E715915E89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9C08B576-D6D8-06A6-DEF0-1E805891BA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981"/>
          <a:stretch/>
        </p:blipFill>
        <p:spPr bwMode="auto">
          <a:xfrm>
            <a:off x="5686425" y="1594485"/>
            <a:ext cx="2258695" cy="580390"/>
          </a:xfrm>
          <a:prstGeom prst="rect">
            <a:avLst/>
          </a:prstGeom>
        </p:spPr>
      </p:pic>
      <p:sp>
        <p:nvSpPr>
          <p:cNvPr id="653236985" name="Maroon rectangle">
            <a:extLst>
              <a:ext uri="{FF2B5EF4-FFF2-40B4-BE49-F238E27FC236}">
                <a16:creationId xmlns:a16="http://schemas.microsoft.com/office/drawing/2014/main" id="{3241F80E-D498-DA4A-0089-0F6765C6934D}"/>
              </a:ext>
            </a:extLst>
          </p:cNvPr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Mission-Based</a:t>
            </a:r>
            <a:r>
              <a:rPr lang="en-US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eVTOL Sizing Framework</a:t>
            </a:r>
            <a:r>
              <a:rPr lang="vi-VN" sz="40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vi-VN" sz="4000" b="0" i="1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evtolpy</a:t>
            </a:r>
          </a:p>
        </p:txBody>
      </p:sp>
      <p:pic>
        <p:nvPicPr>
          <p:cNvPr id="1913934318" name="Picture 1">
            <a:extLst>
              <a:ext uri="{FF2B5EF4-FFF2-40B4-BE49-F238E27FC236}">
                <a16:creationId xmlns:a16="http://schemas.microsoft.com/office/drawing/2014/main" id="{135B170D-8277-F19A-0AE9-04F2B5E402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6938" b="55420"/>
          <a:stretch/>
        </p:blipFill>
        <p:spPr bwMode="auto">
          <a:xfrm>
            <a:off x="3611880" y="5934075"/>
            <a:ext cx="2493645" cy="656590"/>
          </a:xfrm>
          <a:prstGeom prst="rect">
            <a:avLst/>
          </a:prstGeom>
        </p:spPr>
      </p:pic>
      <p:sp>
        <p:nvSpPr>
          <p:cNvPr id="308091290" name="Text Box 2">
            <a:extLst>
              <a:ext uri="{FF2B5EF4-FFF2-40B4-BE49-F238E27FC236}">
                <a16:creationId xmlns:a16="http://schemas.microsoft.com/office/drawing/2014/main" id="{AD3DCD6F-68A5-EEAC-416B-B11B6464889D}"/>
              </a:ext>
            </a:extLst>
          </p:cNvPr>
          <p:cNvSpPr txBox="1"/>
          <p:nvPr/>
        </p:nvSpPr>
        <p:spPr bwMode="auto">
          <a:xfrm>
            <a:off x="2278380" y="5614669"/>
            <a:ext cx="1332865" cy="79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vi-VN" sz="1800" b="1" i="1"/>
              <a:t>Transition Descend:</a:t>
            </a:r>
          </a:p>
        </p:txBody>
      </p:sp>
      <p:sp>
        <p:nvSpPr>
          <p:cNvPr id="260371734" name="Rectangles 3">
            <a:extLst>
              <a:ext uri="{FF2B5EF4-FFF2-40B4-BE49-F238E27FC236}">
                <a16:creationId xmlns:a16="http://schemas.microsoft.com/office/drawing/2014/main" id="{FD1CE194-8E75-8B7A-DC13-21AED2C5749D}"/>
              </a:ext>
            </a:extLst>
          </p:cNvPr>
          <p:cNvSpPr/>
          <p:nvPr/>
        </p:nvSpPr>
        <p:spPr bwMode="auto">
          <a:xfrm>
            <a:off x="1820545" y="4813300"/>
            <a:ext cx="3516630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(ii) </a:t>
            </a:r>
            <a:r>
              <a:rPr lang="en-US" sz="2000" b="1">
                <a:solidFill>
                  <a:srgbClr val="3A3C3D"/>
                </a:solidFill>
              </a:rPr>
              <a:t>Segment-Level Physics</a:t>
            </a:r>
          </a:p>
        </p:txBody>
      </p:sp>
      <p:sp>
        <p:nvSpPr>
          <p:cNvPr id="824867156" name="Rectangles 10">
            <a:extLst>
              <a:ext uri="{FF2B5EF4-FFF2-40B4-BE49-F238E27FC236}">
                <a16:creationId xmlns:a16="http://schemas.microsoft.com/office/drawing/2014/main" id="{4CE4CD41-C17A-2CC6-A9B8-FC92D00BE8B4}"/>
              </a:ext>
            </a:extLst>
          </p:cNvPr>
          <p:cNvSpPr/>
          <p:nvPr/>
        </p:nvSpPr>
        <p:spPr bwMode="auto">
          <a:xfrm>
            <a:off x="5641975" y="1529080"/>
            <a:ext cx="2303145" cy="64579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2026902" name="Rectangles 14">
            <a:extLst>
              <a:ext uri="{FF2B5EF4-FFF2-40B4-BE49-F238E27FC236}">
                <a16:creationId xmlns:a16="http://schemas.microsoft.com/office/drawing/2014/main" id="{B9B834C6-CA2E-0970-B4A4-D2A487E6E2EA}"/>
              </a:ext>
            </a:extLst>
          </p:cNvPr>
          <p:cNvSpPr/>
          <p:nvPr/>
        </p:nvSpPr>
        <p:spPr bwMode="auto">
          <a:xfrm>
            <a:off x="7428865" y="4801870"/>
            <a:ext cx="3475990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(iv) </a:t>
            </a:r>
            <a:r>
              <a:rPr lang="en-US" sz="2000" b="1">
                <a:solidFill>
                  <a:srgbClr val="3A3C3D"/>
                </a:solidFill>
              </a:rPr>
              <a:t>Iterative Aircraft Sizing</a:t>
            </a:r>
          </a:p>
        </p:txBody>
      </p:sp>
      <p:pic>
        <p:nvPicPr>
          <p:cNvPr id="1935574101" name="Picture 17">
            <a:extLst>
              <a:ext uri="{FF2B5EF4-FFF2-40B4-BE49-F238E27FC236}">
                <a16:creationId xmlns:a16="http://schemas.microsoft.com/office/drawing/2014/main" id="{A4EAC527-277E-3817-BA26-2CCDC79E12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760" b="2477"/>
          <a:stretch/>
        </p:blipFill>
        <p:spPr bwMode="auto">
          <a:xfrm>
            <a:off x="6445885" y="5577840"/>
            <a:ext cx="5535930" cy="393065"/>
          </a:xfrm>
          <a:prstGeom prst="rect">
            <a:avLst/>
          </a:prstGeom>
        </p:spPr>
      </p:pic>
      <p:pic>
        <p:nvPicPr>
          <p:cNvPr id="224418272" name="Picture 23">
            <a:extLst>
              <a:ext uri="{FF2B5EF4-FFF2-40B4-BE49-F238E27FC236}">
                <a16:creationId xmlns:a16="http://schemas.microsoft.com/office/drawing/2014/main" id="{CFBE253B-D3B6-0D15-E5A8-D91498F6B0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8460" t="24396" r="2423" b="20048"/>
          <a:stretch/>
        </p:blipFill>
        <p:spPr bwMode="auto">
          <a:xfrm>
            <a:off x="7945120" y="6330950"/>
            <a:ext cx="816610" cy="292100"/>
          </a:xfrm>
          <a:prstGeom prst="rect">
            <a:avLst/>
          </a:prstGeom>
        </p:spPr>
      </p:pic>
      <p:sp>
        <p:nvSpPr>
          <p:cNvPr id="1297004208" name="Rectangles 32">
            <a:extLst>
              <a:ext uri="{FF2B5EF4-FFF2-40B4-BE49-F238E27FC236}">
                <a16:creationId xmlns:a16="http://schemas.microsoft.com/office/drawing/2014/main" id="{3E27D3A7-9F4B-8BC3-6897-39891DC3435E}"/>
              </a:ext>
            </a:extLst>
          </p:cNvPr>
          <p:cNvSpPr/>
          <p:nvPr/>
        </p:nvSpPr>
        <p:spPr bwMode="auto">
          <a:xfrm>
            <a:off x="9946005" y="808355"/>
            <a:ext cx="1642745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(v) Output</a:t>
            </a:r>
          </a:p>
        </p:txBody>
      </p:sp>
      <p:grpSp>
        <p:nvGrpSpPr>
          <p:cNvPr id="652987713" name="Group 39">
            <a:extLst>
              <a:ext uri="{FF2B5EF4-FFF2-40B4-BE49-F238E27FC236}">
                <a16:creationId xmlns:a16="http://schemas.microsoft.com/office/drawing/2014/main" id="{BE1C4646-9490-8E5E-FE68-BA54DA7781DE}"/>
              </a:ext>
            </a:extLst>
          </p:cNvPr>
          <p:cNvGrpSpPr/>
          <p:nvPr/>
        </p:nvGrpSpPr>
        <p:grpSpPr bwMode="auto">
          <a:xfrm>
            <a:off x="3147695" y="2630806"/>
            <a:ext cx="2662555" cy="2052320"/>
            <a:chOff x="154" y="4404"/>
            <a:chExt cx="6518" cy="5022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44B281ED-4983-16AE-9158-C3781FDA38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154" y="4404"/>
              <a:ext cx="6518" cy="5022"/>
            </a:xfrm>
            <a:prstGeom prst="rect">
              <a:avLst/>
            </a:prstGeom>
          </p:spPr>
        </p:pic>
        <p:sp>
          <p:nvSpPr>
            <p:cNvPr id="45" name="Text Box 44">
              <a:extLst>
                <a:ext uri="{FF2B5EF4-FFF2-40B4-BE49-F238E27FC236}">
                  <a16:creationId xmlns:a16="http://schemas.microsoft.com/office/drawing/2014/main" id="{64C58FCA-B350-04F7-D2C9-037F1459BB7A}"/>
                </a:ext>
              </a:extLst>
            </p:cNvPr>
            <p:cNvSpPr txBox="1"/>
            <p:nvPr/>
          </p:nvSpPr>
          <p:spPr bwMode="auto">
            <a:xfrm>
              <a:off x="1617" y="7598"/>
              <a:ext cx="3642" cy="168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 i="1">
                  <a:solidFill>
                    <a:schemeClr val="tx1"/>
                  </a:solidFill>
                </a:rPr>
                <a:t>Reserve Mission</a:t>
              </a:r>
            </a:p>
          </p:txBody>
        </p:sp>
        <p:sp>
          <p:nvSpPr>
            <p:cNvPr id="47" name="Text Box 46">
              <a:extLst>
                <a:ext uri="{FF2B5EF4-FFF2-40B4-BE49-F238E27FC236}">
                  <a16:creationId xmlns:a16="http://schemas.microsoft.com/office/drawing/2014/main" id="{0ACD4C6D-89D1-BC8D-DA42-397FF7B656B8}"/>
                </a:ext>
              </a:extLst>
            </p:cNvPr>
            <p:cNvSpPr txBox="1"/>
            <p:nvPr/>
          </p:nvSpPr>
          <p:spPr bwMode="auto">
            <a:xfrm>
              <a:off x="1680" y="5378"/>
              <a:ext cx="3430" cy="82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 i="1">
                  <a:solidFill>
                    <a:schemeClr val="tx1"/>
                  </a:solidFill>
                </a:rPr>
                <a:t>Main Mission</a:t>
              </a:r>
            </a:p>
          </p:txBody>
        </p:sp>
      </p:grpSp>
      <p:sp>
        <p:nvSpPr>
          <p:cNvPr id="784962962" name="Text Box 7">
            <a:extLst>
              <a:ext uri="{FF2B5EF4-FFF2-40B4-BE49-F238E27FC236}">
                <a16:creationId xmlns:a16="http://schemas.microsoft.com/office/drawing/2014/main" id="{67A37650-A7E6-B827-7DBA-B7F09C83995A}"/>
              </a:ext>
            </a:extLst>
          </p:cNvPr>
          <p:cNvSpPr txBox="1"/>
          <p:nvPr/>
        </p:nvSpPr>
        <p:spPr bwMode="auto">
          <a:xfrm>
            <a:off x="4237990" y="1457960"/>
            <a:ext cx="1739900" cy="11290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25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Energy summed across mission</a:t>
            </a:r>
          </a:p>
        </p:txBody>
      </p:sp>
      <p:sp>
        <p:nvSpPr>
          <p:cNvPr id="902454184" name="Rectangles 11">
            <a:extLst>
              <a:ext uri="{FF2B5EF4-FFF2-40B4-BE49-F238E27FC236}">
                <a16:creationId xmlns:a16="http://schemas.microsoft.com/office/drawing/2014/main" id="{A2715539-A73D-2713-FA0C-D957A6336DF0}"/>
              </a:ext>
            </a:extLst>
          </p:cNvPr>
          <p:cNvSpPr/>
          <p:nvPr/>
        </p:nvSpPr>
        <p:spPr bwMode="auto">
          <a:xfrm>
            <a:off x="7778750" y="5530215"/>
            <a:ext cx="4251325" cy="50292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740602363" name="Group 45">
            <a:extLst>
              <a:ext uri="{FF2B5EF4-FFF2-40B4-BE49-F238E27FC236}">
                <a16:creationId xmlns:a16="http://schemas.microsoft.com/office/drawing/2014/main" id="{02DFC237-89CD-19E1-BA3E-2182980EC328}"/>
              </a:ext>
            </a:extLst>
          </p:cNvPr>
          <p:cNvGrpSpPr/>
          <p:nvPr/>
        </p:nvGrpSpPr>
        <p:grpSpPr bwMode="auto">
          <a:xfrm>
            <a:off x="7041515" y="6084570"/>
            <a:ext cx="2618740" cy="550545"/>
            <a:chOff x="11089" y="9582"/>
            <a:chExt cx="4124" cy="867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5894162-691D-4D7E-BB51-7B2E65F09AE4}"/>
                </a:ext>
              </a:extLst>
            </p:cNvPr>
            <p:cNvCxnSpPr/>
            <p:nvPr/>
          </p:nvCxnSpPr>
          <p:spPr bwMode="auto">
            <a:xfrm flipV="1">
              <a:off x="11094" y="9582"/>
              <a:ext cx="9" cy="859"/>
            </a:xfrm>
            <a:prstGeom prst="straightConnector1">
              <a:avLst/>
            </a:prstGeom>
            <a:ln w="19050"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0082658-763A-65F3-57CE-ECAACFC1A4E7}"/>
                </a:ext>
              </a:extLst>
            </p:cNvPr>
            <p:cNvCxnSpPr/>
            <p:nvPr/>
          </p:nvCxnSpPr>
          <p:spPr bwMode="auto">
            <a:xfrm flipH="1">
              <a:off x="11089" y="10437"/>
              <a:ext cx="4124" cy="4"/>
            </a:xfrm>
            <a:prstGeom prst="straightConnector1">
              <a:avLst/>
            </a:prstGeom>
            <a:ln w="19050"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4853475-3E3E-3FB4-E827-06684E97AD6F}"/>
                </a:ext>
              </a:extLst>
            </p:cNvPr>
            <p:cNvCxnSpPr/>
            <p:nvPr/>
          </p:nvCxnSpPr>
          <p:spPr bwMode="auto">
            <a:xfrm>
              <a:off x="15208" y="9703"/>
              <a:ext cx="3" cy="747"/>
            </a:xfrm>
            <a:prstGeom prst="straightConnector1">
              <a:avLst/>
            </a:prstGeom>
            <a:ln w="19050">
              <a:prstDash val="solid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5621838" name="Text Box 18">
            <a:extLst>
              <a:ext uri="{FF2B5EF4-FFF2-40B4-BE49-F238E27FC236}">
                <a16:creationId xmlns:a16="http://schemas.microsoft.com/office/drawing/2014/main" id="{55D12D15-809C-392A-0B1C-A8F1967A836A}"/>
              </a:ext>
            </a:extLst>
          </p:cNvPr>
          <p:cNvSpPr txBox="1"/>
          <p:nvPr/>
        </p:nvSpPr>
        <p:spPr bwMode="auto">
          <a:xfrm>
            <a:off x="8966834" y="1505675"/>
            <a:ext cx="3161665" cy="1200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>
              <a:lnSpc>
                <a:spcPct val="130000"/>
              </a:lnSpc>
              <a:spcAft>
                <a:spcPts val="863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Battery pack mass </a:t>
            </a:r>
          </a:p>
          <a:p>
            <a:pPr marL="0" lvl="0" indent="0" algn="l">
              <a:lnSpc>
                <a:spcPct val="130000"/>
              </a:lnSpc>
              <a:spcAft>
                <a:spcPts val="863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Per-segment power &amp; </a:t>
            </a:r>
            <a:r>
              <a:rPr lang="en-US" sz="1800" dirty="0" err="1">
                <a:solidFill>
                  <a:srgbClr val="1C140C"/>
                </a:solidFill>
              </a:rPr>
              <a:t>energ</a:t>
            </a:r>
            <a:r>
              <a:rPr lang="vi-VN" sz="1800" dirty="0">
                <a:solidFill>
                  <a:srgbClr val="1C140C"/>
                </a:solidFill>
              </a:rPr>
              <a:t>y</a:t>
            </a:r>
          </a:p>
          <a:p>
            <a:pPr marL="0" lvl="0" indent="0" algn="l">
              <a:lnSpc>
                <a:spcPct val="130000"/>
              </a:lnSpc>
              <a:spcAft>
                <a:spcPts val="863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End-of-flight battery DOD</a:t>
            </a:r>
          </a:p>
        </p:txBody>
      </p:sp>
      <p:grpSp>
        <p:nvGrpSpPr>
          <p:cNvPr id="572056635" name="Group 53">
            <a:extLst>
              <a:ext uri="{FF2B5EF4-FFF2-40B4-BE49-F238E27FC236}">
                <a16:creationId xmlns:a16="http://schemas.microsoft.com/office/drawing/2014/main" id="{E9A0D3CE-C213-42C0-A79C-5EB55938CBA0}"/>
              </a:ext>
            </a:extLst>
          </p:cNvPr>
          <p:cNvGrpSpPr/>
          <p:nvPr/>
        </p:nvGrpSpPr>
        <p:grpSpPr bwMode="auto">
          <a:xfrm>
            <a:off x="-41909" y="4875528"/>
            <a:ext cx="2223769" cy="1814036"/>
            <a:chOff x="0" y="0"/>
            <a:chExt cx="2223769" cy="1814036"/>
          </a:xfrm>
        </p:grpSpPr>
        <p:pic>
          <p:nvPicPr>
            <p:cNvPr id="69" name="Picture 68" descr="Gemini_Generated_Image_uccpy9uccpy9uccp">
              <a:extLst>
                <a:ext uri="{FF2B5EF4-FFF2-40B4-BE49-F238E27FC236}">
                  <a16:creationId xmlns:a16="http://schemas.microsoft.com/office/drawing/2014/main" id="{B6DA92A7-4FE9-4A03-7515-E37A4E731D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28851" b="30015"/>
            <a:stretch/>
          </p:blipFill>
          <p:spPr bwMode="auto">
            <a:xfrm flipH="1">
              <a:off x="299084" y="628013"/>
              <a:ext cx="1309369" cy="538479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AD9D9D9-D117-C09D-8C89-D39D0C3575FC}"/>
                </a:ext>
              </a:extLst>
            </p:cNvPr>
            <p:cNvCxnSpPr/>
            <p:nvPr/>
          </p:nvCxnSpPr>
          <p:spPr bwMode="auto">
            <a:xfrm flipV="1">
              <a:off x="951229" y="350519"/>
              <a:ext cx="6349" cy="366393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A8B5C7B7-AD71-FE88-2B62-0C20A662D7EF}"/>
                </a:ext>
              </a:extLst>
            </p:cNvPr>
            <p:cNvSpPr txBox="1"/>
            <p:nvPr/>
          </p:nvSpPr>
          <p:spPr bwMode="auto">
            <a:xfrm>
              <a:off x="1344929" y="974724"/>
              <a:ext cx="878839" cy="44195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Thrust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6C128BF-90F9-E083-758F-4412D78069EC}"/>
                </a:ext>
              </a:extLst>
            </p:cNvPr>
            <p:cNvCxnSpPr/>
            <p:nvPr/>
          </p:nvCxnSpPr>
          <p:spPr bwMode="auto">
            <a:xfrm>
              <a:off x="958214" y="1129029"/>
              <a:ext cx="1904" cy="241299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EF03383B-DD87-FC8E-CB74-B43B574ECA58}"/>
                </a:ext>
              </a:extLst>
            </p:cNvPr>
            <p:cNvSpPr txBox="1"/>
            <p:nvPr/>
          </p:nvSpPr>
          <p:spPr bwMode="auto">
            <a:xfrm>
              <a:off x="367029" y="1372075"/>
              <a:ext cx="1186814" cy="44195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Weight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15E3AA4E-A606-26BD-E078-E1F8FBE6E99E}"/>
                </a:ext>
              </a:extLst>
            </p:cNvPr>
            <p:cNvCxnSpPr/>
            <p:nvPr/>
          </p:nvCxnSpPr>
          <p:spPr bwMode="auto">
            <a:xfrm>
              <a:off x="1200149" y="1035683"/>
              <a:ext cx="261619" cy="128904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5C417B9-74DC-F4B5-9781-50D4DD9BC7EF}"/>
                </a:ext>
              </a:extLst>
            </p:cNvPr>
            <p:cNvCxnSpPr/>
            <p:nvPr/>
          </p:nvCxnSpPr>
          <p:spPr bwMode="auto">
            <a:xfrm flipH="1" flipV="1">
              <a:off x="388619" y="596899"/>
              <a:ext cx="269239" cy="140969"/>
            </a:xfrm>
            <a:prstGeom prst="straightConnector1">
              <a:avLst/>
            </a:prstGeom>
            <a:ln w="19050">
              <a:solidFill>
                <a:srgbClr val="1C140C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688DD734-E282-D1D4-A042-DFECA2F49787}"/>
                </a:ext>
              </a:extLst>
            </p:cNvPr>
            <p:cNvSpPr txBox="1"/>
            <p:nvPr/>
          </p:nvSpPr>
          <p:spPr bwMode="auto">
            <a:xfrm>
              <a:off x="628013" y="0"/>
              <a:ext cx="657859" cy="35750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Lift</a:t>
              </a:r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1B3CE008-1728-DC61-EAA3-07F209811117}"/>
                </a:ext>
              </a:extLst>
            </p:cNvPr>
            <p:cNvSpPr txBox="1"/>
            <p:nvPr/>
          </p:nvSpPr>
          <p:spPr bwMode="auto">
            <a:xfrm>
              <a:off x="0" y="231774"/>
              <a:ext cx="676274" cy="36512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lvl="0" algn="ctr">
                <a:lnSpc>
                  <a:spcPct val="125000"/>
                </a:lnSpc>
                <a:spcAft>
                  <a:spcPts val="200"/>
                </a:spcAft>
                <a:buSzPts val="3000"/>
                <a:buFont typeface="Arial"/>
                <a:defRPr/>
              </a:pPr>
              <a:r>
                <a:rPr lang="vi-VN" sz="1600">
                  <a:solidFill>
                    <a:srgbClr val="1C140C"/>
                  </a:solidFill>
                </a:rPr>
                <a:t>Drag</a:t>
              </a:r>
            </a:p>
          </p:txBody>
        </p:sp>
      </p:grpSp>
      <p:sp>
        <p:nvSpPr>
          <p:cNvPr id="2064411210" name="Text Box 51">
            <a:extLst>
              <a:ext uri="{FF2B5EF4-FFF2-40B4-BE49-F238E27FC236}">
                <a16:creationId xmlns:a16="http://schemas.microsoft.com/office/drawing/2014/main" id="{9E570B35-B75E-217F-211D-D3211C018543}"/>
              </a:ext>
            </a:extLst>
          </p:cNvPr>
          <p:cNvSpPr txBox="1"/>
          <p:nvPr/>
        </p:nvSpPr>
        <p:spPr bwMode="auto">
          <a:xfrm>
            <a:off x="8763634" y="2913243"/>
            <a:ext cx="3364865" cy="8972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>
              <a:lnSpc>
                <a:spcPct val="13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→</a:t>
            </a:r>
            <a:r>
              <a:rPr lang="en-US" sz="1800" b="1" dirty="0">
                <a:solidFill>
                  <a:srgbClr val="1C140C"/>
                </a:solidFill>
              </a:rPr>
              <a:t> </a:t>
            </a:r>
            <a:r>
              <a:rPr lang="vi-VN" sz="1800" b="1" dirty="0">
                <a:solidFill>
                  <a:srgbClr val="1C140C"/>
                </a:solidFill>
              </a:rPr>
              <a:t>Enables</a:t>
            </a:r>
            <a:r>
              <a:rPr lang="en-US" sz="1800" b="1" dirty="0">
                <a:solidFill>
                  <a:srgbClr val="1C140C"/>
                </a:solidFill>
              </a:rPr>
              <a:t> comparative design studies</a:t>
            </a:r>
          </a:p>
        </p:txBody>
      </p:sp>
      <p:sp>
        <p:nvSpPr>
          <p:cNvPr id="1711909137" name="Text">
            <a:extLst>
              <a:ext uri="{FF2B5EF4-FFF2-40B4-BE49-F238E27FC236}">
                <a16:creationId xmlns:a16="http://schemas.microsoft.com/office/drawing/2014/main" id="{38D5E8BB-112B-E8B6-3DE6-FBB53AC0B654}"/>
              </a:ext>
            </a:extLst>
          </p:cNvPr>
          <p:cNvSpPr>
            <a:spLocks noGrp="1"/>
          </p:cNvSpPr>
          <p:nvPr/>
        </p:nvSpPr>
        <p:spPr bwMode="auto">
          <a:xfrm>
            <a:off x="11890375" y="6529070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20949141" name="Rectangles 33">
            <a:extLst>
              <a:ext uri="{FF2B5EF4-FFF2-40B4-BE49-F238E27FC236}">
                <a16:creationId xmlns:a16="http://schemas.microsoft.com/office/drawing/2014/main" id="{1AA5A4F4-D61C-39B1-E499-2846EBF179C5}"/>
              </a:ext>
            </a:extLst>
          </p:cNvPr>
          <p:cNvSpPr/>
          <p:nvPr/>
        </p:nvSpPr>
        <p:spPr bwMode="auto">
          <a:xfrm>
            <a:off x="603884" y="808354"/>
            <a:ext cx="1642744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vi-VN" sz="2000" b="1">
                <a:solidFill>
                  <a:srgbClr val="3A3C3D"/>
                </a:solidFill>
              </a:rPr>
              <a:t>(i) Input</a:t>
            </a:r>
          </a:p>
        </p:txBody>
      </p:sp>
      <p:sp>
        <p:nvSpPr>
          <p:cNvPr id="1916992638" name="Rectangles 5">
            <a:extLst>
              <a:ext uri="{FF2B5EF4-FFF2-40B4-BE49-F238E27FC236}">
                <a16:creationId xmlns:a16="http://schemas.microsoft.com/office/drawing/2014/main" id="{357CF0F7-71F4-22C4-4C46-608424EC2961}"/>
              </a:ext>
            </a:extLst>
          </p:cNvPr>
          <p:cNvSpPr/>
          <p:nvPr/>
        </p:nvSpPr>
        <p:spPr bwMode="auto">
          <a:xfrm>
            <a:off x="4496118" y="808354"/>
            <a:ext cx="3199764" cy="6057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/>
          <a:p>
            <a:pPr lvl="0" algn="ctr">
              <a:lnSpc>
                <a:spcPct val="10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vi-VN" sz="2000" b="1" dirty="0">
                <a:solidFill>
                  <a:srgbClr val="3A3C3D"/>
                </a:solidFill>
              </a:rPr>
              <a:t>(iii) Total Mission Energy</a:t>
            </a:r>
          </a:p>
        </p:txBody>
      </p:sp>
      <p:sp>
        <p:nvSpPr>
          <p:cNvPr id="1619110020" name="Text Box 7">
            <a:extLst>
              <a:ext uri="{FF2B5EF4-FFF2-40B4-BE49-F238E27FC236}">
                <a16:creationId xmlns:a16="http://schemas.microsoft.com/office/drawing/2014/main" id="{04A69DBA-5487-DDC9-37C2-FE103F9E5972}"/>
              </a:ext>
            </a:extLst>
          </p:cNvPr>
          <p:cNvSpPr txBox="1"/>
          <p:nvPr/>
        </p:nvSpPr>
        <p:spPr bwMode="auto">
          <a:xfrm>
            <a:off x="2293777" y="873906"/>
            <a:ext cx="1374565" cy="47468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lvl="0" algn="l">
              <a:lnSpc>
                <a:spcPct val="10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en-US" sz="1800">
                <a:solidFill>
                  <a:srgbClr val="1C140C"/>
                </a:solidFill>
              </a:rPr>
              <a:t>(*.JSON)</a:t>
            </a: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C453F9E9-4751-A8A5-D3C8-80082F5EB08F}"/>
              </a:ext>
            </a:extLst>
          </p:cNvPr>
          <p:cNvSpPr txBox="1"/>
          <p:nvPr/>
        </p:nvSpPr>
        <p:spPr bwMode="auto">
          <a:xfrm>
            <a:off x="98878" y="1520115"/>
            <a:ext cx="3394023" cy="2769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20000"/>
              </a:lnSpc>
              <a:spcAft>
                <a:spcPts val="10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Aircraft configuration</a:t>
            </a:r>
            <a:r>
              <a:rPr lang="vi-VN" sz="1800" dirty="0">
                <a:solidFill>
                  <a:srgbClr val="1C140C"/>
                </a:solidFill>
              </a:rPr>
              <a:t> </a:t>
            </a:r>
            <a:br>
              <a:rPr lang="vi-VN" sz="1800" dirty="0">
                <a:solidFill>
                  <a:srgbClr val="1C140C"/>
                </a:solidFill>
              </a:rPr>
            </a:br>
            <a:r>
              <a:rPr lang="vi-VN" sz="1800" dirty="0">
                <a:solidFill>
                  <a:srgbClr val="1C140C"/>
                </a:solidFill>
              </a:rPr>
              <a:t>(g</a:t>
            </a:r>
            <a:r>
              <a:rPr lang="en-US" sz="1800" dirty="0" err="1">
                <a:solidFill>
                  <a:srgbClr val="1C140C"/>
                </a:solidFill>
              </a:rPr>
              <a:t>eometry</a:t>
            </a:r>
            <a:r>
              <a:rPr lang="vi-VN" sz="1800" dirty="0">
                <a:solidFill>
                  <a:srgbClr val="1C140C"/>
                </a:solidFill>
              </a:rPr>
              <a:t>, </a:t>
            </a:r>
            <a:r>
              <a:rPr lang="en-US" sz="1800" dirty="0">
                <a:solidFill>
                  <a:srgbClr val="1C140C"/>
                </a:solidFill>
              </a:rPr>
              <a:t>aerodynamics</a:t>
            </a:r>
            <a:r>
              <a:rPr lang="vi-VN" sz="1800" dirty="0">
                <a:solidFill>
                  <a:srgbClr val="1C140C"/>
                </a:solidFill>
              </a:rPr>
              <a:t>, p</a:t>
            </a:r>
            <a:r>
              <a:rPr lang="en-US" sz="1800" dirty="0" err="1">
                <a:solidFill>
                  <a:srgbClr val="1C140C"/>
                </a:solidFill>
              </a:rPr>
              <a:t>ropulsion</a:t>
            </a:r>
            <a:r>
              <a:rPr lang="vi-VN" sz="1800" dirty="0">
                <a:solidFill>
                  <a:srgbClr val="1C140C"/>
                </a:solidFill>
              </a:rPr>
              <a:t>,</a:t>
            </a:r>
            <a:r>
              <a:rPr lang="en-US" sz="1800" dirty="0">
                <a:solidFill>
                  <a:srgbClr val="1C140C"/>
                </a:solidFill>
              </a:rPr>
              <a:t> power system</a:t>
            </a:r>
            <a:r>
              <a:rPr lang="vi-VN" sz="1800" dirty="0">
                <a:solidFill>
                  <a:srgbClr val="1C140C"/>
                </a:solidFill>
              </a:rPr>
              <a:t>)</a:t>
            </a:r>
            <a:endParaRPr lang="en-US" sz="1800" dirty="0">
              <a:solidFill>
                <a:srgbClr val="1C140C"/>
              </a:solidFill>
            </a:endParaRPr>
          </a:p>
          <a:p>
            <a:pPr lvl="0" algn="l">
              <a:lnSpc>
                <a:spcPct val="120000"/>
              </a:lnSpc>
              <a:spcAft>
                <a:spcPts val="10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Battery &amp; environment</a:t>
            </a:r>
            <a:r>
              <a:rPr lang="vi-VN" sz="1800" dirty="0">
                <a:solidFill>
                  <a:srgbClr val="1C140C"/>
                </a:solidFill>
              </a:rPr>
              <a:t>al characteristics</a:t>
            </a:r>
          </a:p>
          <a:p>
            <a:pPr lvl="0" algn="l">
              <a:lnSpc>
                <a:spcPct val="120000"/>
              </a:lnSpc>
              <a:spcAft>
                <a:spcPts val="1000"/>
              </a:spcAft>
              <a:buSzPts val="3000"/>
              <a:buFont typeface="Arial"/>
              <a:defRPr/>
            </a:pPr>
            <a:r>
              <a:rPr lang="en-US" sz="1800" dirty="0">
                <a:solidFill>
                  <a:srgbClr val="1C140C"/>
                </a:solidFill>
              </a:rPr>
              <a:t>Mission profile</a:t>
            </a:r>
            <a:r>
              <a:rPr lang="vi-VN" sz="1800" dirty="0">
                <a:solidFill>
                  <a:srgbClr val="1C140C"/>
                </a:solidFill>
              </a:rPr>
              <a:t> (e.g.,</a:t>
            </a:r>
            <a:r>
              <a:rPr lang="en-US" sz="1800" dirty="0">
                <a:solidFill>
                  <a:srgbClr val="1C140C"/>
                </a:solidFill>
              </a:rPr>
              <a:t> Uber</a:t>
            </a:r>
            <a:r>
              <a:rPr lang="vi-VN" sz="1800" dirty="0">
                <a:solidFill>
                  <a:srgbClr val="1C140C"/>
                </a:solidFill>
              </a:rPr>
              <a:t>’s</a:t>
            </a:r>
            <a:r>
              <a:rPr lang="en-US" sz="1800" dirty="0">
                <a:solidFill>
                  <a:srgbClr val="1C140C"/>
                </a:solidFill>
              </a:rPr>
              <a:t> </a:t>
            </a:r>
            <a:br>
              <a:rPr lang="en-US" sz="1800" dirty="0">
                <a:solidFill>
                  <a:srgbClr val="1C140C"/>
                </a:solidFill>
              </a:rPr>
            </a:br>
            <a:r>
              <a:rPr lang="en-US" sz="1800" dirty="0">
                <a:solidFill>
                  <a:srgbClr val="1C140C"/>
                </a:solidFill>
              </a:rPr>
              <a:t>Air Taxi mission</a:t>
            </a:r>
            <a:r>
              <a:rPr lang="vi-VN" sz="1800" dirty="0">
                <a:solidFill>
                  <a:srgbClr val="1C140C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859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00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218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218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6218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41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91290" grpId="1"/>
      <p:bldP spid="260371734" grpId="1" animBg="1"/>
      <p:bldP spid="824867156" grpId="1" animBg="1"/>
      <p:bldP spid="42026902" grpId="1" animBg="1"/>
      <p:bldP spid="1297004208" grpId="0" animBg="1"/>
      <p:bldP spid="1297004208" grpId="1" animBg="1"/>
      <p:bldP spid="784962962" grpId="1"/>
      <p:bldP spid="902454184" grpId="1" animBg="1"/>
      <p:bldP spid="2064411210" grpId="0"/>
      <p:bldP spid="2064411210" grpId="1"/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601452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en-US" sz="4000" b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Modeling Electric UAM Aircrafts with </a:t>
            </a:r>
            <a:r>
              <a:rPr lang="en-US" sz="4000" b="0" i="1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evtolpy</a:t>
            </a:r>
          </a:p>
        </p:txBody>
      </p:sp>
      <p:pic>
        <p:nvPicPr>
          <p:cNvPr id="292047360" name="Picture 17"/>
          <p:cNvPicPr/>
          <p:nvPr/>
        </p:nvPicPr>
        <p:blipFill rotWithShape="1">
          <a:blip r:embed="rId3"/>
          <a:stretch/>
        </p:blipFill>
        <p:spPr bwMode="auto">
          <a:xfrm>
            <a:off x="9318625" y="4580255"/>
            <a:ext cx="2735580" cy="1845310"/>
          </a:xfrm>
          <a:prstGeom prst="rect">
            <a:avLst/>
          </a:prstGeom>
        </p:spPr>
      </p:pic>
      <p:sp>
        <p:nvSpPr>
          <p:cNvPr id="591685188" name="Section Title"/>
          <p:cNvSpPr/>
          <p:nvPr/>
        </p:nvSpPr>
        <p:spPr bwMode="auto">
          <a:xfrm>
            <a:off x="1508170" y="819005"/>
            <a:ext cx="5972136" cy="89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62131772" name="Picture 30"/>
          <p:cNvPicPr/>
          <p:nvPr/>
        </p:nvPicPr>
        <p:blipFill rotWithShape="1">
          <a:blip r:embed="rId4"/>
          <a:stretch/>
        </p:blipFill>
        <p:spPr bwMode="auto">
          <a:xfrm>
            <a:off x="9318625" y="676275"/>
            <a:ext cx="2735580" cy="1813560"/>
          </a:xfrm>
          <a:prstGeom prst="rect">
            <a:avLst/>
          </a:prstGeom>
        </p:spPr>
      </p:pic>
      <p:pic>
        <p:nvPicPr>
          <p:cNvPr id="2127584833" name="Picture 31"/>
          <p:cNvPicPr/>
          <p:nvPr/>
        </p:nvPicPr>
        <p:blipFill rotWithShape="1">
          <a:blip r:embed="rId5"/>
          <a:stretch/>
        </p:blipFill>
        <p:spPr bwMode="auto">
          <a:xfrm>
            <a:off x="9318625" y="2622550"/>
            <a:ext cx="2735580" cy="1824990"/>
          </a:xfrm>
          <a:prstGeom prst="rect">
            <a:avLst/>
          </a:prstGeom>
        </p:spPr>
      </p:pic>
      <p:sp>
        <p:nvSpPr>
          <p:cNvPr id="1817010048" name="Text Box 32"/>
          <p:cNvSpPr txBox="1"/>
          <p:nvPr/>
        </p:nvSpPr>
        <p:spPr bwMode="auto">
          <a:xfrm>
            <a:off x="10185400" y="679450"/>
            <a:ext cx="1866265" cy="36957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1800" i="1"/>
              <a:t>Archer Midnight</a:t>
            </a:r>
          </a:p>
        </p:txBody>
      </p:sp>
      <p:sp>
        <p:nvSpPr>
          <p:cNvPr id="1868436336" name="Text Box 54"/>
          <p:cNvSpPr txBox="1"/>
          <p:nvPr/>
        </p:nvSpPr>
        <p:spPr bwMode="auto">
          <a:xfrm>
            <a:off x="10186035" y="2627630"/>
            <a:ext cx="1862455" cy="36258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vi-VN" sz="1800" i="1"/>
              <a:t>Joby S4</a:t>
            </a:r>
          </a:p>
        </p:txBody>
      </p:sp>
      <p:sp>
        <p:nvSpPr>
          <p:cNvPr id="1208853778" name="Text Box 58"/>
          <p:cNvSpPr txBox="1"/>
          <p:nvPr/>
        </p:nvSpPr>
        <p:spPr bwMode="auto">
          <a:xfrm>
            <a:off x="10186035" y="4579620"/>
            <a:ext cx="1862455" cy="35623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en-US" sz="1800" i="1"/>
              <a:t>Supernal S-A2</a:t>
            </a:r>
          </a:p>
        </p:txBody>
      </p:sp>
      <p:sp>
        <p:nvSpPr>
          <p:cNvPr id="125371489" name="Text Box 59"/>
          <p:cNvSpPr txBox="1"/>
          <p:nvPr/>
        </p:nvSpPr>
        <p:spPr bwMode="auto">
          <a:xfrm>
            <a:off x="1109345" y="5370830"/>
            <a:ext cx="1244600" cy="89979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vi-VN" sz="2200" b="1">
                <a:solidFill>
                  <a:srgbClr val="3A3C3D"/>
                </a:solidFill>
              </a:rPr>
              <a:t>C</a:t>
            </a:r>
            <a:r>
              <a:rPr lang="en-US" sz="2200" b="1">
                <a:solidFill>
                  <a:srgbClr val="3A3C3D"/>
                </a:solidFill>
              </a:rPr>
              <a:t>ase stud</a:t>
            </a:r>
            <a:r>
              <a:rPr lang="vi-VN" sz="2200" b="1">
                <a:solidFill>
                  <a:srgbClr val="3A3C3D"/>
                </a:solidFill>
              </a:rPr>
              <a:t>y</a:t>
            </a:r>
          </a:p>
        </p:txBody>
      </p:sp>
      <p:sp>
        <p:nvSpPr>
          <p:cNvPr id="661423781" name="Text Box 60"/>
          <p:cNvSpPr txBox="1"/>
          <p:nvPr/>
        </p:nvSpPr>
        <p:spPr bwMode="auto">
          <a:xfrm>
            <a:off x="3802380" y="5066665"/>
            <a:ext cx="1390650" cy="5359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3A3C3D"/>
                </a:solidFill>
              </a:rPr>
              <a:t>1500 ft</a:t>
            </a:r>
          </a:p>
        </p:txBody>
      </p:sp>
      <p:sp>
        <p:nvSpPr>
          <p:cNvPr id="372984017" name="Text Box 61"/>
          <p:cNvSpPr txBox="1"/>
          <p:nvPr/>
        </p:nvSpPr>
        <p:spPr bwMode="auto">
          <a:xfrm>
            <a:off x="3802380" y="5996305"/>
            <a:ext cx="1390650" cy="50863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3A3C3D"/>
                </a:solidFill>
              </a:rPr>
              <a:t>3000 ft</a:t>
            </a:r>
          </a:p>
        </p:txBody>
      </p:sp>
      <p:sp>
        <p:nvSpPr>
          <p:cNvPr id="542062571" name="Text Box 62"/>
          <p:cNvSpPr txBox="1"/>
          <p:nvPr/>
        </p:nvSpPr>
        <p:spPr bwMode="auto">
          <a:xfrm>
            <a:off x="6055995" y="4958080"/>
            <a:ext cx="2294255" cy="170751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3A3C3D"/>
                </a:solidFill>
              </a:rPr>
              <a:t>Mission Range </a:t>
            </a:r>
            <a:br>
              <a:rPr lang="en-US" sz="2200">
                <a:solidFill>
                  <a:srgbClr val="3A3C3D"/>
                </a:solidFill>
              </a:rPr>
            </a:br>
            <a:r>
              <a:rPr lang="en-US" sz="2200">
                <a:solidFill>
                  <a:srgbClr val="3A3C3D"/>
                </a:solidFill>
              </a:rPr>
              <a:t>30 mi</a:t>
            </a:r>
            <a:br>
              <a:rPr lang="en-US" sz="2200">
                <a:solidFill>
                  <a:srgbClr val="3A3C3D"/>
                </a:solidFill>
              </a:rPr>
            </a:br>
            <a:r>
              <a:rPr lang="en-US" sz="2200">
                <a:solidFill>
                  <a:srgbClr val="3A3C3D"/>
                </a:solidFill>
              </a:rPr>
              <a:t>45 mi </a:t>
            </a:r>
            <a:br>
              <a:rPr lang="en-US" sz="2200">
                <a:solidFill>
                  <a:srgbClr val="3A3C3D"/>
                </a:solidFill>
              </a:rPr>
            </a:br>
            <a:r>
              <a:rPr lang="en-US" sz="2200">
                <a:solidFill>
                  <a:srgbClr val="3A3C3D"/>
                </a:solidFill>
              </a:rPr>
              <a:t>60 mi</a:t>
            </a:r>
          </a:p>
        </p:txBody>
      </p:sp>
      <p:cxnSp>
        <p:nvCxnSpPr>
          <p:cNvPr id="471511127" name="Elbow Connector 63"/>
          <p:cNvCxnSpPr>
            <a:stCxn id="125371489" idx="3"/>
          </p:cNvCxnSpPr>
          <p:nvPr/>
        </p:nvCxnSpPr>
        <p:spPr bwMode="auto">
          <a:xfrm flipV="1">
            <a:off x="2353944" y="5321300"/>
            <a:ext cx="1228090" cy="49974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101101" name="Elbow Connector 64"/>
          <p:cNvCxnSpPr/>
          <p:nvPr/>
        </p:nvCxnSpPr>
        <p:spPr bwMode="auto">
          <a:xfrm>
            <a:off x="2967990" y="5821045"/>
            <a:ext cx="577215" cy="483870"/>
          </a:xfrm>
          <a:prstGeom prst="bentConnector3">
            <a:avLst>
              <a:gd name="adj1" fmla="val -110"/>
            </a:avLst>
          </a:prstGeom>
          <a:ln w="1905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2036027" name="Plus 65"/>
          <p:cNvSpPr/>
          <p:nvPr/>
        </p:nvSpPr>
        <p:spPr bwMode="auto">
          <a:xfrm>
            <a:off x="5445125" y="5641340"/>
            <a:ext cx="358775" cy="354965"/>
          </a:xfrm>
          <a:prstGeom prst="mathPlus">
            <a:avLst>
              <a:gd name="adj1" fmla="val 23520"/>
            </a:avLst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/>
          </a:p>
        </p:txBody>
      </p:sp>
      <p:pic>
        <p:nvPicPr>
          <p:cNvPr id="2129658280" name="Picture 7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39395" y="748030"/>
            <a:ext cx="7383145" cy="2208530"/>
          </a:xfrm>
          <a:prstGeom prst="rect">
            <a:avLst/>
          </a:prstGeom>
        </p:spPr>
      </p:pic>
      <p:sp>
        <p:nvSpPr>
          <p:cNvPr id="79772813" name="Oval 73"/>
          <p:cNvSpPr/>
          <p:nvPr/>
        </p:nvSpPr>
        <p:spPr bwMode="auto">
          <a:xfrm>
            <a:off x="4007485" y="2481580"/>
            <a:ext cx="822960" cy="54864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79196883" name="Oval 74"/>
          <p:cNvSpPr/>
          <p:nvPr/>
        </p:nvSpPr>
        <p:spPr bwMode="auto">
          <a:xfrm>
            <a:off x="6255385" y="2461260"/>
            <a:ext cx="791845" cy="548640"/>
          </a:xfrm>
          <a:prstGeom prst="ellipse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8955491" name="Text"/>
          <p:cNvSpPr>
            <a:spLocks noGrp="1"/>
          </p:cNvSpPr>
          <p:nvPr/>
        </p:nvSpPr>
        <p:spPr bwMode="auto">
          <a:xfrm>
            <a:off x="239395" y="3455035"/>
            <a:ext cx="3337560" cy="107378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30000"/>
              </a:lnSpc>
              <a:spcBef>
                <a:spcPts val="0"/>
              </a:spcBef>
              <a:buClr>
                <a:schemeClr val="dk2"/>
              </a:buClr>
              <a:buSzPts val="3000"/>
              <a:buFont typeface="Arial"/>
              <a:defRPr/>
            </a:pPr>
            <a:r>
              <a:rPr lang="en-US" sz="22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Predicted range roughly matches public reports</a:t>
            </a:r>
          </a:p>
        </p:txBody>
      </p:sp>
      <p:sp>
        <p:nvSpPr>
          <p:cNvPr id="2114667277" name="Right Arrow 83"/>
          <p:cNvSpPr/>
          <p:nvPr/>
        </p:nvSpPr>
        <p:spPr bwMode="auto">
          <a:xfrm>
            <a:off x="3648074" y="3857625"/>
            <a:ext cx="765810" cy="17907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200"/>
          </a:p>
        </p:txBody>
      </p:sp>
      <p:sp>
        <p:nvSpPr>
          <p:cNvPr id="1073371493" name="Text"/>
          <p:cNvSpPr>
            <a:spLocks noGrp="1"/>
          </p:cNvSpPr>
          <p:nvPr/>
        </p:nvSpPr>
        <p:spPr bwMode="auto">
          <a:xfrm>
            <a:off x="4779645" y="3225165"/>
            <a:ext cx="3335655" cy="14566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Overflow="overflow" horzOverflow="overflow" vert="horz" wrap="square" lIns="91423" tIns="45699" rIns="91423" bIns="45699" numCol="1" spcCol="0" rtlCol="0" fromWordArt="0" anchor="ctr" anchorCtr="0" forceAA="0" compatLnSpc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ctr">
              <a:lnSpc>
                <a:spcPct val="130000"/>
              </a:lnSpc>
              <a:spcBef>
                <a:spcPts val="0"/>
              </a:spcBef>
              <a:buClr>
                <a:schemeClr val="dk2"/>
              </a:buClr>
              <a:buSzPts val="3000"/>
              <a:buFont typeface="Arial"/>
              <a:defRPr/>
            </a:pPr>
            <a:r>
              <a:rPr lang="en-US" sz="2200" i="1">
                <a:solidFill>
                  <a:srgbClr val="3A3C3D"/>
                </a:solidFill>
                <a:latin typeface="Arial"/>
                <a:ea typeface="Arial"/>
                <a:cs typeface="Arial"/>
              </a:rPr>
              <a:t>Sufficient accuracy</a:t>
            </a:r>
            <a:r>
              <a:rPr lang="vi-VN" sz="2200" i="1">
                <a:solidFill>
                  <a:srgbClr val="3A3C3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i="1">
                <a:solidFill>
                  <a:srgbClr val="3A3C3D"/>
                </a:solidFill>
                <a:latin typeface="Arial"/>
                <a:ea typeface="Arial"/>
                <a:cs typeface="Arial"/>
              </a:rPr>
              <a:t>for conceptual design and</a:t>
            </a:r>
            <a:r>
              <a:rPr lang="vi-VN" sz="2200" i="1">
                <a:solidFill>
                  <a:srgbClr val="3A3C3D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i="1">
                <a:solidFill>
                  <a:srgbClr val="3A3C3D"/>
                </a:solidFill>
                <a:latin typeface="Arial"/>
                <a:ea typeface="Arial"/>
                <a:cs typeface="Arial"/>
              </a:rPr>
              <a:t>comparative studies</a:t>
            </a:r>
          </a:p>
        </p:txBody>
      </p:sp>
      <p:sp>
        <p:nvSpPr>
          <p:cNvPr id="1924493026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>
                <a:solidFill>
                  <a:srgbClr val="3A3C3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65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01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9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5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66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37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43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58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04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5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7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42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9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03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06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7010048" grpId="0" animBg="1"/>
      <p:bldP spid="1817010048" grpId="1" animBg="1"/>
      <p:bldP spid="1868436336" grpId="0" animBg="1"/>
      <p:bldP spid="1868436336" grpId="1" animBg="1"/>
      <p:bldP spid="1208853778" grpId="0" animBg="1"/>
      <p:bldP spid="1208853778" grpId="1" animBg="1"/>
      <p:bldP spid="125371489" grpId="0" bldLvl="0" animBg="1"/>
      <p:bldP spid="125371489" grpId="1" animBg="1"/>
      <p:bldP spid="661423781" grpId="0" bldLvl="0" animBg="1"/>
      <p:bldP spid="661423781" grpId="1" animBg="1"/>
      <p:bldP spid="372984017" grpId="0" bldLvl="0" animBg="1"/>
      <p:bldP spid="372984017" grpId="1" animBg="1"/>
      <p:bldP spid="542062571" grpId="0" bldLvl="0" animBg="1"/>
      <p:bldP spid="542062571" grpId="1" animBg="1"/>
      <p:bldP spid="952036027" grpId="0" bldLvl="0" animBg="1"/>
      <p:bldP spid="952036027" grpId="1" animBg="1"/>
      <p:bldP spid="79772813" grpId="0" bldLvl="0" animBg="1"/>
      <p:bldP spid="79772813" grpId="1" animBg="1"/>
      <p:bldP spid="2079196883" grpId="0" bldLvl="0" animBg="1"/>
      <p:bldP spid="2079196883" grpId="1" animBg="1"/>
      <p:bldP spid="2058955491" grpId="0"/>
      <p:bldP spid="2058955491" grpId="1"/>
      <p:bldP spid="2114667277" grpId="0" bldLvl="0" animBg="1"/>
      <p:bldP spid="2114667277" grpId="1" animBg="1"/>
      <p:bldP spid="1073371493" grpId="0" bldLvl="0" animBg="1"/>
      <p:bldP spid="107337149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326610" name="Rounded Rectangle 12"/>
          <p:cNvSpPr/>
          <p:nvPr/>
        </p:nvSpPr>
        <p:spPr bwMode="auto">
          <a:xfrm>
            <a:off x="3048635" y="2155190"/>
            <a:ext cx="3582035" cy="96710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2973395" name="Text Box 11"/>
          <p:cNvSpPr txBox="1"/>
          <p:nvPr/>
        </p:nvSpPr>
        <p:spPr bwMode="auto">
          <a:xfrm>
            <a:off x="540385" y="3051175"/>
            <a:ext cx="220408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800" i="1">
                <a:solidFill>
                  <a:srgbClr val="3A3C3D"/>
                </a:solidFill>
              </a:rPr>
              <a:t>Segment Energy</a:t>
            </a:r>
          </a:p>
        </p:txBody>
      </p:sp>
      <p:sp>
        <p:nvSpPr>
          <p:cNvPr id="257635776" name="Rectangles 1"/>
          <p:cNvSpPr/>
          <p:nvPr/>
        </p:nvSpPr>
        <p:spPr bwMode="auto">
          <a:xfrm>
            <a:off x="3201670" y="2373630"/>
            <a:ext cx="445135" cy="146050"/>
          </a:xfrm>
          <a:prstGeom prst="rect">
            <a:avLst/>
          </a:prstGeom>
          <a:solidFill>
            <a:srgbClr val="4F80B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410656" name="Rectangles 3"/>
          <p:cNvSpPr/>
          <p:nvPr/>
        </p:nvSpPr>
        <p:spPr bwMode="auto">
          <a:xfrm>
            <a:off x="3201670" y="2757805"/>
            <a:ext cx="445135" cy="146050"/>
          </a:xfrm>
          <a:prstGeom prst="rect">
            <a:avLst/>
          </a:prstGeom>
          <a:solidFill>
            <a:srgbClr val="E5751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6895887" name="Text Box 4"/>
          <p:cNvSpPr txBox="1"/>
          <p:nvPr/>
        </p:nvSpPr>
        <p:spPr bwMode="auto">
          <a:xfrm>
            <a:off x="3695065" y="2236470"/>
            <a:ext cx="263525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600">
                <a:solidFill>
                  <a:srgbClr val="3A3C3D"/>
                </a:solidFill>
                <a:latin typeface="DejaVu Sans"/>
                <a:cs typeface="DejaVu Sans"/>
              </a:rPr>
              <a:t>Baseline (No ABU)</a:t>
            </a:r>
          </a:p>
        </p:txBody>
      </p:sp>
      <p:sp>
        <p:nvSpPr>
          <p:cNvPr id="1159711407" name="Text Box 8"/>
          <p:cNvSpPr txBox="1"/>
          <p:nvPr/>
        </p:nvSpPr>
        <p:spPr bwMode="auto">
          <a:xfrm>
            <a:off x="3695065" y="2622550"/>
            <a:ext cx="2935605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600">
                <a:solidFill>
                  <a:srgbClr val="3A3C3D"/>
                </a:solidFill>
                <a:latin typeface="DejaVu Sans"/>
                <a:cs typeface="DejaVu Sans"/>
              </a:rPr>
              <a:t>With Assisted-Takeoff ABU</a:t>
            </a:r>
          </a:p>
        </p:txBody>
      </p:sp>
      <p:sp>
        <p:nvSpPr>
          <p:cNvPr id="1456721927" name="Text Box 13"/>
          <p:cNvSpPr txBox="1"/>
          <p:nvPr/>
        </p:nvSpPr>
        <p:spPr bwMode="auto">
          <a:xfrm>
            <a:off x="84455" y="694055"/>
            <a:ext cx="1220470" cy="793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 b="1" dirty="0">
                <a:solidFill>
                  <a:srgbClr val="3A3C3D"/>
                </a:solidFill>
              </a:rPr>
              <a:t>Detach point</a:t>
            </a:r>
          </a:p>
        </p:txBody>
      </p:sp>
      <p:sp>
        <p:nvSpPr>
          <p:cNvPr id="1878055273" name="Text Box 17"/>
          <p:cNvSpPr txBox="1"/>
          <p:nvPr/>
        </p:nvSpPr>
        <p:spPr bwMode="auto">
          <a:xfrm>
            <a:off x="2050415" y="1487805"/>
            <a:ext cx="103886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 i="1">
                <a:solidFill>
                  <a:srgbClr val="3A3C3D"/>
                </a:solidFill>
              </a:rPr>
              <a:t>After Cruise</a:t>
            </a:r>
          </a:p>
        </p:txBody>
      </p:sp>
      <p:grpSp>
        <p:nvGrpSpPr>
          <p:cNvPr id="1782077681" name="Group 14"/>
          <p:cNvGrpSpPr/>
          <p:nvPr/>
        </p:nvGrpSpPr>
        <p:grpSpPr bwMode="auto">
          <a:xfrm>
            <a:off x="1233805" y="848360"/>
            <a:ext cx="816610" cy="2203450"/>
            <a:chOff x="2255" y="1072"/>
            <a:chExt cx="1286" cy="3204"/>
          </a:xfrm>
        </p:grpSpPr>
        <p:pic>
          <p:nvPicPr>
            <p:cNvPr id="8" name="Picture 7" descr="segment-energy-before-after-detach"/>
            <p:cNvPicPr>
              <a:picLocks noChangeAspect="1"/>
            </p:cNvPicPr>
            <p:nvPr/>
          </p:nvPicPr>
          <p:blipFill rotWithShape="1">
            <a:blip r:embed="rId3"/>
            <a:srcRect l="29232" t="9233" r="61231" b="33789"/>
            <a:stretch/>
          </p:blipFill>
          <p:spPr bwMode="auto">
            <a:xfrm>
              <a:off x="2255" y="1072"/>
              <a:ext cx="1286" cy="3205"/>
            </a:xfrm>
            <a:prstGeom prst="rect">
              <a:avLst/>
            </a:prstGeom>
          </p:spPr>
        </p:pic>
        <p:sp>
          <p:nvSpPr>
            <p:cNvPr id="11" name="Rectangles 10"/>
            <p:cNvSpPr/>
            <p:nvPr/>
          </p:nvSpPr>
          <p:spPr bwMode="auto">
            <a:xfrm>
              <a:off x="2255" y="1072"/>
              <a:ext cx="517" cy="2110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35804575" name="Text Box 15"/>
          <p:cNvSpPr txBox="1"/>
          <p:nvPr/>
        </p:nvSpPr>
        <p:spPr bwMode="auto">
          <a:xfrm>
            <a:off x="266065" y="2237105"/>
            <a:ext cx="1038860" cy="755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 i="1">
                <a:solidFill>
                  <a:srgbClr val="3A3C3D"/>
                </a:solidFill>
              </a:rPr>
              <a:t>Before Cruise</a:t>
            </a:r>
          </a:p>
        </p:txBody>
      </p:sp>
      <p:cxnSp>
        <p:nvCxnSpPr>
          <p:cNvPr id="1717961137" name="Straight Arrow Connector 36"/>
          <p:cNvCxnSpPr/>
          <p:nvPr/>
        </p:nvCxnSpPr>
        <p:spPr bwMode="auto">
          <a:xfrm>
            <a:off x="1162685" y="1096645"/>
            <a:ext cx="326390" cy="0"/>
          </a:xfrm>
          <a:prstGeom prst="straightConnector1">
            <a:avLst/>
          </a:prstGeom>
          <a:ln w="38100">
            <a:solidFill>
              <a:srgbClr val="3A414A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30335357" name="Picture 2" descr="total_energy_with_without_at_abu_all_ranges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7665" y="1606550"/>
            <a:ext cx="11481435" cy="4050665"/>
          </a:xfrm>
          <a:prstGeom prst="rect">
            <a:avLst/>
          </a:prstGeom>
        </p:spPr>
      </p:pic>
      <p:sp>
        <p:nvSpPr>
          <p:cNvPr id="1560277940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Assisted-Takeoff ABUs Reduce Mission Energy</a:t>
            </a:r>
          </a:p>
        </p:txBody>
      </p:sp>
      <p:sp>
        <p:nvSpPr>
          <p:cNvPr id="994697494" name="Text Box 21"/>
          <p:cNvSpPr txBox="1"/>
          <p:nvPr/>
        </p:nvSpPr>
        <p:spPr bwMode="auto">
          <a:xfrm>
            <a:off x="5817870" y="5711825"/>
            <a:ext cx="56908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000">
                <a:solidFill>
                  <a:srgbClr val="3A3C3D"/>
                </a:solidFill>
              </a:rPr>
              <a:t>Per-</a:t>
            </a:r>
            <a:r>
              <a:rPr lang="vi-VN" sz="2000">
                <a:solidFill>
                  <a:srgbClr val="3A3C3D"/>
                </a:solidFill>
              </a:rPr>
              <a:t>M</a:t>
            </a:r>
            <a:r>
              <a:rPr lang="en-US" sz="2000">
                <a:solidFill>
                  <a:srgbClr val="3A3C3D"/>
                </a:solidFill>
              </a:rPr>
              <a:t>ission </a:t>
            </a:r>
            <a:r>
              <a:rPr lang="vi-VN" sz="2000">
                <a:solidFill>
                  <a:srgbClr val="3A3C3D"/>
                </a:solidFill>
              </a:rPr>
              <a:t>E</a:t>
            </a:r>
            <a:r>
              <a:rPr lang="en-US" sz="2000">
                <a:solidFill>
                  <a:srgbClr val="3A3C3D"/>
                </a:solidFill>
              </a:rPr>
              <a:t>nergy </a:t>
            </a:r>
            <a:r>
              <a:rPr lang="vi-VN" sz="2000">
                <a:solidFill>
                  <a:srgbClr val="3A3C3D"/>
                </a:solidFill>
              </a:rPr>
              <a:t>C</a:t>
            </a:r>
            <a:r>
              <a:rPr lang="en-US" sz="2000">
                <a:solidFill>
                  <a:srgbClr val="3A3C3D"/>
                </a:solidFill>
              </a:rPr>
              <a:t>onsumption </a:t>
            </a:r>
            <a:r>
              <a:rPr lang="vi-VN" sz="2000">
                <a:solidFill>
                  <a:srgbClr val="3A3C3D"/>
                </a:solidFill>
              </a:rPr>
              <a:t>W</a:t>
            </a:r>
            <a:r>
              <a:rPr lang="en-US" sz="2000">
                <a:solidFill>
                  <a:srgbClr val="3A3C3D"/>
                </a:solidFill>
              </a:rPr>
              <a:t>ith and </a:t>
            </a:r>
            <a:r>
              <a:rPr lang="vi-VN" sz="2000">
                <a:solidFill>
                  <a:srgbClr val="3A3C3D"/>
                </a:solidFill>
              </a:rPr>
              <a:t>W</a:t>
            </a:r>
            <a:r>
              <a:rPr lang="en-US" sz="2000">
                <a:solidFill>
                  <a:srgbClr val="3A3C3D"/>
                </a:solidFill>
              </a:rPr>
              <a:t>ithout </a:t>
            </a:r>
            <a:r>
              <a:rPr lang="vi-VN" sz="2000">
                <a:solidFill>
                  <a:srgbClr val="3A3C3D"/>
                </a:solidFill>
              </a:rPr>
              <a:t>A</a:t>
            </a:r>
            <a:r>
              <a:rPr lang="en-US" sz="2000">
                <a:solidFill>
                  <a:srgbClr val="3A3C3D"/>
                </a:solidFill>
              </a:rPr>
              <a:t>ssisted-</a:t>
            </a:r>
            <a:r>
              <a:rPr lang="vi-VN" sz="2000">
                <a:solidFill>
                  <a:srgbClr val="3A3C3D"/>
                </a:solidFill>
              </a:rPr>
              <a:t>T</a:t>
            </a:r>
            <a:r>
              <a:rPr lang="en-US" sz="2000">
                <a:solidFill>
                  <a:srgbClr val="3A3C3D"/>
                </a:solidFill>
              </a:rPr>
              <a:t>akeoff ABUs</a:t>
            </a:r>
          </a:p>
        </p:txBody>
      </p:sp>
      <p:sp>
        <p:nvSpPr>
          <p:cNvPr id="1860801020" name="Rectangles 19"/>
          <p:cNvSpPr/>
          <p:nvPr/>
        </p:nvSpPr>
        <p:spPr bwMode="auto">
          <a:xfrm>
            <a:off x="1105535" y="1772285"/>
            <a:ext cx="5293360" cy="2981960"/>
          </a:xfrm>
          <a:prstGeom prst="rect">
            <a:avLst/>
          </a:prstGeom>
          <a:solidFill>
            <a:schemeClr val="accent4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05360902" name="Rectangles 22"/>
          <p:cNvSpPr/>
          <p:nvPr/>
        </p:nvSpPr>
        <p:spPr bwMode="auto">
          <a:xfrm>
            <a:off x="6951980" y="1772285"/>
            <a:ext cx="4793615" cy="2981960"/>
          </a:xfrm>
          <a:prstGeom prst="rect">
            <a:avLst/>
          </a:prstGeom>
          <a:solidFill>
            <a:schemeClr val="accent4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58040728" name="Text Box 24"/>
          <p:cNvSpPr txBox="1"/>
          <p:nvPr/>
        </p:nvSpPr>
        <p:spPr bwMode="auto">
          <a:xfrm>
            <a:off x="3089275" y="629920"/>
            <a:ext cx="27285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 b="1">
                <a:solidFill>
                  <a:srgbClr val="3A3C3D"/>
                </a:solidFill>
              </a:rPr>
              <a:t> </a:t>
            </a:r>
            <a:r>
              <a:rPr lang="en-US" sz="1800" b="1">
                <a:solidFill>
                  <a:srgbClr val="3A3C3D"/>
                </a:solidFill>
              </a:rPr>
              <a:t>Joby S4 </a:t>
            </a:r>
            <a:br>
              <a:rPr lang="en-US" sz="1800" b="1">
                <a:solidFill>
                  <a:srgbClr val="3A3C3D"/>
                </a:solidFill>
              </a:rPr>
            </a:br>
            <a:r>
              <a:rPr lang="vi-VN" sz="1800" b="1">
                <a:solidFill>
                  <a:srgbClr val="3A3C3D"/>
                </a:solidFill>
              </a:rPr>
              <a:t>(</a:t>
            </a:r>
            <a:r>
              <a:rPr lang="en-US" sz="1800" b="1">
                <a:solidFill>
                  <a:srgbClr val="3A3C3D"/>
                </a:solidFill>
              </a:rPr>
              <a:t>30 mi mission</a:t>
            </a:r>
            <a:r>
              <a:rPr lang="vi-VN" sz="1800" b="1">
                <a:solidFill>
                  <a:srgbClr val="3A3C3D"/>
                </a:solidFill>
              </a:rPr>
              <a:t>, </a:t>
            </a:r>
            <a:r>
              <a:rPr lang="en-US" sz="1800" b="1">
                <a:solidFill>
                  <a:srgbClr val="3A3C3D"/>
                </a:solidFill>
              </a:rPr>
              <a:t>3000 ft</a:t>
            </a:r>
            <a:r>
              <a:rPr lang="vi-VN" sz="1800" b="1">
                <a:solidFill>
                  <a:srgbClr val="3A3C3D"/>
                </a:solidFill>
              </a:rPr>
              <a:t>)</a:t>
            </a:r>
          </a:p>
        </p:txBody>
      </p:sp>
      <p:cxnSp>
        <p:nvCxnSpPr>
          <p:cNvPr id="2044628156" name="Straight Arrow Connector 25"/>
          <p:cNvCxnSpPr/>
          <p:nvPr/>
        </p:nvCxnSpPr>
        <p:spPr bwMode="auto">
          <a:xfrm flipH="1" flipV="1">
            <a:off x="2614930" y="1137285"/>
            <a:ext cx="43370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62177311" name="Text Box 16"/>
          <p:cNvSpPr txBox="1"/>
          <p:nvPr/>
        </p:nvSpPr>
        <p:spPr bwMode="auto">
          <a:xfrm>
            <a:off x="395605" y="5168265"/>
            <a:ext cx="4984750" cy="146177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400" dirty="0">
                <a:solidFill>
                  <a:srgbClr val="3A3C3D"/>
                </a:solidFill>
              </a:rPr>
              <a:t>Takeoff ABUs reduce total mission energy </a:t>
            </a:r>
            <a:r>
              <a:rPr lang="en-US" sz="2400" b="1" dirty="0">
                <a:solidFill>
                  <a:srgbClr val="3A3C3D"/>
                </a:solidFill>
              </a:rPr>
              <a:t>7–24%</a:t>
            </a:r>
            <a:r>
              <a:rPr lang="en-US" sz="2400" dirty="0">
                <a:solidFill>
                  <a:srgbClr val="3A3C3D"/>
                </a:solidFill>
              </a:rPr>
              <a:t> by </a:t>
            </a:r>
            <a:r>
              <a:rPr lang="vi-VN" sz="2400" dirty="0">
                <a:solidFill>
                  <a:srgbClr val="3A3C3D"/>
                </a:solidFill>
              </a:rPr>
              <a:t>offloading</a:t>
            </a:r>
            <a:r>
              <a:rPr lang="en-US" sz="2400" dirty="0">
                <a:solidFill>
                  <a:srgbClr val="3A3C3D"/>
                </a:solidFill>
              </a:rPr>
              <a:t> onboard battery mass.</a:t>
            </a:r>
          </a:p>
        </p:txBody>
      </p:sp>
      <p:sp>
        <p:nvSpPr>
          <p:cNvPr id="2056886061" name="Oval 23"/>
          <p:cNvSpPr/>
          <p:nvPr/>
        </p:nvSpPr>
        <p:spPr bwMode="auto">
          <a:xfrm>
            <a:off x="6216015" y="3133090"/>
            <a:ext cx="923925" cy="1994535"/>
          </a:xfrm>
          <a:prstGeom prst="ellipse">
            <a:avLst/>
          </a:prstGeom>
          <a:noFill/>
          <a:ln w="28575" cap="rnd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59704791" name="Elbow Connector 26"/>
          <p:cNvCxnSpPr>
            <a:endCxn id="2056886061" idx="0"/>
          </p:cNvCxnSpPr>
          <p:nvPr/>
        </p:nvCxnSpPr>
        <p:spPr bwMode="auto">
          <a:xfrm rot="5400000" flipV="1">
            <a:off x="5231130" y="1685925"/>
            <a:ext cx="2166620" cy="727075"/>
          </a:xfrm>
          <a:prstGeom prst="bentConnector3">
            <a:avLst>
              <a:gd name="adj1" fmla="val -4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58065630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7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04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62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63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41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89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71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32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0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05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9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33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69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80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36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70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17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4326610" grpId="0" animBg="1"/>
      <p:bldP spid="1184326610" grpId="1" animBg="1"/>
      <p:bldP spid="162973395" grpId="0"/>
      <p:bldP spid="162973395" grpId="1"/>
      <p:bldP spid="257635776" grpId="0" bldLvl="0" animBg="1"/>
      <p:bldP spid="257635776" grpId="1" animBg="1"/>
      <p:bldP spid="460410656" grpId="0" bldLvl="0" animBg="1"/>
      <p:bldP spid="460410656" grpId="1" animBg="1"/>
      <p:bldP spid="566895887" grpId="0"/>
      <p:bldP spid="566895887" grpId="1"/>
      <p:bldP spid="1159711407" grpId="0"/>
      <p:bldP spid="1159711407" grpId="1"/>
      <p:bldP spid="1456721927" grpId="0"/>
      <p:bldP spid="1456721927" grpId="1"/>
      <p:bldP spid="1878055273" grpId="0"/>
      <p:bldP spid="1878055273" grpId="1"/>
      <p:bldP spid="1935804575" grpId="0"/>
      <p:bldP spid="1935804575" grpId="1"/>
      <p:bldP spid="994697494" grpId="0"/>
      <p:bldP spid="994697494" grpId="1"/>
      <p:bldP spid="1860801020" grpId="0" bldLvl="0" animBg="1"/>
      <p:bldP spid="1860801020" grpId="1" animBg="1"/>
      <p:bldP spid="705360902" grpId="0" bldLvl="0" animBg="1"/>
      <p:bldP spid="705360902" grpId="1" animBg="1"/>
      <p:bldP spid="1058040728" grpId="0"/>
      <p:bldP spid="1058040728" grpId="1"/>
      <p:bldP spid="1262177311" grpId="0" bldLvl="0" animBg="1"/>
      <p:bldP spid="1262177311" grpId="1" animBg="1"/>
      <p:bldP spid="2056886061" grpId="0" bldLvl="0" animBg="1"/>
      <p:bldP spid="2056886061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857542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625924889" name="Picture 5" descr="lz_depth_of_discharg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4805" y="1322070"/>
            <a:ext cx="11489690" cy="4923790"/>
          </a:xfrm>
          <a:prstGeom prst="rect">
            <a:avLst/>
          </a:prstGeom>
        </p:spPr>
      </p:pic>
      <p:sp>
        <p:nvSpPr>
          <p:cNvPr id="200033462" name="Maroon rectangle"/>
          <p:cNvSpPr/>
          <p:nvPr/>
        </p:nvSpPr>
        <p:spPr bwMode="auto">
          <a:xfrm>
            <a:off x="0" y="-6985"/>
            <a:ext cx="12179934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Assisted-Cruise ABUs Reduce Battery Depth-of-Discharge</a:t>
            </a:r>
            <a:endParaRPr lang="en-US" sz="36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1392392" name="Text Box 21"/>
          <p:cNvSpPr txBox="1"/>
          <p:nvPr/>
        </p:nvSpPr>
        <p:spPr bwMode="auto">
          <a:xfrm>
            <a:off x="2312034" y="735964"/>
            <a:ext cx="7934960" cy="645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400">
                <a:solidFill>
                  <a:srgbClr val="3D4144"/>
                </a:solidFill>
              </a:rPr>
              <a:t>Percent of Battery Depleted (Higher = </a:t>
            </a:r>
            <a:r>
              <a:rPr lang="vi-VN" sz="2400">
                <a:solidFill>
                  <a:srgbClr val="3D4144"/>
                </a:solidFill>
              </a:rPr>
              <a:t>W</a:t>
            </a:r>
            <a:r>
              <a:rPr lang="en-US" sz="2400">
                <a:solidFill>
                  <a:srgbClr val="3D4144"/>
                </a:solidFill>
              </a:rPr>
              <a:t>orse)</a:t>
            </a:r>
          </a:p>
        </p:txBody>
      </p:sp>
      <p:sp>
        <p:nvSpPr>
          <p:cNvPr id="120436994" name="Text Box 16"/>
          <p:cNvSpPr txBox="1"/>
          <p:nvPr/>
        </p:nvSpPr>
        <p:spPr bwMode="auto">
          <a:xfrm>
            <a:off x="6330950" y="5509260"/>
            <a:ext cx="5227955" cy="11271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indent="0" algn="ctr">
              <a:lnSpc>
                <a:spcPct val="120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400">
                <a:solidFill>
                  <a:srgbClr val="3A3C3D"/>
                </a:solidFill>
              </a:rPr>
              <a:t>Short-range missions complete</a:t>
            </a:r>
          </a:p>
          <a:p>
            <a:pPr marL="0" indent="0" algn="ctr">
              <a:lnSpc>
                <a:spcPct val="120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400">
                <a:solidFill>
                  <a:srgbClr val="3A3C3D"/>
                </a:solidFill>
              </a:rPr>
              <a:t>with </a:t>
            </a:r>
            <a:r>
              <a:rPr lang="en-US" sz="2400" b="1">
                <a:solidFill>
                  <a:srgbClr val="3A3C3D"/>
                </a:solidFill>
              </a:rPr>
              <a:t>minimal</a:t>
            </a:r>
            <a:r>
              <a:rPr lang="en-US" sz="2400">
                <a:solidFill>
                  <a:srgbClr val="3A3C3D"/>
                </a:solidFill>
              </a:rPr>
              <a:t> onboard battery use</a:t>
            </a:r>
          </a:p>
        </p:txBody>
      </p:sp>
      <p:cxnSp>
        <p:nvCxnSpPr>
          <p:cNvPr id="1704569570" name="Straight Connector 2"/>
          <p:cNvCxnSpPr/>
          <p:nvPr/>
        </p:nvCxnSpPr>
        <p:spPr bwMode="auto">
          <a:xfrm>
            <a:off x="1220470" y="2223135"/>
            <a:ext cx="10502265" cy="5080"/>
          </a:xfrm>
          <a:prstGeom prst="line">
            <a:avLst/>
          </a:prstGeom>
          <a:ln>
            <a:solidFill>
              <a:srgbClr val="3A3C3D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5758571" name="Text Box 17"/>
          <p:cNvSpPr txBox="1"/>
          <p:nvPr/>
        </p:nvSpPr>
        <p:spPr bwMode="auto">
          <a:xfrm rot="20879998">
            <a:off x="71120" y="856615"/>
            <a:ext cx="2369185" cy="859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l">
              <a:lnSpc>
                <a:spcPct val="12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1800" b="1" i="1" dirty="0">
                <a:solidFill>
                  <a:srgbClr val="3A3C3D"/>
                </a:solidFill>
              </a:rPr>
              <a:t>Typical operational DOD limit</a:t>
            </a:r>
          </a:p>
        </p:txBody>
      </p:sp>
      <p:grpSp>
        <p:nvGrpSpPr>
          <p:cNvPr id="821379919" name="Group 8"/>
          <p:cNvGrpSpPr/>
          <p:nvPr/>
        </p:nvGrpSpPr>
        <p:grpSpPr bwMode="auto">
          <a:xfrm>
            <a:off x="610870" y="1566545"/>
            <a:ext cx="1396624" cy="995680"/>
            <a:chOff x="1438" y="2040"/>
            <a:chExt cx="1768" cy="1488"/>
          </a:xfrm>
        </p:grpSpPr>
        <p:sp>
          <p:nvSpPr>
            <p:cNvPr id="5" name="Arc 4"/>
            <p:cNvSpPr/>
            <p:nvPr/>
          </p:nvSpPr>
          <p:spPr bwMode="auto">
            <a:xfrm rot="300000">
              <a:off x="1438" y="2040"/>
              <a:ext cx="1632" cy="1488"/>
            </a:xfrm>
            <a:prstGeom prst="arc">
              <a:avLst>
                <a:gd name="adj1" fmla="val 16200000"/>
                <a:gd name="adj2" fmla="val 0"/>
              </a:avLst>
            </a:prstGeom>
            <a:ln w="38100">
              <a:solidFill>
                <a:srgbClr val="3A3C3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Isosceles Triangle 7"/>
            <p:cNvSpPr/>
            <p:nvPr/>
          </p:nvSpPr>
          <p:spPr bwMode="auto">
            <a:xfrm rot="10499999">
              <a:off x="2943" y="2756"/>
              <a:ext cx="263" cy="200"/>
            </a:xfrm>
            <a:prstGeom prst="triangle">
              <a:avLst>
                <a:gd name="adj" fmla="val 50000"/>
              </a:avLst>
            </a:prstGeom>
            <a:solidFill>
              <a:srgbClr val="3A3C3D"/>
            </a:solidFill>
            <a:ln>
              <a:solidFill>
                <a:srgbClr val="3A3C3D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39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92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56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75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3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392392" grpId="0"/>
      <p:bldP spid="1131392392" grpId="1"/>
      <p:bldP spid="120436994" grpId="0" bldLvl="0" animBg="1"/>
      <p:bldP spid="120436994" grpId="1" animBg="1"/>
      <p:bldP spid="535758571" grpId="0"/>
      <p:bldP spid="53575857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491090" name="Picture 3" descr="total_energy_baseline_vs_divert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 bwMode="auto">
          <a:xfrm>
            <a:off x="231139" y="1294128"/>
            <a:ext cx="11717020" cy="4801869"/>
          </a:xfrm>
          <a:prstGeom prst="rect">
            <a:avLst/>
          </a:prstGeom>
        </p:spPr>
      </p:pic>
      <p:sp>
        <p:nvSpPr>
          <p:cNvPr id="199969375" name="Text"/>
          <p:cNvSpPr>
            <a:spLocks noGrp="1"/>
          </p:cNvSpPr>
          <p:nvPr/>
        </p:nvSpPr>
        <p:spPr bwMode="auto">
          <a:xfrm>
            <a:off x="11558904" y="6376034"/>
            <a:ext cx="475613" cy="283209"/>
          </a:xfrm>
          <a:prstGeom prst="rect">
            <a:avLst/>
          </a:prstGeom>
          <a:noFill/>
          <a:ln>
            <a:noFill/>
          </a:ln>
        </p:spPr>
        <p:txBody>
          <a:bodyPr wrap="square" lIns="91423" tIns="45699" rIns="91423" bIns="4569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799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887109639" name="Maroon rectangle"/>
          <p:cNvSpPr/>
          <p:nvPr/>
        </p:nvSpPr>
        <p:spPr bwMode="auto">
          <a:xfrm>
            <a:off x="0" y="-6984"/>
            <a:ext cx="12179934" cy="687704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699" tIns="45699" rIns="45699" bIns="4569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Assisted-</a:t>
            </a:r>
            <a:r>
              <a:rPr lang="vi-VN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La</a:t>
            </a: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nding ABUs </a:t>
            </a:r>
            <a:r>
              <a:rPr lang="vi-VN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nable</a:t>
            </a:r>
            <a:r>
              <a:rPr lang="vi-VN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U</a:t>
            </a: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nexpected </a:t>
            </a:r>
            <a:r>
              <a:rPr lang="vi-VN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</a:t>
            </a: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vert </a:t>
            </a:r>
            <a:r>
              <a:rPr lang="vi-VN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</a:t>
            </a:r>
            <a:r>
              <a:rPr lang="en-US" sz="36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issions</a:t>
            </a:r>
          </a:p>
        </p:txBody>
      </p:sp>
      <p:sp>
        <p:nvSpPr>
          <p:cNvPr id="1428802248" name="Text Box 4"/>
          <p:cNvSpPr txBox="1"/>
          <p:nvPr/>
        </p:nvSpPr>
        <p:spPr bwMode="auto">
          <a:xfrm>
            <a:off x="195579" y="4802655"/>
            <a:ext cx="1280794" cy="414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vi-VN" dirty="0">
                <a:solidFill>
                  <a:srgbClr val="000000"/>
                </a:solidFill>
                <a:latin typeface="DejaVu Sans"/>
                <a:cs typeface="DejaVu Sans"/>
              </a:rPr>
              <a:t>Mission:</a:t>
            </a:r>
          </a:p>
        </p:txBody>
      </p:sp>
      <p:sp>
        <p:nvSpPr>
          <p:cNvPr id="1925620078" name="Text Box 5"/>
          <p:cNvSpPr txBox="1"/>
          <p:nvPr/>
        </p:nvSpPr>
        <p:spPr bwMode="auto">
          <a:xfrm>
            <a:off x="195579" y="5203756"/>
            <a:ext cx="1280794" cy="4140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vi-VN" dirty="0">
                <a:solidFill>
                  <a:srgbClr val="000000"/>
                </a:solidFill>
                <a:latin typeface="DejaVu Sans"/>
                <a:cs typeface="DejaVu Sans"/>
              </a:rPr>
              <a:t>Cruise Alt.:</a:t>
            </a:r>
          </a:p>
        </p:txBody>
      </p:sp>
      <p:sp>
        <p:nvSpPr>
          <p:cNvPr id="1699013082" name="Text Box 7"/>
          <p:cNvSpPr txBox="1"/>
          <p:nvPr/>
        </p:nvSpPr>
        <p:spPr bwMode="auto">
          <a:xfrm>
            <a:off x="835977" y="832484"/>
            <a:ext cx="10477798" cy="640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Aft>
                <a:spcPts val="199"/>
              </a:spcAft>
              <a:buSzPts val="3000"/>
              <a:buFont typeface="Arial"/>
              <a:defRPr/>
            </a:pPr>
            <a:r>
              <a:rPr lang="en-US" sz="2400">
                <a:solidFill>
                  <a:srgbClr val="3D4144"/>
                </a:solidFill>
              </a:rPr>
              <a:t>Impact of Divert-Driven Battery Sizing on Total Baseline Mission Energy</a:t>
            </a:r>
          </a:p>
        </p:txBody>
      </p:sp>
      <p:sp>
        <p:nvSpPr>
          <p:cNvPr id="963049238" name="Text Box 16"/>
          <p:cNvSpPr txBox="1"/>
          <p:nvPr/>
        </p:nvSpPr>
        <p:spPr bwMode="auto">
          <a:xfrm>
            <a:off x="6085203" y="4621048"/>
            <a:ext cx="5495925" cy="175498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20000"/>
              </a:lnSpc>
              <a:spcAft>
                <a:spcPts val="599"/>
              </a:spcAft>
              <a:defRPr/>
            </a:pPr>
            <a:r>
              <a:rPr lang="en-US" sz="2400" dirty="0">
                <a:solidFill>
                  <a:srgbClr val="3A3C3D"/>
                </a:solidFill>
              </a:rPr>
              <a:t>Landing ABUs satisfy divert safety needs </a:t>
            </a:r>
            <a:r>
              <a:rPr lang="en-US" sz="2400" b="1" dirty="0">
                <a:solidFill>
                  <a:srgbClr val="3A3C3D"/>
                </a:solidFill>
              </a:rPr>
              <a:t>without</a:t>
            </a:r>
            <a:r>
              <a:rPr lang="en-US" sz="2400" dirty="0">
                <a:solidFill>
                  <a:srgbClr val="3A3C3D"/>
                </a:solidFill>
              </a:rPr>
              <a:t> the</a:t>
            </a:r>
            <a:r>
              <a:rPr lang="vi-VN" sz="2400" dirty="0">
                <a:solidFill>
                  <a:srgbClr val="3A3C3D"/>
                </a:solidFill>
              </a:rPr>
              <a:t> baseline</a:t>
            </a:r>
            <a:r>
              <a:rPr lang="en-US" sz="2400" dirty="0">
                <a:solidFill>
                  <a:srgbClr val="3A3C3D"/>
                </a:solidFill>
              </a:rPr>
              <a:t> energy penalty of extra onboard battery mass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49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01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62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80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4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8802248" grpId="0"/>
      <p:bldP spid="1925620078" grpId="0"/>
      <p:bldP spid="1699013082" grpId="1"/>
      <p:bldP spid="1699013082" grpId="2"/>
      <p:bldP spid="963049238" grpId="0" bldLvl="0" animBg="1"/>
      <p:bldP spid="96304923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136407" name="Maroon rectangle"/>
          <p:cNvSpPr/>
          <p:nvPr/>
        </p:nvSpPr>
        <p:spPr bwMode="auto">
          <a:xfrm>
            <a:off x="0" y="-6985"/>
            <a:ext cx="12179934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ABUs 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3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ncrease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eVTOL 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light 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3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adence</a:t>
            </a:r>
            <a:endParaRPr lang="en-US" sz="3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0523439" name="Section Title"/>
          <p:cNvSpPr/>
          <p:nvPr/>
        </p:nvSpPr>
        <p:spPr bwMode="auto">
          <a:xfrm>
            <a:off x="1461815" y="998075"/>
            <a:ext cx="5972136" cy="89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20229605" name="Picture 4" descr="comprehensive_abu_timeline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 bwMode="auto">
          <a:xfrm>
            <a:off x="365442" y="1750694"/>
            <a:ext cx="11567795" cy="3644265"/>
          </a:xfrm>
          <a:prstGeom prst="rect">
            <a:avLst/>
          </a:prstGeom>
        </p:spPr>
      </p:pic>
      <p:sp>
        <p:nvSpPr>
          <p:cNvPr id="574739183" name="Text Box 5"/>
          <p:cNvSpPr txBox="1"/>
          <p:nvPr/>
        </p:nvSpPr>
        <p:spPr bwMode="auto">
          <a:xfrm>
            <a:off x="581660" y="871220"/>
            <a:ext cx="11233785" cy="645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400" dirty="0">
                <a:solidFill>
                  <a:srgbClr val="3A3C3D"/>
                </a:solidFill>
              </a:rPr>
              <a:t>Aircraft and ABU Operating Timeline Over an 8-Hour Common-Case Scenario</a:t>
            </a:r>
          </a:p>
        </p:txBody>
      </p:sp>
      <p:sp>
        <p:nvSpPr>
          <p:cNvPr id="1184821242" name="Text Box 6"/>
          <p:cNvSpPr txBox="1"/>
          <p:nvPr/>
        </p:nvSpPr>
        <p:spPr bwMode="auto">
          <a:xfrm>
            <a:off x="7926705" y="5245735"/>
            <a:ext cx="38150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>
                <a:solidFill>
                  <a:srgbClr val="3A3C3D"/>
                </a:solidFill>
              </a:rPr>
              <a:t> Archer Midnight </a:t>
            </a:r>
            <a:br>
              <a:rPr lang="vi-VN" sz="1800">
                <a:solidFill>
                  <a:srgbClr val="3A3C3D"/>
                </a:solidFill>
              </a:rPr>
            </a:br>
            <a:r>
              <a:rPr lang="vi-VN" sz="1800">
                <a:solidFill>
                  <a:srgbClr val="3A3C3D"/>
                </a:solidFill>
              </a:rPr>
              <a:t>(</a:t>
            </a:r>
            <a:r>
              <a:rPr lang="en-US" sz="1800">
                <a:solidFill>
                  <a:srgbClr val="3A3C3D"/>
                </a:solidFill>
              </a:rPr>
              <a:t>30 mi mission</a:t>
            </a:r>
            <a:r>
              <a:rPr lang="vi-VN" sz="1800">
                <a:solidFill>
                  <a:srgbClr val="3A3C3D"/>
                </a:solidFill>
              </a:rPr>
              <a:t>, 15</a:t>
            </a:r>
            <a:r>
              <a:rPr lang="en-US" sz="1800">
                <a:solidFill>
                  <a:srgbClr val="3A3C3D"/>
                </a:solidFill>
              </a:rPr>
              <a:t>00 ft</a:t>
            </a:r>
            <a:r>
              <a:rPr lang="vi-VN" sz="1800">
                <a:solidFill>
                  <a:srgbClr val="3A3C3D"/>
                </a:solidFill>
              </a:rPr>
              <a:t>)</a:t>
            </a:r>
          </a:p>
        </p:txBody>
      </p:sp>
      <p:sp>
        <p:nvSpPr>
          <p:cNvPr id="1426280295" name="Rectangles 19"/>
          <p:cNvSpPr/>
          <p:nvPr/>
        </p:nvSpPr>
        <p:spPr bwMode="auto">
          <a:xfrm>
            <a:off x="2857500" y="2560954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63825732" name="Rectangles 1"/>
          <p:cNvSpPr/>
          <p:nvPr/>
        </p:nvSpPr>
        <p:spPr bwMode="auto">
          <a:xfrm>
            <a:off x="2857500" y="3127374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01174543" name="Rectangles 8"/>
          <p:cNvSpPr/>
          <p:nvPr/>
        </p:nvSpPr>
        <p:spPr bwMode="auto">
          <a:xfrm>
            <a:off x="2857500" y="3710939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62160270" name="Rectangles 9"/>
          <p:cNvSpPr/>
          <p:nvPr/>
        </p:nvSpPr>
        <p:spPr bwMode="auto">
          <a:xfrm>
            <a:off x="2857500" y="4294504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00831032" name="Picture 68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2442845" y="1622425"/>
            <a:ext cx="979170" cy="402590"/>
          </a:xfrm>
          <a:prstGeom prst="rect">
            <a:avLst/>
          </a:prstGeom>
        </p:spPr>
      </p:pic>
      <p:pic>
        <p:nvPicPr>
          <p:cNvPr id="1562511114" name="Picture 13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4074160" y="1622425"/>
            <a:ext cx="979170" cy="402590"/>
          </a:xfrm>
          <a:prstGeom prst="rect">
            <a:avLst/>
          </a:prstGeom>
        </p:spPr>
      </p:pic>
      <p:pic>
        <p:nvPicPr>
          <p:cNvPr id="790171386" name="Picture 14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10410825" y="1622425"/>
            <a:ext cx="979170" cy="402590"/>
          </a:xfrm>
          <a:prstGeom prst="rect">
            <a:avLst/>
          </a:prstGeom>
        </p:spPr>
      </p:pic>
      <p:pic>
        <p:nvPicPr>
          <p:cNvPr id="1589190986" name="Picture 15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5659755" y="1622425"/>
            <a:ext cx="979170" cy="402590"/>
          </a:xfrm>
          <a:prstGeom prst="rect">
            <a:avLst/>
          </a:prstGeom>
        </p:spPr>
      </p:pic>
      <p:pic>
        <p:nvPicPr>
          <p:cNvPr id="1882552821" name="Picture 16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7252970" y="1622425"/>
            <a:ext cx="979170" cy="402590"/>
          </a:xfrm>
          <a:prstGeom prst="rect">
            <a:avLst/>
          </a:prstGeom>
        </p:spPr>
      </p:pic>
      <p:pic>
        <p:nvPicPr>
          <p:cNvPr id="1404109781" name="Picture 17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8830945" y="1648460"/>
            <a:ext cx="979170" cy="402590"/>
          </a:xfrm>
          <a:prstGeom prst="rect">
            <a:avLst/>
          </a:prstGeom>
        </p:spPr>
      </p:pic>
      <p:sp>
        <p:nvSpPr>
          <p:cNvPr id="1367555017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pSp>
        <p:nvGrpSpPr>
          <p:cNvPr id="2016036824" name="Group 2016036823"/>
          <p:cNvGrpSpPr/>
          <p:nvPr/>
        </p:nvGrpSpPr>
        <p:grpSpPr bwMode="auto">
          <a:xfrm>
            <a:off x="375919" y="5182234"/>
            <a:ext cx="3046095" cy="1579878"/>
            <a:chOff x="0" y="0"/>
            <a:chExt cx="3046095" cy="1579878"/>
          </a:xfrm>
        </p:grpSpPr>
        <p:sp>
          <p:nvSpPr>
            <p:cNvPr id="24" name="Rounded Rectangle 23"/>
            <p:cNvSpPr/>
            <p:nvPr/>
          </p:nvSpPr>
          <p:spPr bwMode="auto">
            <a:xfrm>
              <a:off x="0" y="0"/>
              <a:ext cx="3046095" cy="157987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0" name="Picture 69" descr="Gemini_Generated_Image_w0147kw0147kw014"/>
            <p:cNvPicPr>
              <a:picLocks noChangeAspect="1"/>
            </p:cNvPicPr>
            <p:nvPr/>
          </p:nvPicPr>
          <p:blipFill rotWithShape="1">
            <a:blip r:embed="rId5"/>
            <a:srcRect t="21229" b="19586"/>
            <a:stretch/>
          </p:blipFill>
          <p:spPr bwMode="auto">
            <a:xfrm>
              <a:off x="60801" y="71754"/>
              <a:ext cx="763904" cy="452754"/>
            </a:xfrm>
            <a:prstGeom prst="rect">
              <a:avLst/>
            </a:prstGeom>
          </p:spPr>
        </p:pic>
        <p:pic>
          <p:nvPicPr>
            <p:cNvPr id="86" name="Picture 85" descr="takeoff_zone"/>
            <p:cNvPicPr>
              <a:picLocks noChangeAspect="1"/>
            </p:cNvPicPr>
            <p:nvPr/>
          </p:nvPicPr>
          <p:blipFill rotWithShape="1">
            <a:blip r:embed="rId6"/>
            <a:srcRect r="82925" b="73759"/>
            <a:stretch/>
          </p:blipFill>
          <p:spPr bwMode="auto">
            <a:xfrm>
              <a:off x="263524" y="673099"/>
              <a:ext cx="358457" cy="371034"/>
            </a:xfrm>
            <a:prstGeom prst="rect">
              <a:avLst/>
            </a:prstGeom>
          </p:spPr>
        </p:pic>
        <p:pic>
          <p:nvPicPr>
            <p:cNvPr id="19" name="Picture 18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44129" r="37750" b="92242"/>
            <a:stretch/>
          </p:blipFill>
          <p:spPr bwMode="auto">
            <a:xfrm>
              <a:off x="688339" y="129539"/>
              <a:ext cx="2096134" cy="307974"/>
            </a:xfrm>
            <a:prstGeom prst="rect">
              <a:avLst/>
            </a:prstGeom>
          </p:spPr>
        </p:pic>
        <p:pic>
          <p:nvPicPr>
            <p:cNvPr id="21" name="Picture 20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64001" r="23851" b="92242"/>
            <a:stretch/>
          </p:blipFill>
          <p:spPr bwMode="auto">
            <a:xfrm>
              <a:off x="688339" y="673099"/>
              <a:ext cx="1405254" cy="307974"/>
            </a:xfrm>
            <a:prstGeom prst="rect">
              <a:avLst/>
            </a:prstGeom>
          </p:spPr>
        </p:pic>
        <p:pic>
          <p:nvPicPr>
            <p:cNvPr id="1047976557" name="Picture 1047976556"/>
            <p:cNvPicPr>
              <a:picLocks noChangeAspect="1"/>
            </p:cNvPicPr>
            <p:nvPr/>
          </p:nvPicPr>
          <p:blipFill rotWithShape="1">
            <a:blip r:embed="rId8"/>
            <a:srcRect l="66838" r="14438" b="91610"/>
            <a:stretch/>
          </p:blipFill>
          <p:spPr bwMode="auto">
            <a:xfrm>
              <a:off x="621982" y="1193799"/>
              <a:ext cx="2209659" cy="325466"/>
            </a:xfrm>
            <a:prstGeom prst="rect">
              <a:avLst/>
            </a:prstGeom>
          </p:spPr>
        </p:pic>
        <p:pic>
          <p:nvPicPr>
            <p:cNvPr id="678107603" name="Picture 27" descr="ABU_icon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242025" y="1182112"/>
              <a:ext cx="401456" cy="30658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2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03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73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28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82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17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16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82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83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51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9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55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10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17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739183" grpId="0"/>
      <p:bldP spid="574739183" grpId="1"/>
      <p:bldP spid="1184821242" grpId="0"/>
      <p:bldP spid="1184821242" grpId="1"/>
      <p:bldP spid="1426280295" grpId="0" animBg="1"/>
      <p:bldP spid="1426280295" grpId="1" animBg="1"/>
      <p:bldP spid="963825732" grpId="0" animBg="1"/>
      <p:bldP spid="963825732" grpId="1" animBg="1"/>
      <p:bldP spid="1101174543" grpId="0" animBg="1"/>
      <p:bldP spid="1101174543" grpId="1" animBg="1"/>
      <p:bldP spid="1262160270" grpId="0" animBg="1"/>
      <p:bldP spid="126216027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906703" name="Maroon rectangle"/>
          <p:cNvSpPr/>
          <p:nvPr/>
        </p:nvSpPr>
        <p:spPr bwMode="auto">
          <a:xfrm>
            <a:off x="0" y="-6985"/>
            <a:ext cx="12179934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ABUs 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ncrease eVTOL 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light 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adence</a:t>
            </a:r>
            <a:endParaRPr lang="en-US" sz="36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1620590" name="Section Title"/>
          <p:cNvSpPr/>
          <p:nvPr/>
        </p:nvSpPr>
        <p:spPr bwMode="auto">
          <a:xfrm>
            <a:off x="1461815" y="998075"/>
            <a:ext cx="5972136" cy="89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90619711" name="Picture 4" descr="comprehensive_abu_timeline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 bwMode="auto">
          <a:xfrm>
            <a:off x="365442" y="1750694"/>
            <a:ext cx="11567795" cy="3644265"/>
          </a:xfrm>
          <a:prstGeom prst="rect">
            <a:avLst/>
          </a:prstGeom>
        </p:spPr>
      </p:pic>
      <p:sp>
        <p:nvSpPr>
          <p:cNvPr id="184854329" name="Text Box 5"/>
          <p:cNvSpPr txBox="1"/>
          <p:nvPr/>
        </p:nvSpPr>
        <p:spPr bwMode="auto">
          <a:xfrm>
            <a:off x="581660" y="871220"/>
            <a:ext cx="11233785" cy="645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400" dirty="0">
                <a:solidFill>
                  <a:srgbClr val="3A3C3D"/>
                </a:solidFill>
              </a:rPr>
              <a:t>Aircraft and ABU Operating Timeline Over an 8-Hour Common-Case Scenario</a:t>
            </a:r>
          </a:p>
        </p:txBody>
      </p:sp>
      <p:sp>
        <p:nvSpPr>
          <p:cNvPr id="165544079" name="Rectangles 19"/>
          <p:cNvSpPr/>
          <p:nvPr/>
        </p:nvSpPr>
        <p:spPr bwMode="auto">
          <a:xfrm>
            <a:off x="2857500" y="2560954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270520" name="Rectangles 1"/>
          <p:cNvSpPr/>
          <p:nvPr/>
        </p:nvSpPr>
        <p:spPr bwMode="auto">
          <a:xfrm>
            <a:off x="2857500" y="3127374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93167705" name="Rectangles 8"/>
          <p:cNvSpPr/>
          <p:nvPr/>
        </p:nvSpPr>
        <p:spPr bwMode="auto">
          <a:xfrm>
            <a:off x="2857500" y="3710939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9341183" name="Rectangles 9"/>
          <p:cNvSpPr/>
          <p:nvPr/>
        </p:nvSpPr>
        <p:spPr bwMode="auto">
          <a:xfrm>
            <a:off x="2857500" y="4294504"/>
            <a:ext cx="888428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9141881" name="Picture 68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2442845" y="1622425"/>
            <a:ext cx="979170" cy="402590"/>
          </a:xfrm>
          <a:prstGeom prst="rect">
            <a:avLst/>
          </a:prstGeom>
        </p:spPr>
      </p:pic>
      <p:pic>
        <p:nvPicPr>
          <p:cNvPr id="1502598125" name="Picture 13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4074160" y="1622425"/>
            <a:ext cx="979170" cy="402590"/>
          </a:xfrm>
          <a:prstGeom prst="rect">
            <a:avLst/>
          </a:prstGeom>
        </p:spPr>
      </p:pic>
      <p:pic>
        <p:nvPicPr>
          <p:cNvPr id="1252104089" name="Picture 14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10410825" y="1622425"/>
            <a:ext cx="979170" cy="402590"/>
          </a:xfrm>
          <a:prstGeom prst="rect">
            <a:avLst/>
          </a:prstGeom>
        </p:spPr>
      </p:pic>
      <p:pic>
        <p:nvPicPr>
          <p:cNvPr id="1399467081" name="Picture 15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5659755" y="1622425"/>
            <a:ext cx="979170" cy="402590"/>
          </a:xfrm>
          <a:prstGeom prst="rect">
            <a:avLst/>
          </a:prstGeom>
        </p:spPr>
      </p:pic>
      <p:pic>
        <p:nvPicPr>
          <p:cNvPr id="477822567" name="Picture 16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7252970" y="1622425"/>
            <a:ext cx="979170" cy="402590"/>
          </a:xfrm>
          <a:prstGeom prst="rect">
            <a:avLst/>
          </a:prstGeom>
        </p:spPr>
      </p:pic>
      <p:pic>
        <p:nvPicPr>
          <p:cNvPr id="202889592" name="Picture 17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8830945" y="1648460"/>
            <a:ext cx="979170" cy="402590"/>
          </a:xfrm>
          <a:prstGeom prst="rect">
            <a:avLst/>
          </a:prstGeom>
        </p:spPr>
      </p:pic>
      <p:cxnSp>
        <p:nvCxnSpPr>
          <p:cNvPr id="181563400" name="Straight Arrow Connector 11"/>
          <p:cNvCxnSpPr>
            <a:cxnSpLocks/>
          </p:cNvCxnSpPr>
          <p:nvPr/>
        </p:nvCxnSpPr>
        <p:spPr bwMode="auto">
          <a:xfrm flipV="1">
            <a:off x="3575303" y="2826258"/>
            <a:ext cx="0" cy="456057"/>
          </a:xfrm>
          <a:prstGeom prst="straightConnector1">
            <a:avLst/>
          </a:prstGeom>
          <a:ln w="38100">
            <a:solidFill>
              <a:srgbClr val="E6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98767712" name="Text Box 7"/>
          <p:cNvSpPr txBox="1"/>
          <p:nvPr/>
        </p:nvSpPr>
        <p:spPr bwMode="auto">
          <a:xfrm>
            <a:off x="7926705" y="5245735"/>
            <a:ext cx="38150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>
                <a:solidFill>
                  <a:srgbClr val="3A3C3D"/>
                </a:solidFill>
              </a:rPr>
              <a:t> Archer Midnight </a:t>
            </a:r>
            <a:br>
              <a:rPr lang="vi-VN" sz="1800">
                <a:solidFill>
                  <a:srgbClr val="3A3C3D"/>
                </a:solidFill>
              </a:rPr>
            </a:br>
            <a:r>
              <a:rPr lang="vi-VN" sz="1800">
                <a:solidFill>
                  <a:srgbClr val="3A3C3D"/>
                </a:solidFill>
              </a:rPr>
              <a:t>(</a:t>
            </a:r>
            <a:r>
              <a:rPr lang="en-US" sz="1800">
                <a:solidFill>
                  <a:srgbClr val="3A3C3D"/>
                </a:solidFill>
              </a:rPr>
              <a:t>30 mi mission</a:t>
            </a:r>
            <a:r>
              <a:rPr lang="vi-VN" sz="1800">
                <a:solidFill>
                  <a:srgbClr val="3A3C3D"/>
                </a:solidFill>
              </a:rPr>
              <a:t>, 15</a:t>
            </a:r>
            <a:r>
              <a:rPr lang="en-US" sz="1800">
                <a:solidFill>
                  <a:srgbClr val="3A3C3D"/>
                </a:solidFill>
              </a:rPr>
              <a:t>00 ft</a:t>
            </a:r>
            <a:r>
              <a:rPr lang="vi-VN" sz="1800">
                <a:solidFill>
                  <a:srgbClr val="3A3C3D"/>
                </a:solidFill>
              </a:rPr>
              <a:t>)</a:t>
            </a:r>
          </a:p>
        </p:txBody>
      </p:sp>
      <p:sp>
        <p:nvSpPr>
          <p:cNvPr id="256229663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pSp>
        <p:nvGrpSpPr>
          <p:cNvPr id="611877083" name="Group 611877082"/>
          <p:cNvGrpSpPr/>
          <p:nvPr/>
        </p:nvGrpSpPr>
        <p:grpSpPr bwMode="auto">
          <a:xfrm>
            <a:off x="375918" y="5182233"/>
            <a:ext cx="3046095" cy="1579878"/>
            <a:chOff x="0" y="0"/>
            <a:chExt cx="3046095" cy="1579878"/>
          </a:xfrm>
        </p:grpSpPr>
        <p:sp>
          <p:nvSpPr>
            <p:cNvPr id="1448825835" name="Rounded Rectangle 23"/>
            <p:cNvSpPr/>
            <p:nvPr/>
          </p:nvSpPr>
          <p:spPr bwMode="auto">
            <a:xfrm>
              <a:off x="0" y="0"/>
              <a:ext cx="3046095" cy="157987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43618498" name="Picture 69" descr="Gemini_Generated_Image_w0147kw0147kw014"/>
            <p:cNvPicPr>
              <a:picLocks noChangeAspect="1"/>
            </p:cNvPicPr>
            <p:nvPr/>
          </p:nvPicPr>
          <p:blipFill rotWithShape="1">
            <a:blip r:embed="rId5"/>
            <a:srcRect t="21229" b="19586"/>
            <a:stretch/>
          </p:blipFill>
          <p:spPr bwMode="auto">
            <a:xfrm>
              <a:off x="60800" y="71754"/>
              <a:ext cx="763904" cy="452754"/>
            </a:xfrm>
            <a:prstGeom prst="rect">
              <a:avLst/>
            </a:prstGeom>
          </p:spPr>
        </p:pic>
        <p:pic>
          <p:nvPicPr>
            <p:cNvPr id="1832304869" name="Picture 85" descr="takeoff_zone"/>
            <p:cNvPicPr>
              <a:picLocks noChangeAspect="1"/>
            </p:cNvPicPr>
            <p:nvPr/>
          </p:nvPicPr>
          <p:blipFill rotWithShape="1">
            <a:blip r:embed="rId6"/>
            <a:srcRect r="82925" b="73759"/>
            <a:stretch/>
          </p:blipFill>
          <p:spPr bwMode="auto">
            <a:xfrm>
              <a:off x="263523" y="673099"/>
              <a:ext cx="358456" cy="371034"/>
            </a:xfrm>
            <a:prstGeom prst="rect">
              <a:avLst/>
            </a:prstGeom>
          </p:spPr>
        </p:pic>
        <p:pic>
          <p:nvPicPr>
            <p:cNvPr id="626958956" name="Picture 18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44129" r="37750" b="92242"/>
            <a:stretch/>
          </p:blipFill>
          <p:spPr bwMode="auto">
            <a:xfrm>
              <a:off x="688339" y="129539"/>
              <a:ext cx="2096134" cy="307974"/>
            </a:xfrm>
            <a:prstGeom prst="rect">
              <a:avLst/>
            </a:prstGeom>
          </p:spPr>
        </p:pic>
        <p:pic>
          <p:nvPicPr>
            <p:cNvPr id="1747319632" name="Picture 20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64001" r="23851" b="92242"/>
            <a:stretch/>
          </p:blipFill>
          <p:spPr bwMode="auto">
            <a:xfrm>
              <a:off x="688339" y="673099"/>
              <a:ext cx="1405254" cy="307974"/>
            </a:xfrm>
            <a:prstGeom prst="rect">
              <a:avLst/>
            </a:prstGeom>
          </p:spPr>
        </p:pic>
        <p:pic>
          <p:nvPicPr>
            <p:cNvPr id="917599786" name="Picture 917599785"/>
            <p:cNvPicPr>
              <a:picLocks noChangeAspect="1"/>
            </p:cNvPicPr>
            <p:nvPr/>
          </p:nvPicPr>
          <p:blipFill rotWithShape="1">
            <a:blip r:embed="rId8"/>
            <a:srcRect l="66837" r="14438" b="91610"/>
            <a:stretch/>
          </p:blipFill>
          <p:spPr bwMode="auto">
            <a:xfrm>
              <a:off x="621981" y="1193799"/>
              <a:ext cx="2209658" cy="325465"/>
            </a:xfrm>
            <a:prstGeom prst="rect">
              <a:avLst/>
            </a:prstGeom>
          </p:spPr>
        </p:pic>
        <p:pic>
          <p:nvPicPr>
            <p:cNvPr id="88549694" name="Picture 27" descr="ABU_icon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242024" y="1182111"/>
              <a:ext cx="401455" cy="30658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6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854329" grpId="0"/>
      <p:bldP spid="184854329" grpId="1"/>
      <p:bldP spid="165544079" grpId="0" animBg="1"/>
      <p:bldP spid="165544079" grpId="1" animBg="1"/>
      <p:bldP spid="28270520" grpId="0" animBg="1"/>
      <p:bldP spid="28270520" grpId="1" animBg="1"/>
      <p:bldP spid="1393167705" grpId="1" animBg="1"/>
      <p:bldP spid="2059341183" grpId="1" animBg="1"/>
      <p:bldP spid="179876771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982839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39439035" name="Picture 4" descr="comprehensive_abu_timeline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 bwMode="auto">
          <a:xfrm>
            <a:off x="365442" y="1750693"/>
            <a:ext cx="11567795" cy="3644265"/>
          </a:xfrm>
          <a:prstGeom prst="rect">
            <a:avLst/>
          </a:prstGeom>
        </p:spPr>
      </p:pic>
      <p:sp>
        <p:nvSpPr>
          <p:cNvPr id="1062863990" name="Maroon rectangle"/>
          <p:cNvSpPr/>
          <p:nvPr/>
        </p:nvSpPr>
        <p:spPr bwMode="auto">
          <a:xfrm>
            <a:off x="0" y="-6985"/>
            <a:ext cx="12179934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ABUs 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ncrease eVTOL 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light 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adence</a:t>
            </a:r>
            <a:endParaRPr lang="en-US" sz="3600" b="0" i="0" u="none" strike="noStrike" cap="none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0080575" name="Section Title"/>
          <p:cNvSpPr/>
          <p:nvPr/>
        </p:nvSpPr>
        <p:spPr bwMode="auto">
          <a:xfrm>
            <a:off x="1461815" y="998075"/>
            <a:ext cx="5972136" cy="89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2795615" name="Rectangles 8"/>
          <p:cNvSpPr/>
          <p:nvPr/>
        </p:nvSpPr>
        <p:spPr bwMode="auto">
          <a:xfrm>
            <a:off x="2865860" y="3710939"/>
            <a:ext cx="887592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98318" name="Rectangles 9"/>
          <p:cNvSpPr/>
          <p:nvPr/>
        </p:nvSpPr>
        <p:spPr bwMode="auto">
          <a:xfrm>
            <a:off x="2865860" y="4294504"/>
            <a:ext cx="8875924" cy="381634"/>
          </a:xfrm>
          <a:prstGeom prst="rect">
            <a:avLst/>
          </a:prstGeom>
          <a:solidFill>
            <a:srgbClr val="B3D0D5">
              <a:alpha val="8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5288054" name="Text Box 5"/>
          <p:cNvSpPr txBox="1"/>
          <p:nvPr/>
        </p:nvSpPr>
        <p:spPr bwMode="auto">
          <a:xfrm>
            <a:off x="581660" y="871220"/>
            <a:ext cx="11233785" cy="645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400">
                <a:solidFill>
                  <a:srgbClr val="3A3C3D"/>
                </a:solidFill>
              </a:rPr>
              <a:t>Aircraft and ABU Operating Timeline Over an 8-Hour Common-Case Scenario</a:t>
            </a:r>
          </a:p>
        </p:txBody>
      </p:sp>
      <p:pic>
        <p:nvPicPr>
          <p:cNvPr id="694471678" name="Picture 68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2442845" y="1622425"/>
            <a:ext cx="979170" cy="402590"/>
          </a:xfrm>
          <a:prstGeom prst="rect">
            <a:avLst/>
          </a:prstGeom>
        </p:spPr>
      </p:pic>
      <p:pic>
        <p:nvPicPr>
          <p:cNvPr id="1077706270" name="Picture 13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4074160" y="1622425"/>
            <a:ext cx="979170" cy="402590"/>
          </a:xfrm>
          <a:prstGeom prst="rect">
            <a:avLst/>
          </a:prstGeom>
        </p:spPr>
      </p:pic>
      <p:pic>
        <p:nvPicPr>
          <p:cNvPr id="1309666712" name="Picture 14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10410825" y="1622425"/>
            <a:ext cx="979170" cy="402590"/>
          </a:xfrm>
          <a:prstGeom prst="rect">
            <a:avLst/>
          </a:prstGeom>
        </p:spPr>
      </p:pic>
      <p:pic>
        <p:nvPicPr>
          <p:cNvPr id="2044118816" name="Picture 15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5659755" y="1622425"/>
            <a:ext cx="979170" cy="402590"/>
          </a:xfrm>
          <a:prstGeom prst="rect">
            <a:avLst/>
          </a:prstGeom>
        </p:spPr>
      </p:pic>
      <p:pic>
        <p:nvPicPr>
          <p:cNvPr id="644597048" name="Picture 16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7252970" y="1622425"/>
            <a:ext cx="979170" cy="402590"/>
          </a:xfrm>
          <a:prstGeom prst="rect">
            <a:avLst/>
          </a:prstGeom>
        </p:spPr>
      </p:pic>
      <p:pic>
        <p:nvPicPr>
          <p:cNvPr id="1984589309" name="Picture 17" descr="Gemini_Generated_Image_uccpy9uccpy9uccp"/>
          <p:cNvPicPr>
            <a:picLocks noChangeAspect="1"/>
          </p:cNvPicPr>
          <p:nvPr/>
        </p:nvPicPr>
        <p:blipFill rotWithShape="1">
          <a:blip r:embed="rId4"/>
          <a:srcRect t="28851" b="30015"/>
          <a:stretch/>
        </p:blipFill>
        <p:spPr bwMode="auto">
          <a:xfrm flipH="1">
            <a:off x="8830945" y="1648460"/>
            <a:ext cx="979170" cy="402590"/>
          </a:xfrm>
          <a:prstGeom prst="rect">
            <a:avLst/>
          </a:prstGeom>
        </p:spPr>
      </p:pic>
      <p:cxnSp>
        <p:nvCxnSpPr>
          <p:cNvPr id="1735053420" name="Elbow Connector 21"/>
          <p:cNvCxnSpPr>
            <a:cxnSpLocks/>
          </p:cNvCxnSpPr>
          <p:nvPr/>
        </p:nvCxnSpPr>
        <p:spPr bwMode="auto">
          <a:xfrm flipV="1">
            <a:off x="11613822" y="2761087"/>
            <a:ext cx="420697" cy="3020269"/>
          </a:xfrm>
          <a:prstGeom prst="bentConnector2">
            <a:avLst/>
          </a:prstGeom>
          <a:ln w="28575"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3938548" name="Oval 24"/>
          <p:cNvSpPr/>
          <p:nvPr/>
        </p:nvSpPr>
        <p:spPr bwMode="auto">
          <a:xfrm rot="5400000">
            <a:off x="7072947" y="-1684444"/>
            <a:ext cx="381000" cy="8934450"/>
          </a:xfrm>
          <a:prstGeom prst="ellipse">
            <a:avLst/>
          </a:prstGeom>
          <a:noFill/>
          <a:ln w="19050" cap="rnd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7108991" name="Straight Arrow Connector 22"/>
          <p:cNvCxnSpPr>
            <a:cxnSpLocks/>
          </p:cNvCxnSpPr>
          <p:nvPr/>
        </p:nvCxnSpPr>
        <p:spPr bwMode="auto">
          <a:xfrm flipH="1">
            <a:off x="11768760" y="2780452"/>
            <a:ext cx="275284" cy="0"/>
          </a:xfrm>
          <a:prstGeom prst="straightConnector1">
            <a:avLst/>
          </a:prstGeom>
          <a:ln w="38100">
            <a:solidFill>
              <a:srgbClr val="861F4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76795907" name="Text Box 25"/>
          <p:cNvSpPr txBox="1"/>
          <p:nvPr/>
        </p:nvSpPr>
        <p:spPr bwMode="auto">
          <a:xfrm>
            <a:off x="7926705" y="5245735"/>
            <a:ext cx="38150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vi-VN" sz="1800">
                <a:solidFill>
                  <a:srgbClr val="3A3C3D"/>
                </a:solidFill>
              </a:rPr>
              <a:t> Archer Midnight </a:t>
            </a:r>
            <a:br>
              <a:rPr lang="vi-VN" sz="1800">
                <a:solidFill>
                  <a:srgbClr val="3A3C3D"/>
                </a:solidFill>
              </a:rPr>
            </a:br>
            <a:r>
              <a:rPr lang="vi-VN" sz="1800">
                <a:solidFill>
                  <a:srgbClr val="3A3C3D"/>
                </a:solidFill>
              </a:rPr>
              <a:t>(</a:t>
            </a:r>
            <a:r>
              <a:rPr lang="en-US" sz="1800">
                <a:solidFill>
                  <a:srgbClr val="3A3C3D"/>
                </a:solidFill>
              </a:rPr>
              <a:t>30 mi mission</a:t>
            </a:r>
            <a:r>
              <a:rPr lang="vi-VN" sz="1800">
                <a:solidFill>
                  <a:srgbClr val="3A3C3D"/>
                </a:solidFill>
              </a:rPr>
              <a:t>, 15</a:t>
            </a:r>
            <a:r>
              <a:rPr lang="en-US" sz="1800">
                <a:solidFill>
                  <a:srgbClr val="3A3C3D"/>
                </a:solidFill>
              </a:rPr>
              <a:t>00 ft</a:t>
            </a:r>
            <a:r>
              <a:rPr lang="vi-VN" sz="1800">
                <a:solidFill>
                  <a:srgbClr val="3A3C3D"/>
                </a:solidFill>
              </a:rPr>
              <a:t>)</a:t>
            </a:r>
          </a:p>
        </p:txBody>
      </p:sp>
      <p:sp>
        <p:nvSpPr>
          <p:cNvPr id="380499062" name="Text Box 7"/>
          <p:cNvSpPr txBox="1"/>
          <p:nvPr/>
        </p:nvSpPr>
        <p:spPr bwMode="auto">
          <a:xfrm>
            <a:off x="6741658" y="5338229"/>
            <a:ext cx="4933315" cy="989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indent="0" algn="ctr">
              <a:lnSpc>
                <a:spcPct val="120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400">
                <a:solidFill>
                  <a:srgbClr val="3A3C3D"/>
                </a:solidFill>
              </a:rPr>
              <a:t>Higher </a:t>
            </a:r>
            <a:r>
              <a:rPr lang="vi-VN" sz="2400">
                <a:solidFill>
                  <a:srgbClr val="3A3C3D"/>
                </a:solidFill>
              </a:rPr>
              <a:t>fleet </a:t>
            </a:r>
            <a:r>
              <a:rPr lang="en-US" sz="2400">
                <a:solidFill>
                  <a:srgbClr val="3A3C3D"/>
                </a:solidFill>
              </a:rPr>
              <a:t>utilization with </a:t>
            </a:r>
            <a:r>
              <a:rPr lang="en-US" sz="2400" b="1">
                <a:solidFill>
                  <a:srgbClr val="3A3C3D"/>
                </a:solidFill>
              </a:rPr>
              <a:t>reduced </a:t>
            </a:r>
            <a:r>
              <a:rPr lang="en-US" sz="2400">
                <a:solidFill>
                  <a:srgbClr val="3A3C3D"/>
                </a:solidFill>
              </a:rPr>
              <a:t>charging bottlenecks.</a:t>
            </a:r>
            <a:endParaRPr lang="en-US" sz="2400" b="1">
              <a:solidFill>
                <a:srgbClr val="3A3C3D"/>
              </a:solidFill>
            </a:endParaRPr>
          </a:p>
        </p:txBody>
      </p:sp>
      <p:grpSp>
        <p:nvGrpSpPr>
          <p:cNvPr id="1523874597" name="Group 1523874596"/>
          <p:cNvGrpSpPr/>
          <p:nvPr/>
        </p:nvGrpSpPr>
        <p:grpSpPr bwMode="auto">
          <a:xfrm>
            <a:off x="375918" y="5182233"/>
            <a:ext cx="3046095" cy="1579878"/>
            <a:chOff x="0" y="0"/>
            <a:chExt cx="3046095" cy="1579878"/>
          </a:xfrm>
        </p:grpSpPr>
        <p:sp>
          <p:nvSpPr>
            <p:cNvPr id="2" name="Rounded Rectangle 23"/>
            <p:cNvSpPr/>
            <p:nvPr/>
          </p:nvSpPr>
          <p:spPr bwMode="auto">
            <a:xfrm>
              <a:off x="0" y="0"/>
              <a:ext cx="3046095" cy="157987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3" name="Picture 69" descr="Gemini_Generated_Image_w0147kw0147kw014"/>
            <p:cNvPicPr>
              <a:picLocks noChangeAspect="1"/>
            </p:cNvPicPr>
            <p:nvPr/>
          </p:nvPicPr>
          <p:blipFill rotWithShape="1">
            <a:blip r:embed="rId5"/>
            <a:srcRect t="21229" b="19586"/>
            <a:stretch/>
          </p:blipFill>
          <p:spPr bwMode="auto">
            <a:xfrm>
              <a:off x="60800" y="71754"/>
              <a:ext cx="763904" cy="452754"/>
            </a:xfrm>
            <a:prstGeom prst="rect">
              <a:avLst/>
            </a:prstGeom>
          </p:spPr>
        </p:pic>
        <p:pic>
          <p:nvPicPr>
            <p:cNvPr id="4" name="Picture 85" descr="takeoff_zone"/>
            <p:cNvPicPr>
              <a:picLocks noChangeAspect="1"/>
            </p:cNvPicPr>
            <p:nvPr/>
          </p:nvPicPr>
          <p:blipFill rotWithShape="1">
            <a:blip r:embed="rId6"/>
            <a:srcRect r="82925" b="73759"/>
            <a:stretch/>
          </p:blipFill>
          <p:spPr bwMode="auto">
            <a:xfrm>
              <a:off x="263523" y="673099"/>
              <a:ext cx="358456" cy="371034"/>
            </a:xfrm>
            <a:prstGeom prst="rect">
              <a:avLst/>
            </a:prstGeom>
          </p:spPr>
        </p:pic>
        <p:pic>
          <p:nvPicPr>
            <p:cNvPr id="5" name="Picture 18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44129" r="37750" b="92242"/>
            <a:stretch/>
          </p:blipFill>
          <p:spPr bwMode="auto">
            <a:xfrm>
              <a:off x="688339" y="129539"/>
              <a:ext cx="2096134" cy="307974"/>
            </a:xfrm>
            <a:prstGeom prst="rect">
              <a:avLst/>
            </a:prstGeom>
          </p:spPr>
        </p:pic>
        <p:pic>
          <p:nvPicPr>
            <p:cNvPr id="6" name="Picture 20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64001" r="23851" b="92242"/>
            <a:stretch/>
          </p:blipFill>
          <p:spPr bwMode="auto">
            <a:xfrm>
              <a:off x="688339" y="673099"/>
              <a:ext cx="1405254" cy="30797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8"/>
            <a:srcRect l="66837" r="14438" b="91610"/>
            <a:stretch/>
          </p:blipFill>
          <p:spPr bwMode="auto">
            <a:xfrm>
              <a:off x="621981" y="1193799"/>
              <a:ext cx="2209658" cy="325465"/>
            </a:xfrm>
            <a:prstGeom prst="rect">
              <a:avLst/>
            </a:prstGeom>
          </p:spPr>
        </p:pic>
        <p:pic>
          <p:nvPicPr>
            <p:cNvPr id="8" name="Picture 27" descr="ABU_icon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242024" y="1182111"/>
              <a:ext cx="401455" cy="306585"/>
            </a:xfrm>
            <a:prstGeom prst="rect">
              <a:avLst/>
            </a:prstGeom>
          </p:spPr>
        </p:pic>
      </p:grpSp>
      <p:grpSp>
        <p:nvGrpSpPr>
          <p:cNvPr id="336455557" name="Group 336455556"/>
          <p:cNvGrpSpPr/>
          <p:nvPr/>
        </p:nvGrpSpPr>
        <p:grpSpPr bwMode="auto">
          <a:xfrm>
            <a:off x="375918" y="5182233"/>
            <a:ext cx="3046095" cy="1579878"/>
            <a:chOff x="0" y="0"/>
            <a:chExt cx="3046095" cy="1579878"/>
          </a:xfrm>
        </p:grpSpPr>
        <p:sp>
          <p:nvSpPr>
            <p:cNvPr id="1112424581" name="Rounded Rectangle 23"/>
            <p:cNvSpPr/>
            <p:nvPr/>
          </p:nvSpPr>
          <p:spPr bwMode="auto">
            <a:xfrm>
              <a:off x="0" y="0"/>
              <a:ext cx="3046095" cy="157987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2009645603" name="Picture 69" descr="Gemini_Generated_Image_w0147kw0147kw014"/>
            <p:cNvPicPr>
              <a:picLocks noChangeAspect="1"/>
            </p:cNvPicPr>
            <p:nvPr/>
          </p:nvPicPr>
          <p:blipFill rotWithShape="1">
            <a:blip r:embed="rId5"/>
            <a:srcRect t="21229" b="19586"/>
            <a:stretch/>
          </p:blipFill>
          <p:spPr bwMode="auto">
            <a:xfrm>
              <a:off x="60800" y="71754"/>
              <a:ext cx="763904" cy="452754"/>
            </a:xfrm>
            <a:prstGeom prst="rect">
              <a:avLst/>
            </a:prstGeom>
          </p:spPr>
        </p:pic>
        <p:pic>
          <p:nvPicPr>
            <p:cNvPr id="1986975064" name="Picture 85" descr="takeoff_zone"/>
            <p:cNvPicPr>
              <a:picLocks noChangeAspect="1"/>
            </p:cNvPicPr>
            <p:nvPr/>
          </p:nvPicPr>
          <p:blipFill rotWithShape="1">
            <a:blip r:embed="rId6"/>
            <a:srcRect r="82925" b="73759"/>
            <a:stretch/>
          </p:blipFill>
          <p:spPr bwMode="auto">
            <a:xfrm>
              <a:off x="263523" y="673099"/>
              <a:ext cx="358456" cy="371034"/>
            </a:xfrm>
            <a:prstGeom prst="rect">
              <a:avLst/>
            </a:prstGeom>
          </p:spPr>
        </p:pic>
        <p:pic>
          <p:nvPicPr>
            <p:cNvPr id="1387075981" name="Picture 18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44129" r="37750" b="92242"/>
            <a:stretch/>
          </p:blipFill>
          <p:spPr bwMode="auto">
            <a:xfrm>
              <a:off x="688339" y="129539"/>
              <a:ext cx="2096134" cy="307974"/>
            </a:xfrm>
            <a:prstGeom prst="rect">
              <a:avLst/>
            </a:prstGeom>
          </p:spPr>
        </p:pic>
        <p:pic>
          <p:nvPicPr>
            <p:cNvPr id="1433617406" name="Picture 20" descr="comprehensive_abu_timeline"/>
            <p:cNvPicPr>
              <a:picLocks noChangeAspect="1"/>
            </p:cNvPicPr>
            <p:nvPr/>
          </p:nvPicPr>
          <p:blipFill rotWithShape="1">
            <a:blip r:embed="rId7"/>
            <a:srcRect l="64001" r="23851" b="92242"/>
            <a:stretch/>
          </p:blipFill>
          <p:spPr bwMode="auto">
            <a:xfrm>
              <a:off x="688339" y="673099"/>
              <a:ext cx="1405254" cy="307974"/>
            </a:xfrm>
            <a:prstGeom prst="rect">
              <a:avLst/>
            </a:prstGeom>
          </p:spPr>
        </p:pic>
        <p:pic>
          <p:nvPicPr>
            <p:cNvPr id="1700737834" name="Picture 1700737833"/>
            <p:cNvPicPr>
              <a:picLocks noChangeAspect="1"/>
            </p:cNvPicPr>
            <p:nvPr/>
          </p:nvPicPr>
          <p:blipFill rotWithShape="1">
            <a:blip r:embed="rId8"/>
            <a:srcRect l="66837" r="14438" b="91610"/>
            <a:stretch/>
          </p:blipFill>
          <p:spPr bwMode="auto">
            <a:xfrm>
              <a:off x="621981" y="1193799"/>
              <a:ext cx="2209658" cy="325465"/>
            </a:xfrm>
            <a:prstGeom prst="rect">
              <a:avLst/>
            </a:prstGeom>
          </p:spPr>
        </p:pic>
        <p:pic>
          <p:nvPicPr>
            <p:cNvPr id="1562104430" name="Picture 27" descr="ABU_icon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242024" y="1182111"/>
              <a:ext cx="401455" cy="306585"/>
            </a:xfrm>
            <a:prstGeom prst="rect">
              <a:avLst/>
            </a:prstGeom>
          </p:spPr>
        </p:pic>
      </p:grpSp>
      <p:cxnSp>
        <p:nvCxnSpPr>
          <p:cNvPr id="1044748478" name="Straight Connector 1044748477"/>
          <p:cNvCxnSpPr/>
          <p:nvPr/>
        </p:nvCxnSpPr>
        <p:spPr bwMode="auto">
          <a:xfrm flipV="1">
            <a:off x="4287333" y="2829559"/>
            <a:ext cx="0" cy="1031874"/>
          </a:xfrm>
          <a:prstGeom prst="line">
            <a:avLst/>
          </a:prstGeom>
          <a:ln w="38100">
            <a:solidFill>
              <a:srgbClr val="E6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1850261" name="Straight Connector 1281850260"/>
          <p:cNvCxnSpPr/>
          <p:nvPr/>
        </p:nvCxnSpPr>
        <p:spPr bwMode="auto">
          <a:xfrm flipV="1">
            <a:off x="4947732" y="2829559"/>
            <a:ext cx="0" cy="1603374"/>
          </a:xfrm>
          <a:prstGeom prst="line">
            <a:avLst/>
          </a:prstGeom>
          <a:ln w="38100">
            <a:solidFill>
              <a:srgbClr val="E6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79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85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9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05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93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795615" grpId="0" animBg="1"/>
      <p:bldP spid="1002795615" grpId="1" animBg="1"/>
      <p:bldP spid="15798318" grpId="0" animBg="1"/>
      <p:bldP spid="15798318" grpId="1" animBg="1"/>
      <p:bldP spid="375288054" grpId="0"/>
      <p:bldP spid="375288054" grpId="1"/>
      <p:bldP spid="843938548" grpId="0" animBg="1"/>
      <p:bldP spid="843938548" grpId="1" animBg="1"/>
      <p:bldP spid="1576795907" grpId="1"/>
      <p:bldP spid="380499062" grpId="0" bldLvl="0" animBg="1"/>
      <p:bldP spid="38049906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269629" name="Maroon rectangle"/>
          <p:cNvSpPr/>
          <p:nvPr/>
        </p:nvSpPr>
        <p:spPr bwMode="auto">
          <a:xfrm>
            <a:off x="0" y="-6985"/>
            <a:ext cx="12179934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ABUs 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3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ncrease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eVTOL 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light 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3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adence</a:t>
            </a:r>
            <a:endParaRPr lang="en-US" sz="3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40206079" name="Picture 2" descr="common-cas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410" y="1376680"/>
            <a:ext cx="11981815" cy="3894455"/>
          </a:xfrm>
          <a:prstGeom prst="rect">
            <a:avLst/>
          </a:prstGeom>
        </p:spPr>
      </p:pic>
      <p:sp>
        <p:nvSpPr>
          <p:cNvPr id="1404235530" name="Text Box 4"/>
          <p:cNvSpPr txBox="1"/>
          <p:nvPr/>
        </p:nvSpPr>
        <p:spPr bwMode="auto">
          <a:xfrm>
            <a:off x="394335" y="5482590"/>
            <a:ext cx="5277485" cy="10312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400">
                <a:solidFill>
                  <a:srgbClr val="3A3C3D"/>
                </a:solidFill>
              </a:rPr>
              <a:t>ABUs increase UAM flights </a:t>
            </a:r>
            <a:br>
              <a:rPr lang="en-US" sz="2400">
                <a:solidFill>
                  <a:srgbClr val="3A3C3D"/>
                </a:solidFill>
              </a:rPr>
            </a:br>
            <a:r>
              <a:rPr lang="en-US" sz="2400">
                <a:solidFill>
                  <a:srgbClr val="3A3C3D"/>
                </a:solidFill>
              </a:rPr>
              <a:t>per eight-hour period by </a:t>
            </a:r>
            <a:r>
              <a:rPr lang="en-US" sz="2400" b="1">
                <a:solidFill>
                  <a:srgbClr val="3A3C3D"/>
                </a:solidFill>
              </a:rPr>
              <a:t>1.5 to 2.6</a:t>
            </a:r>
            <a:r>
              <a:rPr lang="en-US" sz="2400" b="1">
                <a:solidFill>
                  <a:srgbClr val="3A3C3D"/>
                </a:solidFill>
                <a:latin typeface="Arial"/>
              </a:rPr>
              <a:t>×</a:t>
            </a:r>
            <a:endParaRPr lang="en-US" sz="2400" b="1">
              <a:solidFill>
                <a:srgbClr val="3A3C3D"/>
              </a:solidFill>
              <a:latin typeface="Arial"/>
              <a:cs typeface="Arial"/>
            </a:endParaRPr>
          </a:p>
        </p:txBody>
      </p:sp>
      <p:sp>
        <p:nvSpPr>
          <p:cNvPr id="520581701" name="Right Arrow 9"/>
          <p:cNvSpPr/>
          <p:nvPr/>
        </p:nvSpPr>
        <p:spPr bwMode="auto">
          <a:xfrm>
            <a:off x="6113780" y="5839460"/>
            <a:ext cx="801370" cy="316865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200"/>
          </a:p>
        </p:txBody>
      </p:sp>
      <p:sp>
        <p:nvSpPr>
          <p:cNvPr id="1130104301" name="Text Box 10"/>
          <p:cNvSpPr txBox="1"/>
          <p:nvPr/>
        </p:nvSpPr>
        <p:spPr bwMode="auto">
          <a:xfrm>
            <a:off x="7031990" y="5452110"/>
            <a:ext cx="4827270" cy="110236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noAutofit/>
          </a:bodyPr>
          <a:lstStyle/>
          <a:p>
            <a:pPr marL="0" indent="0" algn="ctr">
              <a:lnSpc>
                <a:spcPct val="120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800" b="1">
                <a:solidFill>
                  <a:srgbClr val="3A3C3D"/>
                </a:solidFill>
                <a:latin typeface="Arial"/>
                <a:cs typeface="Arial"/>
              </a:rPr>
              <a:t>M</a:t>
            </a:r>
            <a:r>
              <a:rPr lang="en-US" sz="2800" b="1">
                <a:solidFill>
                  <a:srgbClr val="3A3C3D"/>
                </a:solidFill>
                <a:latin typeface="Arial"/>
                <a:cs typeface="Arial"/>
              </a:rPr>
              <a:t>ore practical and economical</a:t>
            </a:r>
            <a:r>
              <a:rPr lang="vi-VN" sz="2800" b="1">
                <a:solidFill>
                  <a:srgbClr val="3A3C3D"/>
                </a:solidFill>
                <a:latin typeface="Arial"/>
                <a:cs typeface="Arial"/>
              </a:rPr>
              <a:t> UAM services</a:t>
            </a:r>
          </a:p>
        </p:txBody>
      </p:sp>
      <p:sp>
        <p:nvSpPr>
          <p:cNvPr id="1118430374" name="Oval 73"/>
          <p:cNvSpPr/>
          <p:nvPr/>
        </p:nvSpPr>
        <p:spPr bwMode="auto">
          <a:xfrm>
            <a:off x="824865" y="2912745"/>
            <a:ext cx="535305" cy="5156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894585329" name="Group 18"/>
          <p:cNvGrpSpPr/>
          <p:nvPr/>
        </p:nvGrpSpPr>
        <p:grpSpPr bwMode="auto">
          <a:xfrm rot="10800000">
            <a:off x="878483" y="2107889"/>
            <a:ext cx="1084570" cy="981613"/>
            <a:chOff x="0" y="0"/>
            <a:chExt cx="1084570" cy="981613"/>
          </a:xfrm>
        </p:grpSpPr>
        <p:sp>
          <p:nvSpPr>
            <p:cNvPr id="16" name="Arc 15"/>
            <p:cNvSpPr/>
            <p:nvPr/>
          </p:nvSpPr>
          <p:spPr bwMode="auto">
            <a:xfrm rot="3419999">
              <a:off x="76089" y="-76089"/>
              <a:ext cx="932392" cy="1084570"/>
            </a:xfrm>
            <a:prstGeom prst="arc">
              <a:avLst>
                <a:gd name="adj1" fmla="val 16200000"/>
                <a:gd name="adj2" fmla="val 0"/>
              </a:avLst>
            </a:prstGeom>
            <a:ln w="28575">
              <a:solidFill>
                <a:srgbClr val="BF010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Isosceles Triangle 17"/>
            <p:cNvSpPr/>
            <p:nvPr/>
          </p:nvSpPr>
          <p:spPr bwMode="auto">
            <a:xfrm rot="13980000">
              <a:off x="654114" y="818521"/>
              <a:ext cx="154762" cy="171419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502218918" name="Rectangles 22"/>
          <p:cNvSpPr/>
          <p:nvPr/>
        </p:nvSpPr>
        <p:spPr bwMode="auto">
          <a:xfrm>
            <a:off x="1615440" y="1684020"/>
            <a:ext cx="10372725" cy="2624455"/>
          </a:xfrm>
          <a:prstGeom prst="rect">
            <a:avLst/>
          </a:prstGeom>
          <a:solidFill>
            <a:schemeClr val="accent4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527745643" name="Group 7"/>
          <p:cNvGrpSpPr/>
          <p:nvPr/>
        </p:nvGrpSpPr>
        <p:grpSpPr bwMode="auto">
          <a:xfrm>
            <a:off x="1184908" y="1645284"/>
            <a:ext cx="530860" cy="474980"/>
            <a:chOff x="1416" y="1696"/>
            <a:chExt cx="835" cy="748"/>
          </a:xfrm>
        </p:grpSpPr>
        <p:sp>
          <p:nvSpPr>
            <p:cNvPr id="7" name="Rectangles 6"/>
            <p:cNvSpPr/>
            <p:nvPr/>
          </p:nvSpPr>
          <p:spPr bwMode="auto">
            <a:xfrm>
              <a:off x="1622" y="1928"/>
              <a:ext cx="453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" name="Text Box 1"/>
            <p:cNvSpPr txBox="1"/>
            <p:nvPr/>
          </p:nvSpPr>
          <p:spPr bwMode="auto">
            <a:xfrm>
              <a:off x="1416" y="1696"/>
              <a:ext cx="835" cy="7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noAutofit/>
            </a:bodyPr>
            <a:lstStyle/>
            <a:p>
              <a:pPr marL="0" indent="0" algn="ctr">
                <a:lnSpc>
                  <a:spcPct val="120000"/>
                </a:lnSpc>
                <a:spcAft>
                  <a:spcPts val="600"/>
                </a:spcAft>
                <a:buFont typeface="Arial"/>
                <a:buNone/>
                <a:defRPr/>
              </a:pPr>
              <a:r>
                <a:rPr lang="en-US" sz="2000" b="1">
                  <a:solidFill>
                    <a:srgbClr val="3A3C3D"/>
                  </a:solidFill>
                  <a:latin typeface="Arial"/>
                  <a:cs typeface="Arial"/>
                </a:rPr>
                <a:t>13</a:t>
              </a:r>
            </a:p>
          </p:txBody>
        </p:sp>
      </p:grpSp>
      <p:sp>
        <p:nvSpPr>
          <p:cNvPr id="1335610815" name="Oval 5"/>
          <p:cNvSpPr/>
          <p:nvPr/>
        </p:nvSpPr>
        <p:spPr bwMode="auto">
          <a:xfrm>
            <a:off x="1198245" y="1638300"/>
            <a:ext cx="535305" cy="5156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74644292" name="Group 19"/>
          <p:cNvGrpSpPr/>
          <p:nvPr/>
        </p:nvGrpSpPr>
        <p:grpSpPr bwMode="auto">
          <a:xfrm>
            <a:off x="817245" y="2903220"/>
            <a:ext cx="530860" cy="475615"/>
            <a:chOff x="-641" y="5113"/>
            <a:chExt cx="835" cy="749"/>
          </a:xfrm>
        </p:grpSpPr>
        <p:sp>
          <p:nvSpPr>
            <p:cNvPr id="15" name="Rectangles 14"/>
            <p:cNvSpPr/>
            <p:nvPr/>
          </p:nvSpPr>
          <p:spPr bwMode="auto">
            <a:xfrm>
              <a:off x="-343" y="5345"/>
              <a:ext cx="233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Text Box 16"/>
            <p:cNvSpPr txBox="1"/>
            <p:nvPr/>
          </p:nvSpPr>
          <p:spPr bwMode="auto">
            <a:xfrm>
              <a:off x="-641" y="5113"/>
              <a:ext cx="835" cy="7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noAutofit/>
            </a:bodyPr>
            <a:lstStyle/>
            <a:p>
              <a:pPr marL="0" indent="0" algn="ctr">
                <a:lnSpc>
                  <a:spcPct val="120000"/>
                </a:lnSpc>
                <a:spcAft>
                  <a:spcPts val="600"/>
                </a:spcAft>
                <a:buFont typeface="Arial"/>
                <a:buNone/>
                <a:defRPr/>
              </a:pPr>
              <a:r>
                <a:rPr lang="en-US" sz="2000" b="1">
                  <a:solidFill>
                    <a:srgbClr val="3A3C3D"/>
                  </a:solidFill>
                  <a:latin typeface="Arial"/>
                  <a:cs typeface="Arial"/>
                </a:rPr>
                <a:t>6</a:t>
              </a:r>
            </a:p>
          </p:txBody>
        </p:sp>
      </p:grpSp>
      <p:sp>
        <p:nvSpPr>
          <p:cNvPr id="1471478384" name="Text Box 8"/>
          <p:cNvSpPr txBox="1"/>
          <p:nvPr/>
        </p:nvSpPr>
        <p:spPr bwMode="auto">
          <a:xfrm>
            <a:off x="581659" y="752474"/>
            <a:ext cx="11233785" cy="5924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lvl="0" algn="ctr">
              <a:lnSpc>
                <a:spcPct val="150000"/>
              </a:lnSpc>
              <a:spcAft>
                <a:spcPts val="200"/>
              </a:spcAft>
              <a:buSzPts val="3000"/>
              <a:buFont typeface="Arial"/>
              <a:defRPr/>
            </a:pPr>
            <a:r>
              <a:rPr lang="en-US" sz="2400">
                <a:solidFill>
                  <a:srgbClr val="3A3C3D"/>
                </a:solidFill>
              </a:rPr>
              <a:t>Effects of ABUs on eVTOL Flight cadence Over an 8-Hour Period</a:t>
            </a:r>
          </a:p>
        </p:txBody>
      </p:sp>
      <p:sp>
        <p:nvSpPr>
          <p:cNvPr id="663333926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7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20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21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43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58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61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74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58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0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4235530" grpId="0" bldLvl="0" animBg="1"/>
      <p:bldP spid="1404235530" grpId="1" animBg="1"/>
      <p:bldP spid="520581701" grpId="0" bldLvl="0" animBg="1"/>
      <p:bldP spid="520581701" grpId="1" animBg="1"/>
      <p:bldP spid="1130104301" grpId="0" bldLvl="0" animBg="1"/>
      <p:bldP spid="1130104301" grpId="1" animBg="1"/>
      <p:bldP spid="1118430374" grpId="0" bldLvl="0" animBg="1"/>
      <p:bldP spid="1118430374" grpId="1" animBg="1"/>
      <p:bldP spid="1502218918" grpId="0" bldLvl="0" animBg="1"/>
      <p:bldP spid="1502218918" grpId="1" animBg="1"/>
      <p:bldP spid="1335610815" grpId="0" bldLvl="0" animBg="1"/>
      <p:bldP spid="1335610815" grpId="1" animBg="1"/>
      <p:bldP spid="1471478384" grpId="0"/>
      <p:bldP spid="147147838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835875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ABU Functional Analysis</a:t>
            </a:r>
            <a:r>
              <a:rPr lang="vi-VN" sz="3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Recap</a:t>
            </a:r>
          </a:p>
        </p:txBody>
      </p:sp>
      <p:sp>
        <p:nvSpPr>
          <p:cNvPr id="1330704838" name="Freeform 8"/>
          <p:cNvSpPr/>
          <p:nvPr/>
        </p:nvSpPr>
        <p:spPr bwMode="white">
          <a:xfrm>
            <a:off x="658495" y="4250055"/>
            <a:ext cx="4384040" cy="2103120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531253512" name="Freeform 35"/>
          <p:cNvSpPr/>
          <p:nvPr/>
        </p:nvSpPr>
        <p:spPr bwMode="white">
          <a:xfrm>
            <a:off x="7306310" y="4248150"/>
            <a:ext cx="4301490" cy="2103120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808465930" name="Freeform 33"/>
          <p:cNvSpPr/>
          <p:nvPr/>
        </p:nvSpPr>
        <p:spPr bwMode="white">
          <a:xfrm>
            <a:off x="7306310" y="1265555"/>
            <a:ext cx="4300855" cy="2071370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642961063" name="Freeform 21"/>
          <p:cNvSpPr/>
          <p:nvPr/>
        </p:nvSpPr>
        <p:spPr bwMode="white">
          <a:xfrm>
            <a:off x="659130" y="1267460"/>
            <a:ext cx="4384040" cy="2072004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85763527" name="Freeform 25"/>
          <p:cNvSpPr/>
          <p:nvPr/>
        </p:nvSpPr>
        <p:spPr bwMode="white">
          <a:xfrm>
            <a:off x="3910965" y="1445895"/>
            <a:ext cx="2261235" cy="2261235"/>
          </a:xfrm>
          <a:custGeom>
            <a:avLst/>
            <a:gdLst>
              <a:gd name="connisteX0" fmla="*/ 0 w 3227"/>
              <a:gd name="connsiteY0" fmla="*/ 0 h 3227"/>
              <a:gd name="connisteX1" fmla="*/ 3227 w 3227"/>
              <a:gd name="connsiteY1" fmla="*/ 1613 h 3227"/>
              <a:gd name="connisteX2" fmla="*/ 1613 w 3227"/>
              <a:gd name="connsiteY2" fmla="*/ 3227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0" y="3227"/>
                </a:moveTo>
                <a:cubicBezTo>
                  <a:pt x="0" y="1445"/>
                  <a:pt x="1445" y="0"/>
                  <a:pt x="3227" y="0"/>
                </a:cubicBezTo>
                <a:lnTo>
                  <a:pt x="3227" y="3227"/>
                </a:lnTo>
                <a:lnTo>
                  <a:pt x="0" y="3227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90196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vert="horz" wrap="square" lIns="734828" tIns="734828" rIns="134619" bIns="134619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200">
                <a:solidFill>
                  <a:schemeClr val="lt1"/>
                </a:solidFill>
              </a:rPr>
              <a:t>Assisted Takeoff</a:t>
            </a:r>
          </a:p>
        </p:txBody>
      </p:sp>
      <p:sp>
        <p:nvSpPr>
          <p:cNvPr id="1779109138" name="Freeform 26"/>
          <p:cNvSpPr/>
          <p:nvPr/>
        </p:nvSpPr>
        <p:spPr bwMode="white">
          <a:xfrm>
            <a:off x="6266815" y="1438275"/>
            <a:ext cx="2268855" cy="2268855"/>
          </a:xfrm>
          <a:custGeom>
            <a:avLst/>
            <a:gdLst>
              <a:gd name="connisteX0" fmla="*/ 0 w 3227"/>
              <a:gd name="connsiteY0" fmla="*/ 0 h 3227"/>
              <a:gd name="connisteX1" fmla="*/ 1613 w 3227"/>
              <a:gd name="connsiteY1" fmla="*/ 3227 h 3227"/>
              <a:gd name="connisteX2" fmla="*/ 0 w 3227"/>
              <a:gd name="connsiteY2" fmla="*/ 1613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0" y="0"/>
                </a:moveTo>
                <a:cubicBezTo>
                  <a:pt x="1782" y="0"/>
                  <a:pt x="3227" y="1445"/>
                  <a:pt x="3227" y="3227"/>
                </a:cubicBezTo>
                <a:lnTo>
                  <a:pt x="0" y="3227"/>
                </a:lnTo>
                <a:lnTo>
                  <a:pt x="0" y="0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76863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vert="horz" wrap="square" lIns="134619" tIns="734828" rIns="734828" bIns="134619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>
                <a:solidFill>
                  <a:schemeClr val="lt1"/>
                </a:solidFill>
              </a:rPr>
              <a:t>Assisted Cruise</a:t>
            </a:r>
          </a:p>
        </p:txBody>
      </p:sp>
      <p:sp>
        <p:nvSpPr>
          <p:cNvPr id="9984966" name="Freeform 27"/>
          <p:cNvSpPr/>
          <p:nvPr/>
        </p:nvSpPr>
        <p:spPr bwMode="white">
          <a:xfrm>
            <a:off x="6266815" y="3801745"/>
            <a:ext cx="2268220" cy="2268220"/>
          </a:xfrm>
          <a:custGeom>
            <a:avLst/>
            <a:gdLst>
              <a:gd name="connisteX0" fmla="*/ 0 w 3227"/>
              <a:gd name="connsiteY0" fmla="*/ 0 h 3227"/>
              <a:gd name="connisteX1" fmla="*/ 0 w 3227"/>
              <a:gd name="connsiteY1" fmla="*/ 1613 h 3227"/>
              <a:gd name="connisteX2" fmla="*/ 1613 w 3227"/>
              <a:gd name="connsiteY2" fmla="*/ 0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3227" y="0"/>
                </a:moveTo>
                <a:cubicBezTo>
                  <a:pt x="3227" y="1782"/>
                  <a:pt x="1782" y="3227"/>
                  <a:pt x="0" y="3227"/>
                </a:cubicBezTo>
                <a:lnTo>
                  <a:pt x="0" y="0"/>
                </a:lnTo>
                <a:lnTo>
                  <a:pt x="3227" y="0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63529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rot="-21600000" vert="horz" wrap="square" lIns="134619" tIns="134619" rIns="734828" bIns="734828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200"/>
              <a:t>Common Case Economics</a:t>
            </a:r>
          </a:p>
        </p:txBody>
      </p:sp>
      <p:sp>
        <p:nvSpPr>
          <p:cNvPr id="1456860439" name="Freeform 28"/>
          <p:cNvSpPr/>
          <p:nvPr/>
        </p:nvSpPr>
        <p:spPr bwMode="white">
          <a:xfrm>
            <a:off x="3910965" y="3801745"/>
            <a:ext cx="2261235" cy="2261235"/>
          </a:xfrm>
          <a:custGeom>
            <a:avLst/>
            <a:gdLst>
              <a:gd name="connisteX0" fmla="*/ 0 w 3227"/>
              <a:gd name="connsiteY0" fmla="*/ 0 h 3227"/>
              <a:gd name="connisteX1" fmla="*/ 1613 w 3227"/>
              <a:gd name="connsiteY1" fmla="*/ 0 h 3227"/>
              <a:gd name="connisteX2" fmla="*/ 3227 w 3227"/>
              <a:gd name="connsiteY2" fmla="*/ 1613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3227" y="3227"/>
                </a:moveTo>
                <a:cubicBezTo>
                  <a:pt x="1445" y="3227"/>
                  <a:pt x="0" y="1782"/>
                  <a:pt x="0" y="0"/>
                </a:cubicBezTo>
                <a:lnTo>
                  <a:pt x="3227" y="0"/>
                </a:lnTo>
                <a:lnTo>
                  <a:pt x="3227" y="3227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50196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rot="-21600000" vert="horz" wrap="square" lIns="734828" tIns="134619" rIns="134619" bIns="734828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200">
                <a:solidFill>
                  <a:schemeClr val="lt1"/>
                </a:solidFill>
              </a:rPr>
              <a:t>Landing Safety</a:t>
            </a:r>
          </a:p>
        </p:txBody>
      </p:sp>
      <p:sp>
        <p:nvSpPr>
          <p:cNvPr id="452004786" name="Text Box 40"/>
          <p:cNvSpPr txBox="1"/>
          <p:nvPr/>
        </p:nvSpPr>
        <p:spPr bwMode="auto">
          <a:xfrm>
            <a:off x="8030845" y="1572895"/>
            <a:ext cx="3442335" cy="1242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r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P</a:t>
            </a:r>
            <a:r>
              <a:rPr lang="en-US" sz="2000">
                <a:solidFill>
                  <a:srgbClr val="3A3C3D"/>
                </a:solidFill>
              </a:rPr>
              <a:t>rovide cruise energy </a:t>
            </a: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</a:t>
            </a:r>
            <a:r>
              <a:rPr lang="en-US" sz="2000">
                <a:solidFill>
                  <a:srgbClr val="3A3C3D"/>
                </a:solidFill>
              </a:rPr>
              <a:t> reduced depth-of-discharge (DOD)</a:t>
            </a: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endParaRPr lang="en-US" sz="2000">
              <a:solidFill>
                <a:srgbClr val="3A3C3D"/>
              </a:solidFill>
            </a:endParaRP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endParaRPr lang="en-US" sz="2000">
              <a:solidFill>
                <a:srgbClr val="3A3C3D"/>
              </a:solidFill>
            </a:endParaRPr>
          </a:p>
        </p:txBody>
      </p:sp>
      <p:sp>
        <p:nvSpPr>
          <p:cNvPr id="1200304752" name="Text Box 45"/>
          <p:cNvSpPr txBox="1"/>
          <p:nvPr/>
        </p:nvSpPr>
        <p:spPr bwMode="auto">
          <a:xfrm>
            <a:off x="855345" y="4472305"/>
            <a:ext cx="3776345" cy="1809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S</a:t>
            </a:r>
            <a:r>
              <a:rPr lang="en-US" sz="2000">
                <a:solidFill>
                  <a:srgbClr val="3A3C3D"/>
                </a:solidFill>
              </a:rPr>
              <a:t>upport emergency landing </a:t>
            </a:r>
            <a:r>
              <a:rPr lang="vi-VN" sz="2000">
                <a:solidFill>
                  <a:srgbClr val="3A3C3D"/>
                </a:solidFill>
              </a:rPr>
              <a:t>situations</a:t>
            </a:r>
            <a:endParaRPr lang="en-US" sz="2000">
              <a:solidFill>
                <a:srgbClr val="3A3C3D"/>
              </a:solidFill>
            </a:endParaRP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</a:t>
            </a:r>
            <a:r>
              <a:rPr lang="en-US" sz="2000">
                <a:solidFill>
                  <a:srgbClr val="3A3C3D"/>
                </a:solidFill>
              </a:rPr>
              <a:t> </a:t>
            </a:r>
            <a:r>
              <a:rPr lang="vi-VN" sz="2000">
                <a:solidFill>
                  <a:srgbClr val="3A3C3D"/>
                </a:solidFill>
              </a:rPr>
              <a:t>supported</a:t>
            </a:r>
            <a:r>
              <a:rPr lang="en-US" sz="2000">
                <a:solidFill>
                  <a:srgbClr val="3A3C3D"/>
                </a:solidFill>
              </a:rPr>
              <a:t> hover</a:t>
            </a:r>
            <a:r>
              <a:rPr lang="vi-VN" sz="2000">
                <a:solidFill>
                  <a:srgbClr val="3A3C3D"/>
                </a:solidFill>
              </a:rPr>
              <a:t>/loiter/</a:t>
            </a:r>
            <a:r>
              <a:rPr lang="en-US" sz="2000">
                <a:solidFill>
                  <a:srgbClr val="3A3C3D"/>
                </a:solidFill>
              </a:rPr>
              <a:t>divert </a:t>
            </a:r>
            <a:r>
              <a:rPr lang="vi-VN" sz="2000">
                <a:solidFill>
                  <a:srgbClr val="3A3C3D"/>
                </a:solidFill>
              </a:rPr>
              <a:t>margin</a:t>
            </a:r>
          </a:p>
        </p:txBody>
      </p:sp>
      <p:sp>
        <p:nvSpPr>
          <p:cNvPr id="1931493695" name="Text Box 46"/>
          <p:cNvSpPr txBox="1"/>
          <p:nvPr/>
        </p:nvSpPr>
        <p:spPr bwMode="auto">
          <a:xfrm>
            <a:off x="8273415" y="4566920"/>
            <a:ext cx="3171190" cy="1275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r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000">
                <a:solidFill>
                  <a:srgbClr val="3A3C3D"/>
                </a:solidFill>
              </a:rPr>
              <a:t>Integrates mission energy + CC–CV charging model </a:t>
            </a: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 </a:t>
            </a:r>
            <a:r>
              <a:rPr lang="en-US" sz="2000">
                <a:solidFill>
                  <a:srgbClr val="3A3C3D"/>
                </a:solidFill>
              </a:rPr>
              <a:t>feasible flights</a:t>
            </a:r>
          </a:p>
        </p:txBody>
      </p:sp>
      <p:pic>
        <p:nvPicPr>
          <p:cNvPr id="1538703167" name="Picture 50" descr="Common Case (1)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58830" y="3707130"/>
            <a:ext cx="1233170" cy="1022985"/>
          </a:xfrm>
          <a:prstGeom prst="rect">
            <a:avLst/>
          </a:prstGeom>
        </p:spPr>
      </p:pic>
      <p:pic>
        <p:nvPicPr>
          <p:cNvPr id="2076666935" name="Picture 58" descr="Extended Fligh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22230" y="569595"/>
            <a:ext cx="2351405" cy="1400810"/>
          </a:xfrm>
          <a:prstGeom prst="rect">
            <a:avLst/>
          </a:prstGeom>
        </p:spPr>
      </p:pic>
      <p:sp>
        <p:nvSpPr>
          <p:cNvPr id="1507464668" name="Text Box 1"/>
          <p:cNvSpPr txBox="1"/>
          <p:nvPr/>
        </p:nvSpPr>
        <p:spPr bwMode="auto">
          <a:xfrm>
            <a:off x="890905" y="1449070"/>
            <a:ext cx="3689350" cy="189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S</a:t>
            </a:r>
            <a:r>
              <a:rPr lang="en-US" sz="2000">
                <a:solidFill>
                  <a:srgbClr val="3A3C3D"/>
                </a:solidFill>
              </a:rPr>
              <a:t>upply high takeoff power</a:t>
            </a: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O</a:t>
            </a:r>
            <a:r>
              <a:rPr lang="en-US" sz="2000">
                <a:solidFill>
                  <a:srgbClr val="3A3C3D"/>
                </a:solidFill>
              </a:rPr>
              <a:t>ffload main battery </a:t>
            </a:r>
          </a:p>
          <a:p>
            <a:pPr marL="0" algn="l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 </a:t>
            </a:r>
            <a:r>
              <a:rPr lang="en-US" sz="2000">
                <a:solidFill>
                  <a:srgbClr val="3A3C3D"/>
                </a:solidFill>
              </a:rPr>
              <a:t>MTOW reduction, energy redistribution</a:t>
            </a:r>
          </a:p>
        </p:txBody>
      </p:sp>
      <p:sp>
        <p:nvSpPr>
          <p:cNvPr id="912326246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Picture 61" descr="Assisted Takeoff">
            <a:extLst>
              <a:ext uri="{FF2B5EF4-FFF2-40B4-BE49-F238E27FC236}">
                <a16:creationId xmlns:a16="http://schemas.microsoft.com/office/drawing/2014/main" id="{8D29CDF0-1ECA-D67B-1089-6AFDDA4E49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-213360" y="569595"/>
            <a:ext cx="1903095" cy="1224280"/>
          </a:xfrm>
          <a:prstGeom prst="rect">
            <a:avLst/>
          </a:prstGeom>
        </p:spPr>
      </p:pic>
      <p:pic>
        <p:nvPicPr>
          <p:cNvPr id="4" name="Picture 60" descr="Landing Safety">
            <a:extLst>
              <a:ext uri="{FF2B5EF4-FFF2-40B4-BE49-F238E27FC236}">
                <a16:creationId xmlns:a16="http://schemas.microsoft.com/office/drawing/2014/main" id="{8BEECD09-0264-FFFB-A6DE-4950BF5A2BF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-337185" y="3460750"/>
            <a:ext cx="1903095" cy="12693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702145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ABU Functional Analysis</a:t>
            </a:r>
            <a:r>
              <a:rPr lang="vi-VN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Recap</a:t>
            </a:r>
            <a:endParaRPr lang="en-US" sz="36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619132" name="Freeform 8"/>
          <p:cNvSpPr/>
          <p:nvPr/>
        </p:nvSpPr>
        <p:spPr bwMode="white">
          <a:xfrm>
            <a:off x="658495" y="4250055"/>
            <a:ext cx="4384040" cy="2103120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127508895" name="Freeform 35"/>
          <p:cNvSpPr/>
          <p:nvPr/>
        </p:nvSpPr>
        <p:spPr bwMode="white">
          <a:xfrm>
            <a:off x="7306310" y="4248150"/>
            <a:ext cx="4301490" cy="2103120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791626602" name="Freeform 33"/>
          <p:cNvSpPr/>
          <p:nvPr/>
        </p:nvSpPr>
        <p:spPr bwMode="white">
          <a:xfrm>
            <a:off x="7306310" y="1265555"/>
            <a:ext cx="4300855" cy="2071370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09466080" name="Freeform 21"/>
          <p:cNvSpPr/>
          <p:nvPr/>
        </p:nvSpPr>
        <p:spPr bwMode="white">
          <a:xfrm>
            <a:off x="659130" y="1267460"/>
            <a:ext cx="4384040" cy="2072004"/>
          </a:xfrm>
          <a:custGeom>
            <a:avLst/>
            <a:gdLst>
              <a:gd name="connisteX0" fmla="*/ 0 w 3681"/>
              <a:gd name="connsiteY0" fmla="*/ 0 h 2387"/>
              <a:gd name="connisteX1" fmla="*/ 238 w 3681"/>
              <a:gd name="connsiteY1" fmla="*/ 0 h 2387"/>
              <a:gd name="connisteX2" fmla="*/ 1840 w 3681"/>
              <a:gd name="connsiteY2" fmla="*/ 0 h 2387"/>
              <a:gd name="connisteX3" fmla="*/ 0 w 3681"/>
              <a:gd name="connsiteY3" fmla="*/ 1193 h 2387"/>
              <a:gd name="connisteX4" fmla="*/ 1840 w 3681"/>
              <a:gd name="connsiteY4" fmla="*/ 2387 h 2387"/>
              <a:gd name="connisteX5" fmla="*/ 3681 w 3681"/>
              <a:gd name="connsiteY5" fmla="*/ 1193 h 23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rect l="l" t="t" r="r" b="b"/>
            <a:pathLst>
              <a:path w="3682" h="2387" extrusionOk="0">
                <a:moveTo>
                  <a:pt x="0" y="239"/>
                </a:moveTo>
                <a:cubicBezTo>
                  <a:pt x="0" y="107"/>
                  <a:pt x="107" y="0"/>
                  <a:pt x="239" y="0"/>
                </a:cubicBezTo>
                <a:lnTo>
                  <a:pt x="3443" y="0"/>
                </a:lnTo>
                <a:cubicBezTo>
                  <a:pt x="3575" y="0"/>
                  <a:pt x="3682" y="107"/>
                  <a:pt x="3682" y="239"/>
                </a:cubicBezTo>
                <a:lnTo>
                  <a:pt x="3682" y="2149"/>
                </a:lnTo>
                <a:cubicBezTo>
                  <a:pt x="3682" y="2280"/>
                  <a:pt x="3575" y="2387"/>
                  <a:pt x="3443" y="2387"/>
                </a:cubicBezTo>
                <a:lnTo>
                  <a:pt x="239" y="2387"/>
                </a:lnTo>
                <a:cubicBezTo>
                  <a:pt x="107" y="2387"/>
                  <a:pt x="0" y="2280"/>
                  <a:pt x="0" y="2149"/>
                </a:cubicBezTo>
                <a:lnTo>
                  <a:pt x="0" y="239"/>
                </a:lnTo>
              </a:path>
            </a:pathLst>
          </a:custGeom>
        </p:spPr>
        <p:style>
          <a:lnRef idx="2">
            <a:schemeClr val="accent1">
              <a:alpha val="90000"/>
              <a:hueOff val="0"/>
              <a:satOff val="0"/>
              <a:lumOff val="0"/>
              <a:alpha val="90196"/>
            </a:schemeClr>
          </a:lnRef>
          <a:fillRef idx="1">
            <a:schemeClr val="lt1">
              <a:alpha val="90000"/>
            </a:schemeClr>
          </a:fillRef>
          <a:effectRef idx="0">
            <a:srgbClr val="000000"/>
          </a:effectRef>
          <a:fontRef idx="minor"/>
        </p:style>
        <p:txBody>
          <a:bodyPr vert="horz" wrap="square" lIns="239039" tIns="239040" rIns="940419" bIns="618031" anchor="t">
            <a:noAutofit/>
          </a:bodyPr>
          <a:lstStyle>
            <a:lvl1pPr algn="l">
              <a:defRPr sz="5400"/>
            </a:lvl1pPr>
            <a:lvl2pPr marL="285750" indent="-285750" algn="l">
              <a:defRPr sz="4200"/>
            </a:lvl2pPr>
            <a:lvl3pPr marL="571500" indent="-285750" algn="l">
              <a:defRPr sz="4200"/>
            </a:lvl3pPr>
            <a:lvl4pPr marL="857250" indent="-285750" algn="l">
              <a:defRPr sz="4200"/>
            </a:lvl4pPr>
            <a:lvl5pPr marL="1143000" indent="-285750" algn="l">
              <a:defRPr sz="4200"/>
            </a:lvl5pPr>
            <a:lvl6pPr marL="1428750" indent="-285750" algn="l">
              <a:defRPr sz="4200"/>
            </a:lvl6pPr>
            <a:lvl7pPr marL="1714500" indent="-285750" algn="l">
              <a:defRPr sz="4200"/>
            </a:lvl7pPr>
            <a:lvl8pPr marL="2000250" indent="-285750" algn="l">
              <a:defRPr sz="4200"/>
            </a:lvl8pPr>
            <a:lvl9pPr marL="2286000" indent="-285750" algn="l">
              <a:defRPr sz="4200"/>
            </a:lvl9pPr>
          </a:lstStyle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146776762" name="Freeform 25"/>
          <p:cNvSpPr/>
          <p:nvPr/>
        </p:nvSpPr>
        <p:spPr bwMode="white">
          <a:xfrm>
            <a:off x="3910965" y="1445895"/>
            <a:ext cx="2261235" cy="2261235"/>
          </a:xfrm>
          <a:custGeom>
            <a:avLst/>
            <a:gdLst>
              <a:gd name="connisteX0" fmla="*/ 0 w 3227"/>
              <a:gd name="connsiteY0" fmla="*/ 0 h 3227"/>
              <a:gd name="connisteX1" fmla="*/ 3227 w 3227"/>
              <a:gd name="connsiteY1" fmla="*/ 1613 h 3227"/>
              <a:gd name="connisteX2" fmla="*/ 1613 w 3227"/>
              <a:gd name="connsiteY2" fmla="*/ 3227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0" y="3227"/>
                </a:moveTo>
                <a:cubicBezTo>
                  <a:pt x="0" y="1445"/>
                  <a:pt x="1445" y="0"/>
                  <a:pt x="3227" y="0"/>
                </a:cubicBezTo>
                <a:lnTo>
                  <a:pt x="3227" y="3227"/>
                </a:lnTo>
                <a:lnTo>
                  <a:pt x="0" y="3227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90196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vert="horz" wrap="square" lIns="734828" tIns="734828" rIns="134619" bIns="134619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200">
                <a:solidFill>
                  <a:schemeClr val="lt1"/>
                </a:solidFill>
              </a:rPr>
              <a:t>Assisted Takeoff</a:t>
            </a:r>
          </a:p>
        </p:txBody>
      </p:sp>
      <p:sp>
        <p:nvSpPr>
          <p:cNvPr id="1459868971" name="Freeform 26"/>
          <p:cNvSpPr/>
          <p:nvPr/>
        </p:nvSpPr>
        <p:spPr bwMode="white">
          <a:xfrm>
            <a:off x="6266815" y="1438275"/>
            <a:ext cx="2268855" cy="2268855"/>
          </a:xfrm>
          <a:custGeom>
            <a:avLst/>
            <a:gdLst>
              <a:gd name="connisteX0" fmla="*/ 0 w 3227"/>
              <a:gd name="connsiteY0" fmla="*/ 0 h 3227"/>
              <a:gd name="connisteX1" fmla="*/ 1613 w 3227"/>
              <a:gd name="connsiteY1" fmla="*/ 3227 h 3227"/>
              <a:gd name="connisteX2" fmla="*/ 0 w 3227"/>
              <a:gd name="connsiteY2" fmla="*/ 1613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0" y="0"/>
                </a:moveTo>
                <a:cubicBezTo>
                  <a:pt x="1782" y="0"/>
                  <a:pt x="3227" y="1445"/>
                  <a:pt x="3227" y="3227"/>
                </a:cubicBezTo>
                <a:lnTo>
                  <a:pt x="0" y="3227"/>
                </a:lnTo>
                <a:lnTo>
                  <a:pt x="0" y="0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76863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vert="horz" wrap="square" lIns="134619" tIns="734828" rIns="734828" bIns="134619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>
                <a:solidFill>
                  <a:schemeClr val="lt1"/>
                </a:solidFill>
              </a:rPr>
              <a:t>Assisted Cruise</a:t>
            </a:r>
          </a:p>
        </p:txBody>
      </p:sp>
      <p:sp>
        <p:nvSpPr>
          <p:cNvPr id="1592386489" name="Freeform 27"/>
          <p:cNvSpPr/>
          <p:nvPr/>
        </p:nvSpPr>
        <p:spPr bwMode="white">
          <a:xfrm>
            <a:off x="6266815" y="3801745"/>
            <a:ext cx="2268220" cy="2268220"/>
          </a:xfrm>
          <a:custGeom>
            <a:avLst/>
            <a:gdLst>
              <a:gd name="connisteX0" fmla="*/ 0 w 3227"/>
              <a:gd name="connsiteY0" fmla="*/ 0 h 3227"/>
              <a:gd name="connisteX1" fmla="*/ 0 w 3227"/>
              <a:gd name="connsiteY1" fmla="*/ 1613 h 3227"/>
              <a:gd name="connisteX2" fmla="*/ 1613 w 3227"/>
              <a:gd name="connsiteY2" fmla="*/ 0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3227" y="0"/>
                </a:moveTo>
                <a:cubicBezTo>
                  <a:pt x="3227" y="1782"/>
                  <a:pt x="1782" y="3227"/>
                  <a:pt x="0" y="3227"/>
                </a:cubicBezTo>
                <a:lnTo>
                  <a:pt x="0" y="0"/>
                </a:lnTo>
                <a:lnTo>
                  <a:pt x="3227" y="0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63529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rot="-21600000" vert="horz" wrap="square" lIns="134619" tIns="134619" rIns="734828" bIns="734828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200"/>
              <a:t>Common Case Economics</a:t>
            </a:r>
          </a:p>
        </p:txBody>
      </p:sp>
      <p:sp>
        <p:nvSpPr>
          <p:cNvPr id="443189226" name="Freeform 28"/>
          <p:cNvSpPr/>
          <p:nvPr/>
        </p:nvSpPr>
        <p:spPr bwMode="white">
          <a:xfrm>
            <a:off x="3910965" y="3801745"/>
            <a:ext cx="2261235" cy="2261235"/>
          </a:xfrm>
          <a:custGeom>
            <a:avLst/>
            <a:gdLst>
              <a:gd name="connisteX0" fmla="*/ 0 w 3227"/>
              <a:gd name="connsiteY0" fmla="*/ 0 h 3227"/>
              <a:gd name="connisteX1" fmla="*/ 1613 w 3227"/>
              <a:gd name="connsiteY1" fmla="*/ 0 h 3227"/>
              <a:gd name="connisteX2" fmla="*/ 3227 w 3227"/>
              <a:gd name="connsiteY2" fmla="*/ 1613 h 322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227" h="3227" extrusionOk="0">
                <a:moveTo>
                  <a:pt x="3227" y="3227"/>
                </a:moveTo>
                <a:cubicBezTo>
                  <a:pt x="1445" y="3227"/>
                  <a:pt x="0" y="1782"/>
                  <a:pt x="0" y="0"/>
                </a:cubicBezTo>
                <a:lnTo>
                  <a:pt x="3227" y="0"/>
                </a:lnTo>
                <a:lnTo>
                  <a:pt x="3227" y="3227"/>
                </a:lnTo>
              </a:path>
            </a:pathLst>
          </a:custGeom>
        </p:spPr>
        <p:style>
          <a:lnRef idx="2">
            <a:schemeClr val="lt1"/>
          </a:lnRef>
          <a:fillRef idx="1">
            <a:schemeClr val="accent1">
              <a:alpha val="90000"/>
              <a:hueOff val="0"/>
              <a:satOff val="0"/>
              <a:lumOff val="0"/>
              <a:alpha val="50196"/>
            </a:schemeClr>
          </a:fillRef>
          <a:effectRef idx="0">
            <a:srgbClr val="000000"/>
          </a:effectRef>
          <a:fontRef idx="minor">
            <a:schemeClr val="lt1"/>
          </a:fontRef>
        </p:style>
        <p:txBody>
          <a:bodyPr rot="-21600000" vert="horz" wrap="square" lIns="734828" tIns="134619" rIns="134619" bIns="734828" anchor="ctr">
            <a:noAutofit/>
          </a:bodyPr>
          <a:lstStyle>
            <a:lvl1pPr algn="ctr">
              <a:defRPr sz="1900"/>
            </a:lvl1pPr>
            <a:lvl2pPr marL="114300" indent="-114300" algn="ctr">
              <a:defRPr sz="1400"/>
            </a:lvl2pPr>
            <a:lvl3pPr marL="228600" indent="-114300" algn="ctr">
              <a:defRPr sz="1400"/>
            </a:lvl3pPr>
            <a:lvl4pPr marL="342900" indent="-114300" algn="ctr">
              <a:defRPr sz="1400"/>
            </a:lvl4pPr>
            <a:lvl5pPr marL="457200" indent="-114300" algn="ctr">
              <a:defRPr sz="1400"/>
            </a:lvl5pPr>
            <a:lvl6pPr marL="571500" indent="-114300" algn="ctr">
              <a:defRPr sz="1400"/>
            </a:lvl6pPr>
            <a:lvl7pPr marL="685800" indent="-114300" algn="ctr">
              <a:defRPr sz="1400"/>
            </a:lvl7pPr>
            <a:lvl8pPr marL="800100" indent="-114300" algn="ctr">
              <a:defRPr sz="1400"/>
            </a:lvl8pPr>
            <a:lvl9pPr marL="914400" indent="-114300" algn="ctr">
              <a:defRPr sz="1400"/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200">
                <a:solidFill>
                  <a:schemeClr val="lt1"/>
                </a:solidFill>
              </a:rPr>
              <a:t>Landing Safety</a:t>
            </a:r>
          </a:p>
        </p:txBody>
      </p:sp>
      <p:sp>
        <p:nvSpPr>
          <p:cNvPr id="1340748059" name="Text Box 40"/>
          <p:cNvSpPr txBox="1"/>
          <p:nvPr/>
        </p:nvSpPr>
        <p:spPr bwMode="auto">
          <a:xfrm>
            <a:off x="8030845" y="1572895"/>
            <a:ext cx="3442335" cy="1242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r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P</a:t>
            </a:r>
            <a:r>
              <a:rPr lang="en-US" sz="2000">
                <a:solidFill>
                  <a:srgbClr val="3A3C3D"/>
                </a:solidFill>
              </a:rPr>
              <a:t>rovide cruise energy </a:t>
            </a: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</a:t>
            </a:r>
            <a:r>
              <a:rPr lang="en-US" sz="2000">
                <a:solidFill>
                  <a:srgbClr val="3A3C3D"/>
                </a:solidFill>
              </a:rPr>
              <a:t> reduced depth-of-discharge (DOD)</a:t>
            </a: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endParaRPr lang="en-US" sz="2000">
              <a:solidFill>
                <a:srgbClr val="3A3C3D"/>
              </a:solidFill>
            </a:endParaRP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endParaRPr lang="en-US" sz="2000">
              <a:solidFill>
                <a:srgbClr val="3A3C3D"/>
              </a:solidFill>
            </a:endParaRPr>
          </a:p>
        </p:txBody>
      </p:sp>
      <p:sp>
        <p:nvSpPr>
          <p:cNvPr id="16313999" name="Text Box 45"/>
          <p:cNvSpPr txBox="1"/>
          <p:nvPr/>
        </p:nvSpPr>
        <p:spPr bwMode="auto">
          <a:xfrm>
            <a:off x="855345" y="4472305"/>
            <a:ext cx="3776345" cy="1809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S</a:t>
            </a:r>
            <a:r>
              <a:rPr lang="en-US" sz="2000">
                <a:solidFill>
                  <a:srgbClr val="3A3C3D"/>
                </a:solidFill>
              </a:rPr>
              <a:t>upport emergency landing </a:t>
            </a:r>
            <a:r>
              <a:rPr lang="vi-VN" sz="2000">
                <a:solidFill>
                  <a:srgbClr val="3A3C3D"/>
                </a:solidFill>
              </a:rPr>
              <a:t>situations</a:t>
            </a:r>
            <a:endParaRPr lang="en-US" sz="2000">
              <a:solidFill>
                <a:srgbClr val="3A3C3D"/>
              </a:solidFill>
            </a:endParaRP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</a:t>
            </a:r>
            <a:r>
              <a:rPr lang="en-US" sz="2000">
                <a:solidFill>
                  <a:srgbClr val="3A3C3D"/>
                </a:solidFill>
              </a:rPr>
              <a:t> </a:t>
            </a:r>
            <a:r>
              <a:rPr lang="vi-VN" sz="2000">
                <a:solidFill>
                  <a:srgbClr val="3A3C3D"/>
                </a:solidFill>
              </a:rPr>
              <a:t>supported</a:t>
            </a:r>
            <a:r>
              <a:rPr lang="en-US" sz="2000">
                <a:solidFill>
                  <a:srgbClr val="3A3C3D"/>
                </a:solidFill>
              </a:rPr>
              <a:t> hover</a:t>
            </a:r>
            <a:r>
              <a:rPr lang="vi-VN" sz="2000">
                <a:solidFill>
                  <a:srgbClr val="3A3C3D"/>
                </a:solidFill>
              </a:rPr>
              <a:t>/loiter/</a:t>
            </a:r>
            <a:r>
              <a:rPr lang="en-US" sz="2000">
                <a:solidFill>
                  <a:srgbClr val="3A3C3D"/>
                </a:solidFill>
              </a:rPr>
              <a:t>divert </a:t>
            </a:r>
            <a:r>
              <a:rPr lang="vi-VN" sz="2000">
                <a:solidFill>
                  <a:srgbClr val="3A3C3D"/>
                </a:solidFill>
              </a:rPr>
              <a:t>margin</a:t>
            </a:r>
          </a:p>
        </p:txBody>
      </p:sp>
      <p:sp>
        <p:nvSpPr>
          <p:cNvPr id="695465531" name="Text Box 46"/>
          <p:cNvSpPr txBox="1"/>
          <p:nvPr/>
        </p:nvSpPr>
        <p:spPr bwMode="auto">
          <a:xfrm>
            <a:off x="8273415" y="4566920"/>
            <a:ext cx="3171190" cy="1275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r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en-US" sz="2000">
                <a:solidFill>
                  <a:srgbClr val="3A3C3D"/>
                </a:solidFill>
              </a:rPr>
              <a:t>Integrates mission energy + CC–CV charging model </a:t>
            </a:r>
          </a:p>
          <a:p>
            <a:pPr marL="0" algn="r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 </a:t>
            </a:r>
            <a:r>
              <a:rPr lang="en-US" sz="2000">
                <a:solidFill>
                  <a:srgbClr val="3A3C3D"/>
                </a:solidFill>
              </a:rPr>
              <a:t>feasible flights</a:t>
            </a:r>
          </a:p>
        </p:txBody>
      </p:sp>
      <p:pic>
        <p:nvPicPr>
          <p:cNvPr id="1991242198" name="Picture 50" descr="Common Case (1)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958830" y="3707130"/>
            <a:ext cx="1233170" cy="1022985"/>
          </a:xfrm>
          <a:prstGeom prst="rect">
            <a:avLst/>
          </a:prstGeom>
        </p:spPr>
      </p:pic>
      <p:pic>
        <p:nvPicPr>
          <p:cNvPr id="1179581507" name="Picture 58" descr="Extended Fligh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22230" y="569595"/>
            <a:ext cx="2351405" cy="1400810"/>
          </a:xfrm>
          <a:prstGeom prst="rect">
            <a:avLst/>
          </a:prstGeom>
        </p:spPr>
      </p:pic>
      <p:pic>
        <p:nvPicPr>
          <p:cNvPr id="1755928950" name="Picture 60" descr="Landing Safety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-337185" y="3460750"/>
            <a:ext cx="1903095" cy="1269365"/>
          </a:xfrm>
          <a:prstGeom prst="rect">
            <a:avLst/>
          </a:prstGeom>
        </p:spPr>
      </p:pic>
      <p:pic>
        <p:nvPicPr>
          <p:cNvPr id="1702152125" name="Picture 61" descr="Assisted Takeoff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-213360" y="569595"/>
            <a:ext cx="1903095" cy="1224280"/>
          </a:xfrm>
          <a:prstGeom prst="rect">
            <a:avLst/>
          </a:prstGeom>
        </p:spPr>
      </p:pic>
      <p:sp>
        <p:nvSpPr>
          <p:cNvPr id="1863538307" name="Text Box 1"/>
          <p:cNvSpPr txBox="1"/>
          <p:nvPr/>
        </p:nvSpPr>
        <p:spPr bwMode="auto">
          <a:xfrm>
            <a:off x="890905" y="1449070"/>
            <a:ext cx="3689350" cy="189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S</a:t>
            </a:r>
            <a:r>
              <a:rPr lang="en-US" sz="2000">
                <a:solidFill>
                  <a:srgbClr val="3A3C3D"/>
                </a:solidFill>
              </a:rPr>
              <a:t>upply high takeoff power</a:t>
            </a:r>
          </a:p>
          <a:p>
            <a:pPr marL="0" indent="0" algn="l">
              <a:lnSpc>
                <a:spcPct val="125000"/>
              </a:lnSpc>
              <a:spcAft>
                <a:spcPts val="600"/>
              </a:spcAft>
              <a:buFont typeface="Arial"/>
              <a:buNone/>
              <a:defRPr/>
            </a:pPr>
            <a:r>
              <a:rPr lang="vi-VN" sz="2000">
                <a:solidFill>
                  <a:srgbClr val="3A3C3D"/>
                </a:solidFill>
              </a:rPr>
              <a:t>O</a:t>
            </a:r>
            <a:r>
              <a:rPr lang="en-US" sz="2000">
                <a:solidFill>
                  <a:srgbClr val="3A3C3D"/>
                </a:solidFill>
              </a:rPr>
              <a:t>ffload main battery </a:t>
            </a:r>
          </a:p>
          <a:p>
            <a:pPr marL="0" algn="l">
              <a:lnSpc>
                <a:spcPct val="125000"/>
              </a:lnSpc>
              <a:spcAft>
                <a:spcPts val="600"/>
              </a:spcAft>
              <a:buSzTx/>
              <a:buFont typeface="Arial"/>
              <a:buNone/>
              <a:defRPr/>
            </a:pPr>
            <a:r>
              <a:rPr lang="en-US" sz="2000" b="1">
                <a:solidFill>
                  <a:srgbClr val="3A3C3D"/>
                </a:solidFill>
              </a:rPr>
              <a:t>Outcome: </a:t>
            </a:r>
            <a:r>
              <a:rPr lang="en-US" sz="2000">
                <a:solidFill>
                  <a:srgbClr val="3A3C3D"/>
                </a:solidFill>
              </a:rPr>
              <a:t>MTOW reduction, energy redistribution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CA5F3BE-9961-BFD6-E81E-66C081BF1347}"/>
              </a:ext>
            </a:extLst>
          </p:cNvPr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77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14677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15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6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53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53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5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8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14598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2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58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48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48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18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44318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92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3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3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38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500"/>
                                        <p:tgtEl>
                                          <p:spTgt spid="159238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50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24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65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465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619132" grpId="0" animBg="1"/>
      <p:bldP spid="128619132" grpId="1" animBg="1"/>
      <p:bldP spid="2127508895" grpId="0" animBg="1"/>
      <p:bldP spid="2127508895" grpId="1" animBg="1"/>
      <p:bldP spid="791626602" grpId="0" animBg="1"/>
      <p:bldP spid="791626602" grpId="1" animBg="1"/>
      <p:bldP spid="209466080" grpId="0" animBg="1"/>
      <p:bldP spid="209466080" grpId="1" animBg="1"/>
      <p:bldP spid="2146776762" grpId="0" animBg="1"/>
      <p:bldP spid="2146776762" grpId="1" animBg="1"/>
      <p:bldP spid="1459868971" grpId="0" animBg="1"/>
      <p:bldP spid="1459868971" grpId="1" animBg="1"/>
      <p:bldP spid="1592386489" grpId="0" animBg="1"/>
      <p:bldP spid="1592386489" grpId="1" animBg="1"/>
      <p:bldP spid="443189226" grpId="0" animBg="1"/>
      <p:bldP spid="443189226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868480" name="Maroon rectangle"/>
          <p:cNvSpPr/>
          <p:nvPr/>
        </p:nvSpPr>
        <p:spPr bwMode="auto">
          <a:xfrm>
            <a:off x="0" y="-6985"/>
            <a:ext cx="12192000" cy="687705"/>
          </a:xfrm>
          <a:prstGeom prst="rect">
            <a:avLst/>
          </a:prstGeom>
          <a:solidFill>
            <a:srgbClr val="861F4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/>
            </a:pPr>
            <a:r>
              <a:rPr lang="vi-VN" sz="4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4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Conclusion &amp; Future Work</a:t>
            </a:r>
          </a:p>
        </p:txBody>
      </p:sp>
      <p:sp>
        <p:nvSpPr>
          <p:cNvPr id="1602774590" name="Text Box 25"/>
          <p:cNvSpPr txBox="1"/>
          <p:nvPr/>
        </p:nvSpPr>
        <p:spPr bwMode="auto">
          <a:xfrm>
            <a:off x="4572634" y="1411922"/>
            <a:ext cx="4472305" cy="159893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sz="2400"/>
              <a:t>ABUs enable scalable UAM </a:t>
            </a:r>
            <a:r>
              <a:rPr lang="en-US" sz="2400" b="1"/>
              <a:t>without waiting</a:t>
            </a:r>
            <a:r>
              <a:rPr lang="en-US" sz="2400"/>
              <a:t> for battery breakthroughs</a:t>
            </a:r>
          </a:p>
        </p:txBody>
      </p:sp>
      <p:sp>
        <p:nvSpPr>
          <p:cNvPr id="222332900" name="Text Box 3"/>
          <p:cNvSpPr txBox="1"/>
          <p:nvPr/>
        </p:nvSpPr>
        <p:spPr bwMode="auto">
          <a:xfrm>
            <a:off x="483870" y="4157980"/>
            <a:ext cx="172402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 b="1"/>
              <a:t>Next Steps:</a:t>
            </a:r>
          </a:p>
        </p:txBody>
      </p:sp>
      <p:sp>
        <p:nvSpPr>
          <p:cNvPr id="1747283490" name="Text Box 5"/>
          <p:cNvSpPr txBox="1"/>
          <p:nvPr/>
        </p:nvSpPr>
        <p:spPr bwMode="auto">
          <a:xfrm>
            <a:off x="588010" y="1092835"/>
            <a:ext cx="33756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Assisted-Takeoff ABU</a:t>
            </a:r>
          </a:p>
        </p:txBody>
      </p:sp>
      <p:sp>
        <p:nvSpPr>
          <p:cNvPr id="1682167433" name="Text Box 7"/>
          <p:cNvSpPr txBox="1"/>
          <p:nvPr/>
        </p:nvSpPr>
        <p:spPr bwMode="auto">
          <a:xfrm>
            <a:off x="588010" y="1925955"/>
            <a:ext cx="33756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Assisted-Cruise ABU</a:t>
            </a:r>
          </a:p>
        </p:txBody>
      </p:sp>
      <p:sp>
        <p:nvSpPr>
          <p:cNvPr id="1370412831" name="Text Box 8"/>
          <p:cNvSpPr txBox="1"/>
          <p:nvPr/>
        </p:nvSpPr>
        <p:spPr bwMode="auto">
          <a:xfrm>
            <a:off x="588010" y="2758440"/>
            <a:ext cx="33756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Assisted-Landing ABU</a:t>
            </a:r>
          </a:p>
        </p:txBody>
      </p:sp>
      <p:sp>
        <p:nvSpPr>
          <p:cNvPr id="494504249" name="Left Brace 54"/>
          <p:cNvSpPr/>
          <p:nvPr/>
        </p:nvSpPr>
        <p:spPr bwMode="auto">
          <a:xfrm rot="10800000">
            <a:off x="4103687" y="1285557"/>
            <a:ext cx="334645" cy="1758315"/>
          </a:xfrm>
          <a:prstGeom prst="leftBrace">
            <a:avLst>
              <a:gd name="adj1" fmla="val 8333"/>
              <a:gd name="adj2" fmla="val 51241"/>
            </a:avLst>
          </a:prstGeom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9032533" name="Text Box 9"/>
          <p:cNvSpPr txBox="1"/>
          <p:nvPr/>
        </p:nvSpPr>
        <p:spPr bwMode="auto">
          <a:xfrm>
            <a:off x="2207895" y="3930015"/>
            <a:ext cx="606107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ABU structural &amp; aerodynamic design</a:t>
            </a:r>
          </a:p>
        </p:txBody>
      </p:sp>
      <p:sp>
        <p:nvSpPr>
          <p:cNvPr id="2067644900" name="Text Box 10"/>
          <p:cNvSpPr txBox="1"/>
          <p:nvPr/>
        </p:nvSpPr>
        <p:spPr bwMode="auto">
          <a:xfrm>
            <a:off x="2207895" y="4637405"/>
            <a:ext cx="33756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Autonomy &amp; docking </a:t>
            </a:r>
          </a:p>
        </p:txBody>
      </p:sp>
      <p:sp>
        <p:nvSpPr>
          <p:cNvPr id="1267241221" name="Text Box 11"/>
          <p:cNvSpPr txBox="1"/>
          <p:nvPr/>
        </p:nvSpPr>
        <p:spPr bwMode="auto">
          <a:xfrm>
            <a:off x="2207895" y="5344160"/>
            <a:ext cx="33756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Airspace integration</a:t>
            </a:r>
          </a:p>
        </p:txBody>
      </p:sp>
      <p:sp>
        <p:nvSpPr>
          <p:cNvPr id="2075509802" name="Text Box 13"/>
          <p:cNvSpPr txBox="1"/>
          <p:nvPr/>
        </p:nvSpPr>
        <p:spPr bwMode="auto">
          <a:xfrm>
            <a:off x="2207895" y="6050915"/>
            <a:ext cx="379158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/>
              <a:t>Certification pathway, etc.</a:t>
            </a:r>
          </a:p>
        </p:txBody>
      </p:sp>
      <p:sp>
        <p:nvSpPr>
          <p:cNvPr id="294554786" name="Text"/>
          <p:cNvSpPr>
            <a:spLocks noGrp="1"/>
          </p:cNvSpPr>
          <p:nvPr/>
        </p:nvSpPr>
        <p:spPr bwMode="auto">
          <a:xfrm>
            <a:off x="11558904" y="6376035"/>
            <a:ext cx="475615" cy="28321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Calibri"/>
                <a:cs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000"/>
              <a:defRPr/>
            </a:pPr>
            <a:r>
              <a:rPr lang="vi-VN" sz="1800" dirty="0">
                <a:solidFill>
                  <a:srgbClr val="3A3C3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3D6CE-5B28-2533-896C-5575DC597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459" y="2500159"/>
            <a:ext cx="3179445" cy="41216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8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16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41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0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77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3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3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64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24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50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2774590" grpId="0"/>
      <p:bldP spid="1602774590" grpId="1"/>
      <p:bldP spid="222332900" grpId="0"/>
      <p:bldP spid="222332900" grpId="1"/>
      <p:bldP spid="1747283490" grpId="0"/>
      <p:bldP spid="1747283490" grpId="1"/>
      <p:bldP spid="1682167433" grpId="0"/>
      <p:bldP spid="1682167433" grpId="1"/>
      <p:bldP spid="1370412831" grpId="0"/>
      <p:bldP spid="1370412831" grpId="1"/>
      <p:bldP spid="494504249" grpId="0" bldLvl="0" animBg="1"/>
      <p:bldP spid="494504249" grpId="1" animBg="1"/>
      <p:bldP spid="1579032533" grpId="0"/>
      <p:bldP spid="1579032533" grpId="1"/>
      <p:bldP spid="2067644900" grpId="0"/>
      <p:bldP spid="2067644900" grpId="1"/>
      <p:bldP spid="1267241221" grpId="0"/>
      <p:bldP spid="1267241221" grpId="1"/>
      <p:bldP spid="2075509802" grpId="0"/>
      <p:bldP spid="2075509802" grpId="1"/>
    </p:bldLst>
  </p:timing>
</p:sld>
</file>

<file path=ppt/theme/theme1.xml><?xml version="1.0" encoding="utf-8"?>
<a:theme xmlns:a="http://schemas.openxmlformats.org/drawingml/2006/main" name="1_Office Theme">
  <a:themeElements>
    <a:clrScheme name="Custom 2">
      <a:dk1>
        <a:srgbClr val="861F41"/>
      </a:dk1>
      <a:lt1>
        <a:srgbClr val="FFFFFF"/>
      </a:lt1>
      <a:dk2>
        <a:srgbClr val="75787B"/>
      </a:dk2>
      <a:lt2>
        <a:srgbClr val="E5E1E6"/>
      </a:lt2>
      <a:accent1>
        <a:srgbClr val="861F41"/>
      </a:accent1>
      <a:accent2>
        <a:srgbClr val="C64600"/>
      </a:accent2>
      <a:accent3>
        <a:srgbClr val="A5A5A5"/>
      </a:accent3>
      <a:accent4>
        <a:srgbClr val="508590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6C1035"/>
      </a:dk1>
      <a:lt1>
        <a:srgbClr val="5C6C66"/>
      </a:lt1>
      <a:dk2>
        <a:srgbClr val="A7A7A7"/>
      </a:dk2>
      <a:lt2>
        <a:srgbClr val="535353"/>
      </a:lt2>
      <a:accent1>
        <a:srgbClr val="6C1035"/>
      </a:accent1>
      <a:accent2>
        <a:srgbClr val="E57631"/>
      </a:accent2>
      <a:accent3>
        <a:srgbClr val="A5A5A5"/>
      </a:accent3>
      <a:accent4>
        <a:srgbClr val="417C79"/>
      </a:accent4>
      <a:accent5>
        <a:srgbClr val="E5E1EF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3722</TotalTime>
  <Words>1010</Words>
  <Application>Microsoft Office PowerPoint</Application>
  <PresentationFormat>Widescreen</PresentationFormat>
  <Paragraphs>218</Paragraphs>
  <Slides>19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DejaVu Sans</vt:lpstr>
      <vt:lpstr>1_Office Theme</vt:lpstr>
      <vt:lpstr>Autonomous Battery Units as an Enabling Technology for  Urban Air Mobility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 1/3</dc:title>
  <dc:creator>Schlieper, Elizabeth</dc:creator>
  <cp:lastModifiedBy>Nguyen, Khoa</cp:lastModifiedBy>
  <cp:revision>305</cp:revision>
  <dcterms:created xsi:type="dcterms:W3CDTF">2025-09-28T15:40:00Z</dcterms:created>
  <dcterms:modified xsi:type="dcterms:W3CDTF">2026-03-16T10:16:29Z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8D1ECCED2BFB45C0BF97A43404F07D67_12</vt:lpwstr>
  </property>
  <property fmtid="{D5CDD505-2E9C-101B-9397-08002B2CF9AE}" pid="3" name="KSOProductBuildVer">
    <vt:lpwstr>1033-12.2.0.23196</vt:lpwstr>
  </property>
</Properties>
</file>